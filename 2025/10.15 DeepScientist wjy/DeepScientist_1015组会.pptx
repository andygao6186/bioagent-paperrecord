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6" r:id="rId3"/>
    <p:sldId id="256" r:id="rId4"/>
    <p:sldId id="258" r:id="rId5"/>
    <p:sldId id="259" r:id="rId6"/>
    <p:sldId id="268" r:id="rId7"/>
    <p:sldId id="280" r:id="rId8"/>
    <p:sldId id="281" r:id="rId9"/>
    <p:sldId id="282" r:id="rId10"/>
    <p:sldId id="283" r:id="rId11"/>
    <p:sldId id="284" r:id="rId12"/>
    <p:sldId id="285" r:id="rId13"/>
    <p:sldId id="286" r:id="rId14"/>
    <p:sldId id="287" r:id="rId15"/>
    <p:sldId id="295" r:id="rId16"/>
    <p:sldId id="288" r:id="rId17"/>
    <p:sldId id="289" r:id="rId18"/>
    <p:sldId id="290" r:id="rId19"/>
    <p:sldId id="291" r:id="rId20"/>
    <p:sldId id="293" r:id="rId21"/>
    <p:sldId id="294" r:id="rId22"/>
    <p:sldId id="292" r:id="rId23"/>
    <p:sldId id="277" r:id="rId24"/>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gs" Target="tags/tag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7.pn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0" y="1499870"/>
            <a:ext cx="12192000" cy="2051050"/>
            <a:chOff x="0" y="2362"/>
            <a:chExt cx="19200" cy="3230"/>
          </a:xfrm>
          <a:solidFill>
            <a:schemeClr val="accent6">
              <a:lumMod val="50000"/>
            </a:schemeClr>
          </a:solidFill>
        </p:grpSpPr>
        <p:sp>
          <p:nvSpPr>
            <p:cNvPr id="3" name="矩形 2"/>
            <p:cNvSpPr/>
            <p:nvPr/>
          </p:nvSpPr>
          <p:spPr>
            <a:xfrm>
              <a:off x="0" y="3188"/>
              <a:ext cx="19200" cy="1202"/>
            </a:xfrm>
            <a:prstGeom prst="rect">
              <a:avLst/>
            </a:prstGeom>
            <a:grpFill/>
            <a:ln w="28575" cmpd="sng">
              <a:solidFill>
                <a:schemeClr val="accent6">
                  <a:lumMod val="50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矩形 4"/>
            <p:cNvSpPr/>
            <p:nvPr/>
          </p:nvSpPr>
          <p:spPr>
            <a:xfrm>
              <a:off x="0" y="4390"/>
              <a:ext cx="19200" cy="1202"/>
            </a:xfrm>
            <a:prstGeom prst="rect">
              <a:avLst/>
            </a:prstGeom>
            <a:grpFill/>
            <a:ln w="28575" cmpd="sng">
              <a:solidFill>
                <a:schemeClr val="accent6">
                  <a:lumMod val="50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矩形 5"/>
            <p:cNvSpPr/>
            <p:nvPr/>
          </p:nvSpPr>
          <p:spPr>
            <a:xfrm>
              <a:off x="0" y="2362"/>
              <a:ext cx="19200" cy="1202"/>
            </a:xfrm>
            <a:prstGeom prst="rect">
              <a:avLst/>
            </a:prstGeom>
            <a:grpFill/>
            <a:ln w="28575" cmpd="sng">
              <a:solidFill>
                <a:schemeClr val="accent6">
                  <a:lumMod val="50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6" name="标题 15"/>
          <p:cNvSpPr>
            <a:spLocks noGrp="1"/>
          </p:cNvSpPr>
          <p:nvPr>
            <p:ph type="ctrTitle"/>
          </p:nvPr>
        </p:nvSpPr>
        <p:spPr>
          <a:xfrm>
            <a:off x="207645" y="2391410"/>
            <a:ext cx="11605895" cy="1159510"/>
          </a:xfrm>
        </p:spPr>
        <p:txBody>
          <a:bodyPr>
            <a:normAutofit fontScale="90000"/>
          </a:bodyPr>
          <a:p>
            <a:r>
              <a:rPr lang="en-US" altLang="zh-CN" sz="4445" b="1" dirty="0">
                <a:solidFill>
                  <a:schemeClr val="bg1"/>
                </a:solidFill>
                <a:latin typeface="微软雅黑" panose="020B0503020204020204" charset="-122"/>
                <a:ea typeface="微软雅黑" panose="020B0503020204020204" charset="-122"/>
              </a:rPr>
              <a:t>DEEPSCIENTIST: ADVANCING </a:t>
            </a:r>
            <a:br>
              <a:rPr lang="en-US" altLang="zh-CN" sz="4445" b="1" dirty="0">
                <a:solidFill>
                  <a:schemeClr val="bg1"/>
                </a:solidFill>
                <a:latin typeface="微软雅黑" panose="020B0503020204020204" charset="-122"/>
                <a:ea typeface="微软雅黑" panose="020B0503020204020204" charset="-122"/>
              </a:rPr>
            </a:br>
            <a:r>
              <a:rPr lang="en-US" altLang="zh-CN" sz="4445" b="1" dirty="0">
                <a:solidFill>
                  <a:schemeClr val="bg1"/>
                </a:solidFill>
                <a:latin typeface="微软雅黑" panose="020B0503020204020204" charset="-122"/>
                <a:ea typeface="微软雅黑" panose="020B0503020204020204" charset="-122"/>
              </a:rPr>
              <a:t>FRONTIER-PUSHING</a:t>
            </a:r>
            <a:br>
              <a:rPr lang="en-US" altLang="zh-CN" sz="4445" b="1" dirty="0">
                <a:solidFill>
                  <a:schemeClr val="bg1"/>
                </a:solidFill>
                <a:latin typeface="微软雅黑" panose="020B0503020204020204" charset="-122"/>
                <a:ea typeface="微软雅黑" panose="020B0503020204020204" charset="-122"/>
              </a:rPr>
            </a:br>
            <a:r>
              <a:rPr lang="en-US" altLang="zh-CN" sz="4445" b="1" dirty="0">
                <a:solidFill>
                  <a:schemeClr val="bg1"/>
                </a:solidFill>
                <a:latin typeface="微软雅黑" panose="020B0503020204020204" charset="-122"/>
                <a:ea typeface="微软雅黑" panose="020B0503020204020204" charset="-122"/>
              </a:rPr>
              <a:t>SCIENTIFIC FINDINGS PROGRESSIVELY</a:t>
            </a:r>
            <a:endParaRPr lang="en-US" altLang="zh-CN" sz="4445" b="1" dirty="0">
              <a:solidFill>
                <a:schemeClr val="bg1"/>
              </a:solidFill>
              <a:latin typeface="微软雅黑" panose="020B0503020204020204" charset="-122"/>
              <a:ea typeface="微软雅黑" panose="020B0503020204020204" charset="-122"/>
            </a:endParaRPr>
          </a:p>
        </p:txBody>
      </p:sp>
      <p:sp>
        <p:nvSpPr>
          <p:cNvPr id="19" name="文本框 18"/>
          <p:cNvSpPr txBox="1"/>
          <p:nvPr/>
        </p:nvSpPr>
        <p:spPr>
          <a:xfrm>
            <a:off x="3003550" y="3759200"/>
            <a:ext cx="6096000" cy="645160"/>
          </a:xfrm>
          <a:prstGeom prst="rect">
            <a:avLst/>
          </a:prstGeom>
          <a:noFill/>
        </p:spPr>
        <p:txBody>
          <a:bodyPr wrap="square" rtlCol="0" anchor="t">
            <a:spAutoFit/>
          </a:bodyPr>
          <a:p>
            <a:pPr algn="ctr"/>
            <a:r>
              <a:rPr lang="en-US" altLang="zh-CN"/>
              <a:t>Project: https://ai-researcher.net</a:t>
            </a:r>
            <a:endParaRPr lang="en-US" altLang="zh-CN"/>
          </a:p>
          <a:p>
            <a:pPr algn="ctr"/>
            <a:r>
              <a:rPr lang="en-US" altLang="zh-CN"/>
              <a:t>Code: https://github.com/ResearAI/DeepScientist</a:t>
            </a:r>
            <a:endParaRPr lang="en-US" altLang="zh-CN"/>
          </a:p>
        </p:txBody>
      </p:sp>
      <p:sp>
        <p:nvSpPr>
          <p:cNvPr id="20" name="文本占位符 3"/>
          <p:cNvSpPr txBox="1"/>
          <p:nvPr/>
        </p:nvSpPr>
        <p:spPr>
          <a:xfrm>
            <a:off x="3234055" y="4679315"/>
            <a:ext cx="5723255" cy="1372235"/>
          </a:xfrm>
          <a:prstGeom prst="rect">
            <a:avLst/>
          </a:prstGeom>
        </p:spPr>
        <p:txBody>
          <a:bodyPr>
            <a:noAutofit/>
          </a:bodyPr>
          <a:lstStyle>
            <a:lvl1pPr marL="0" indent="0" algn="l" defTabSz="914400" rtl="0" eaLnBrk="1" latinLnBrk="0" hangingPunct="1">
              <a:lnSpc>
                <a:spcPct val="120000"/>
              </a:lnSpc>
              <a:spcBef>
                <a:spcPts val="0"/>
              </a:spcBef>
              <a:spcAft>
                <a:spcPts val="600"/>
              </a:spcAft>
              <a:buFont typeface="Arial" panose="020B0604020202020204" pitchFamily="34" charset="0"/>
              <a:buNone/>
              <a:defRPr sz="1800" b="1" kern="1200">
                <a:solidFill>
                  <a:schemeClr val="tx1"/>
                </a:solidFill>
                <a:latin typeface="楷体" panose="02010609060101010101" pitchFamily="49" charset="-122"/>
                <a:ea typeface="楷体" panose="02010609060101010101" pitchFamily="49"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gn="ctr"/>
            <a:r>
              <a:rPr lang="zh-CN" altLang="en-US" sz="2400" dirty="0">
                <a:solidFill>
                  <a:schemeClr val="accent6">
                    <a:lumMod val="50000"/>
                  </a:schemeClr>
                </a:solidFill>
                <a:latin typeface="微软雅黑" panose="020B0503020204020204" charset="-122"/>
                <a:ea typeface="微软雅黑" panose="020B0503020204020204" charset="-122"/>
                <a:cs typeface="微软雅黑" panose="020B0503020204020204" charset="-122"/>
              </a:rPr>
              <a:t>汪静雅</a:t>
            </a:r>
            <a:endParaRPr lang="en-US" altLang="zh-CN" sz="2400" dirty="0">
              <a:solidFill>
                <a:schemeClr val="accent6">
                  <a:lumMod val="50000"/>
                </a:schemeClr>
              </a:solidFill>
              <a:latin typeface="微软雅黑" panose="020B0503020204020204" charset="-122"/>
              <a:ea typeface="微软雅黑" panose="020B0503020204020204" charset="-122"/>
              <a:cs typeface="微软雅黑" panose="020B0503020204020204" charset="-122"/>
            </a:endParaRPr>
          </a:p>
          <a:p>
            <a:pPr algn="ctr"/>
            <a:r>
              <a:rPr lang="en-US" sz="2400" dirty="0">
                <a:solidFill>
                  <a:schemeClr val="accent6">
                    <a:lumMod val="50000"/>
                  </a:schemeClr>
                </a:solidFill>
                <a:latin typeface="微软雅黑" panose="020B0503020204020204" charset="-122"/>
                <a:ea typeface="微软雅黑" panose="020B0503020204020204" charset="-122"/>
                <a:cs typeface="微软雅黑" panose="020B0503020204020204" charset="-122"/>
              </a:rPr>
              <a:t>2025.10.15</a:t>
            </a:r>
            <a:endParaRPr lang="en-US" sz="2400" dirty="0">
              <a:solidFill>
                <a:schemeClr val="accent6">
                  <a:lumMod val="50000"/>
                </a:schemeClr>
              </a:solidFill>
              <a:latin typeface="微软雅黑" panose="020B0503020204020204" charset="-122"/>
              <a:ea typeface="微软雅黑" panose="020B0503020204020204" charset="-122"/>
              <a:cs typeface="微软雅黑" panose="020B0503020204020204" charset="-122"/>
            </a:endParaRPr>
          </a:p>
        </p:txBody>
      </p:sp>
      <p:pic>
        <p:nvPicPr>
          <p:cNvPr id="4" name="图片 3" descr="logo2"/>
          <p:cNvPicPr>
            <a:picLocks noChangeAspect="1"/>
          </p:cNvPicPr>
          <p:nvPr/>
        </p:nvPicPr>
        <p:blipFill>
          <a:blip r:embed="rId1"/>
          <a:stretch>
            <a:fillRect/>
          </a:stretch>
        </p:blipFill>
        <p:spPr>
          <a:xfrm>
            <a:off x="0" y="0"/>
            <a:ext cx="3053715" cy="6743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7" name="组合 36"/>
          <p:cNvGrpSpPr/>
          <p:nvPr/>
        </p:nvGrpSpPr>
        <p:grpSpPr>
          <a:xfrm>
            <a:off x="0" y="-635"/>
            <a:ext cx="12192000" cy="707390"/>
            <a:chOff x="0" y="0"/>
            <a:chExt cx="19200" cy="1114"/>
          </a:xfrm>
        </p:grpSpPr>
        <p:sp>
          <p:nvSpPr>
            <p:cNvPr id="38" name="矩形 37"/>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文本框 38"/>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A</a:t>
              </a: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bstract</a:t>
              </a:r>
              <a:endPar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41" name="文本框 40"/>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01</a:t>
              </a:r>
              <a:endParaRPr lang="en-US" altLang="zh-CN" sz="4000" b="1">
                <a:solidFill>
                  <a:schemeClr val="bg1"/>
                </a:solidFill>
                <a:latin typeface="微软雅黑" panose="020B0503020204020204" charset="-122"/>
                <a:ea typeface="微软雅黑" panose="020B0503020204020204" charset="-122"/>
              </a:endParaRPr>
            </a:p>
          </p:txBody>
        </p:sp>
      </p:grpSp>
      <p:sp>
        <p:nvSpPr>
          <p:cNvPr id="14" name="文本框 13"/>
          <p:cNvSpPr txBox="1"/>
          <p:nvPr/>
        </p:nvSpPr>
        <p:spPr>
          <a:xfrm>
            <a:off x="886460" y="4312285"/>
            <a:ext cx="10500360" cy="2306955"/>
          </a:xfrm>
          <a:prstGeom prst="rect">
            <a:avLst/>
          </a:prstGeom>
        </p:spPr>
        <p:txBody>
          <a:bodyPr wrap="square">
            <a:spAutoFit/>
          </a:bodyPr>
          <a:p>
            <a:pPr marL="0" indent="0"/>
            <a:r>
              <a:rPr lang="zh-CN" altLang="en-US" sz="2400" b="1" i="0">
                <a:solidFill>
                  <a:schemeClr val="accent6">
                    <a:lumMod val="50000"/>
                  </a:schemeClr>
                </a:solidFill>
                <a:latin typeface="微软雅黑" panose="020B0503020204020204" charset="-122"/>
                <a:ea typeface="微软雅黑" panose="020B0503020204020204" charset="-122"/>
              </a:rPr>
              <a:t>研究成果：</a:t>
            </a:r>
            <a:endParaRPr lang="zh-CN" altLang="en-US" sz="2400" b="1" i="0">
              <a:solidFill>
                <a:schemeClr val="accent6">
                  <a:lumMod val="50000"/>
                </a:schemeClr>
              </a:solidFill>
              <a:latin typeface="微软雅黑" panose="020B0503020204020204" charset="-122"/>
              <a:ea typeface="微软雅黑" panose="020B0503020204020204" charset="-122"/>
            </a:endParaRPr>
          </a:p>
          <a:p>
            <a:pPr marL="285750" indent="-285750">
              <a:buFont typeface="Arial" panose="020B0604020202020204" pitchFamily="34" charset="0"/>
              <a:buChar char="•"/>
            </a:pPr>
            <a:r>
              <a:rPr lang="zh-CN" altLang="en-US" sz="2000" b="0" i="0">
                <a:latin typeface="微软雅黑" panose="020B0503020204020204" charset="-122"/>
                <a:ea typeface="微软雅黑" panose="020B0503020204020204" charset="-122"/>
              </a:rPr>
              <a:t>耗费超</a:t>
            </a:r>
            <a:r>
              <a:rPr lang="en-US" altLang="zh-CN" sz="2000" b="0" i="0">
                <a:latin typeface="微软雅黑" panose="020B0503020204020204" charset="-122"/>
                <a:ea typeface="微软雅黑" panose="020B0503020204020204" charset="-122"/>
              </a:rPr>
              <a:t> 20000 </a:t>
            </a:r>
            <a:r>
              <a:rPr lang="zh-CN" altLang="en-US" sz="2000" b="0" i="0">
                <a:latin typeface="微软雅黑" panose="020B0503020204020204" charset="-122"/>
                <a:ea typeface="微软雅黑" panose="020B0503020204020204" charset="-122"/>
              </a:rPr>
              <a:t>个</a:t>
            </a:r>
            <a:r>
              <a:rPr lang="en-US" altLang="zh-CN" sz="2000" b="0" i="0">
                <a:latin typeface="微软雅黑" panose="020B0503020204020204" charset="-122"/>
                <a:ea typeface="微软雅黑" panose="020B0503020204020204" charset="-122"/>
              </a:rPr>
              <a:t> GPU </a:t>
            </a:r>
            <a:r>
              <a:rPr lang="zh-CN" altLang="en-US" sz="2000" b="0" i="0">
                <a:latin typeface="微软雅黑" panose="020B0503020204020204" charset="-122"/>
                <a:ea typeface="微软雅黑" panose="020B0503020204020204" charset="-122"/>
              </a:rPr>
              <a:t>小时，系统生成约</a:t>
            </a:r>
            <a:r>
              <a:rPr lang="en-US" altLang="zh-CN" sz="2000" b="0" i="0">
                <a:latin typeface="微软雅黑" panose="020B0503020204020204" charset="-122"/>
                <a:ea typeface="微软雅黑" panose="020B0503020204020204" charset="-122"/>
              </a:rPr>
              <a:t> 5000 </a:t>
            </a:r>
            <a:r>
              <a:rPr lang="zh-CN" altLang="en-US" sz="2000" b="0" i="0">
                <a:latin typeface="微软雅黑" panose="020B0503020204020204" charset="-122"/>
                <a:ea typeface="微软雅黑" panose="020B0503020204020204" charset="-122"/>
              </a:rPr>
              <a:t>个独特科学想法，对其中约</a:t>
            </a:r>
            <a:r>
              <a:rPr lang="en-US" altLang="zh-CN" sz="2000" b="0" i="0">
                <a:latin typeface="微软雅黑" panose="020B0503020204020204" charset="-122"/>
                <a:ea typeface="微软雅黑" panose="020B0503020204020204" charset="-122"/>
              </a:rPr>
              <a:t> 1100 </a:t>
            </a:r>
            <a:r>
              <a:rPr lang="zh-CN" altLang="en-US" sz="2000" b="0" i="0">
                <a:latin typeface="微软雅黑" panose="020B0503020204020204" charset="-122"/>
                <a:ea typeface="微软雅黑" panose="020B0503020204020204" charset="-122"/>
              </a:rPr>
              <a:t>个进行了实验验证。</a:t>
            </a:r>
            <a:endParaRPr lang="zh-CN" altLang="en-US" sz="2000" b="0" i="0">
              <a:latin typeface="微软雅黑" panose="020B0503020204020204" charset="-122"/>
              <a:ea typeface="微软雅黑" panose="020B0503020204020204" charset="-122"/>
            </a:endParaRPr>
          </a:p>
          <a:p>
            <a:pPr marL="285750" indent="-285750">
              <a:buFont typeface="Arial" panose="020B0604020202020204" pitchFamily="34" charset="0"/>
              <a:buChar char="•"/>
            </a:pPr>
            <a:r>
              <a:rPr lang="zh-CN" altLang="en-US" sz="2000" b="0" i="0">
                <a:latin typeface="微软雅黑" panose="020B0503020204020204" charset="-122"/>
                <a:ea typeface="微软雅黑" panose="020B0503020204020204" charset="-122"/>
              </a:rPr>
              <a:t>在三项前沿人工智能任务上，最终超越人类设计的最先进（</a:t>
            </a:r>
            <a:r>
              <a:rPr lang="en-US" altLang="zh-CN" sz="2000" b="0" i="0">
                <a:latin typeface="微软雅黑" panose="020B0503020204020204" charset="-122"/>
                <a:ea typeface="微软雅黑" panose="020B0503020204020204" charset="-122"/>
              </a:rPr>
              <a:t>SOTA</a:t>
            </a:r>
            <a:r>
              <a:rPr lang="zh-CN" altLang="en-US" sz="2000" b="0" i="0">
                <a:latin typeface="微软雅黑" panose="020B0503020204020204" charset="-122"/>
                <a:ea typeface="微软雅黑" panose="020B0503020204020204" charset="-122"/>
              </a:rPr>
              <a:t>）方法，分别提升</a:t>
            </a:r>
            <a:r>
              <a:rPr lang="en-US" altLang="zh-CN" sz="2000" b="0" i="0">
                <a:latin typeface="微软雅黑" panose="020B0503020204020204" charset="-122"/>
                <a:ea typeface="微软雅黑" panose="020B0503020204020204" charset="-122"/>
              </a:rPr>
              <a:t> </a:t>
            </a:r>
            <a:r>
              <a:rPr lang="en-US" altLang="zh-CN" sz="2000" b="1" i="0">
                <a:solidFill>
                  <a:schemeClr val="accent6">
                    <a:lumMod val="50000"/>
                  </a:schemeClr>
                </a:solidFill>
                <a:latin typeface="微软雅黑" panose="020B0503020204020204" charset="-122"/>
                <a:ea typeface="微软雅黑" panose="020B0503020204020204" charset="-122"/>
              </a:rPr>
              <a:t>183.7%</a:t>
            </a:r>
            <a:r>
              <a:rPr lang="zh-CN" altLang="en-US" sz="2000" b="1" i="0">
                <a:solidFill>
                  <a:schemeClr val="accent6">
                    <a:lumMod val="50000"/>
                  </a:schemeClr>
                </a:solidFill>
                <a:latin typeface="微软雅黑" panose="020B0503020204020204" charset="-122"/>
                <a:ea typeface="微软雅黑" panose="020B0503020204020204" charset="-122"/>
              </a:rPr>
              <a:t>、</a:t>
            </a:r>
            <a:r>
              <a:rPr lang="en-US" altLang="zh-CN" sz="2000" b="1" i="0">
                <a:solidFill>
                  <a:schemeClr val="accent6">
                    <a:lumMod val="50000"/>
                  </a:schemeClr>
                </a:solidFill>
                <a:latin typeface="微软雅黑" panose="020B0503020204020204" charset="-122"/>
                <a:ea typeface="微软雅黑" panose="020B0503020204020204" charset="-122"/>
              </a:rPr>
              <a:t>1.9% </a:t>
            </a:r>
            <a:r>
              <a:rPr lang="zh-CN" altLang="en-US" sz="2000" b="1" i="0">
                <a:solidFill>
                  <a:schemeClr val="accent6">
                    <a:lumMod val="50000"/>
                  </a:schemeClr>
                </a:solidFill>
                <a:latin typeface="微软雅黑" panose="020B0503020204020204" charset="-122"/>
                <a:ea typeface="微软雅黑" panose="020B0503020204020204" charset="-122"/>
              </a:rPr>
              <a:t>和</a:t>
            </a:r>
            <a:r>
              <a:rPr lang="en-US" altLang="zh-CN" sz="2000" b="1" i="0">
                <a:solidFill>
                  <a:schemeClr val="accent6">
                    <a:lumMod val="50000"/>
                  </a:schemeClr>
                </a:solidFill>
                <a:latin typeface="微软雅黑" panose="020B0503020204020204" charset="-122"/>
                <a:ea typeface="微软雅黑" panose="020B0503020204020204" charset="-122"/>
              </a:rPr>
              <a:t> 7.9%</a:t>
            </a:r>
            <a:r>
              <a:rPr lang="zh-CN" altLang="en-US" sz="2000" b="0" i="0">
                <a:latin typeface="微软雅黑" panose="020B0503020204020204" charset="-122"/>
                <a:ea typeface="微软雅黑" panose="020B0503020204020204" charset="-122"/>
              </a:rPr>
              <a:t>。</a:t>
            </a:r>
            <a:endParaRPr lang="zh-CN" altLang="en-US" sz="2000" b="0" i="0">
              <a:latin typeface="微软雅黑" panose="020B0503020204020204" charset="-122"/>
              <a:ea typeface="微软雅黑" panose="020B0503020204020204" charset="-122"/>
            </a:endParaRPr>
          </a:p>
          <a:p>
            <a:pPr marL="285750" indent="-285750">
              <a:buFont typeface="Arial" panose="020B0604020202020204" pitchFamily="34" charset="0"/>
              <a:buChar char="•"/>
            </a:pPr>
            <a:r>
              <a:rPr lang="zh-CN" altLang="en-US" sz="2000" b="0" i="0">
                <a:latin typeface="微软雅黑" panose="020B0503020204020204" charset="-122"/>
                <a:ea typeface="微软雅黑" panose="020B0503020204020204" charset="-122"/>
              </a:rPr>
              <a:t>首次提供了大规模证据，证明人工智能在科学任务上能取得逐步超越人类</a:t>
            </a:r>
            <a:r>
              <a:rPr lang="en-US" altLang="zh-CN" sz="2000" b="0" i="0">
                <a:latin typeface="微软雅黑" panose="020B0503020204020204" charset="-122"/>
                <a:ea typeface="微软雅黑" panose="020B0503020204020204" charset="-122"/>
              </a:rPr>
              <a:t> SOTA </a:t>
            </a:r>
            <a:r>
              <a:rPr lang="zh-CN" altLang="en-US" sz="2000" b="0" i="0">
                <a:latin typeface="微软雅黑" panose="020B0503020204020204" charset="-122"/>
                <a:ea typeface="微软雅黑" panose="020B0503020204020204" charset="-122"/>
              </a:rPr>
              <a:t>的发现，产生了真正推动科学发现前沿的有价值成果。</a:t>
            </a:r>
            <a:endParaRPr lang="zh-CN" altLang="en-US" sz="2000" b="0" i="0">
              <a:latin typeface="微软雅黑" panose="020B0503020204020204" charset="-122"/>
              <a:ea typeface="微软雅黑" panose="020B0503020204020204" charset="-122"/>
            </a:endParaRPr>
          </a:p>
        </p:txBody>
      </p:sp>
      <p:sp>
        <p:nvSpPr>
          <p:cNvPr id="5" name="文本框 4"/>
          <p:cNvSpPr txBox="1"/>
          <p:nvPr/>
        </p:nvSpPr>
        <p:spPr>
          <a:xfrm>
            <a:off x="742950" y="888365"/>
            <a:ext cx="10781665" cy="795655"/>
          </a:xfrm>
          <a:prstGeom prst="rect">
            <a:avLst/>
          </a:prstGeom>
        </p:spPr>
        <p:txBody>
          <a:bodyPr wrap="square">
            <a:noAutofit/>
          </a:bodyPr>
          <a:p>
            <a:pPr marL="0" indent="0"/>
            <a:r>
              <a:rPr lang="zh-CN" altLang="en-US" sz="2400" b="1" i="0">
                <a:solidFill>
                  <a:schemeClr val="accent6">
                    <a:lumMod val="50000"/>
                  </a:schemeClr>
                </a:solidFill>
                <a:latin typeface="微软雅黑" panose="020B0503020204020204" charset="-122"/>
                <a:ea typeface="微软雅黑" panose="020B0503020204020204" charset="-122"/>
              </a:rPr>
              <a:t>研究背景</a:t>
            </a:r>
            <a:r>
              <a:rPr lang="en-US" altLang="zh-CN" sz="2400" b="1" i="0">
                <a:solidFill>
                  <a:schemeClr val="accent6">
                    <a:lumMod val="50000"/>
                  </a:schemeClr>
                </a:solidFill>
                <a:latin typeface="微软雅黑" panose="020B0503020204020204" charset="-122"/>
                <a:ea typeface="微软雅黑" panose="020B0503020204020204" charset="-122"/>
              </a:rPr>
              <a:t>:</a:t>
            </a:r>
            <a:r>
              <a:rPr lang="en-US" altLang="zh-CN" sz="2400" b="0" i="0">
                <a:latin typeface="微软雅黑" panose="020B0503020204020204" charset="-122"/>
                <a:ea typeface="微软雅黑" panose="020B0503020204020204" charset="-122"/>
              </a:rPr>
              <a:t> </a:t>
            </a:r>
            <a:r>
              <a:rPr lang="zh-CN" altLang="en-US" sz="2000" b="0" i="0">
                <a:latin typeface="微软雅黑" panose="020B0503020204020204" charset="-122"/>
                <a:ea typeface="微软雅黑" panose="020B0503020204020204" charset="-122"/>
              </a:rPr>
              <a:t>以往的人工智能科学家系统虽能生成新颖发现，但往往缺乏聚焦，难以产出能应对人类定义的紧迫挑战且具有科学价值的成果。</a:t>
            </a:r>
            <a:endParaRPr lang="zh-CN" altLang="en-US" sz="2000" b="0" i="0">
              <a:latin typeface="微软雅黑" panose="020B0503020204020204" charset="-122"/>
              <a:ea typeface="微软雅黑" panose="020B0503020204020204" charset="-122"/>
            </a:endParaRPr>
          </a:p>
          <a:p>
            <a:pPr marL="0" indent="0"/>
            <a:endParaRPr lang="en-US" altLang="zh-CN" sz="2000" b="0" i="0">
              <a:latin typeface="微软雅黑" panose="020B0503020204020204" charset="-122"/>
              <a:ea typeface="微软雅黑" panose="020B0503020204020204" charset="-122"/>
            </a:endParaRPr>
          </a:p>
        </p:txBody>
      </p:sp>
      <p:grpSp>
        <p:nvGrpSpPr>
          <p:cNvPr id="2" name="组合 1"/>
          <p:cNvGrpSpPr/>
          <p:nvPr/>
        </p:nvGrpSpPr>
        <p:grpSpPr>
          <a:xfrm>
            <a:off x="742950" y="1818640"/>
            <a:ext cx="10781665" cy="2392680"/>
            <a:chOff x="1170" y="3226"/>
            <a:chExt cx="16979" cy="3768"/>
          </a:xfrm>
        </p:grpSpPr>
        <p:sp>
          <p:nvSpPr>
            <p:cNvPr id="12" name="文本框 11"/>
            <p:cNvSpPr txBox="1"/>
            <p:nvPr/>
          </p:nvSpPr>
          <p:spPr>
            <a:xfrm>
              <a:off x="1292" y="3981"/>
              <a:ext cx="16857" cy="3013"/>
            </a:xfrm>
            <a:prstGeom prst="rect">
              <a:avLst/>
            </a:prstGeom>
            <a:noFill/>
          </p:spPr>
          <p:txBody>
            <a:bodyPr wrap="square" rtlCol="0">
              <a:noAutofit/>
            </a:bodyPr>
            <a:p>
              <a:pPr marL="342900" indent="-342900" algn="l">
                <a:buFont typeface="Arial" panose="020B0604020202020204" pitchFamily="34" charset="0"/>
                <a:buChar char="•"/>
              </a:pPr>
              <a:r>
                <a:rPr lang="en-US" altLang="zh-CN" sz="2000">
                  <a:latin typeface="微软雅黑" panose="020B0503020204020204" charset="-122"/>
                  <a:ea typeface="微软雅黑" panose="020B0503020204020204" charset="-122"/>
                </a:rPr>
                <a:t>提出 </a:t>
              </a:r>
              <a:r>
                <a:rPr lang="en-US" altLang="zh-CN" sz="2000" b="1">
                  <a:solidFill>
                    <a:schemeClr val="accent6">
                      <a:lumMod val="50000"/>
                    </a:schemeClr>
                  </a:solidFill>
                  <a:latin typeface="微软雅黑" panose="020B0503020204020204" charset="-122"/>
                  <a:ea typeface="微软雅黑" panose="020B0503020204020204" charset="-122"/>
                </a:rPr>
                <a:t>DeepScientist</a:t>
              </a:r>
              <a:r>
                <a:rPr lang="en-US" altLang="zh-CN" sz="2000">
                  <a:latin typeface="微软雅黑" panose="020B0503020204020204" charset="-122"/>
                  <a:ea typeface="微软雅黑" panose="020B0503020204020204" charset="-122"/>
                </a:rPr>
                <a:t> 系统，旨在通过开展</a:t>
              </a:r>
              <a:r>
                <a:rPr lang="zh-CN" altLang="en-US" sz="2000">
                  <a:latin typeface="微软雅黑" panose="020B0503020204020204" charset="-122"/>
                  <a:ea typeface="微软雅黑" panose="020B0503020204020204" charset="-122"/>
                </a:rPr>
                <a:t>以月为单位</a:t>
              </a:r>
              <a:r>
                <a:rPr lang="en-US" altLang="zh-CN" sz="2000">
                  <a:latin typeface="微软雅黑" panose="020B0503020204020204" charset="-122"/>
                  <a:ea typeface="微软雅黑" panose="020B0503020204020204" charset="-122"/>
                </a:rPr>
                <a:t>的、目标导向的完全自主科学发现来克服上述问题。</a:t>
              </a:r>
              <a:endParaRPr lang="en-US" altLang="zh-CN" sz="2000">
                <a:latin typeface="微软雅黑" panose="020B0503020204020204" charset="-122"/>
                <a:ea typeface="微软雅黑" panose="020B0503020204020204" charset="-122"/>
              </a:endParaRPr>
            </a:p>
            <a:p>
              <a:pPr marL="342900" indent="-342900" algn="l">
                <a:buFont typeface="Arial" panose="020B0604020202020204" pitchFamily="34" charset="0"/>
                <a:buChar char="•"/>
              </a:pPr>
              <a:r>
                <a:rPr lang="en-US" altLang="zh-CN" sz="2000">
                  <a:latin typeface="微软雅黑" panose="020B0503020204020204" charset="-122"/>
                  <a:ea typeface="微软雅黑" panose="020B0503020204020204" charset="-122"/>
                </a:rPr>
                <a:t>将科学发现形式化为</a:t>
              </a:r>
              <a:r>
                <a:rPr lang="en-US" altLang="zh-CN" sz="2000" b="1">
                  <a:solidFill>
                    <a:schemeClr val="accent6">
                      <a:lumMod val="50000"/>
                    </a:schemeClr>
                  </a:solidFill>
                  <a:latin typeface="微软雅黑" panose="020B0503020204020204" charset="-122"/>
                  <a:ea typeface="微软雅黑" panose="020B0503020204020204" charset="-122"/>
                </a:rPr>
                <a:t>贝叶斯优化</a:t>
              </a:r>
              <a:r>
                <a:rPr lang="en-US" altLang="zh-CN" sz="2000">
                  <a:latin typeface="微软雅黑" panose="020B0503020204020204" charset="-122"/>
                  <a:ea typeface="微软雅黑" panose="020B0503020204020204" charset="-122"/>
                </a:rPr>
                <a:t>问题，通过由 </a:t>
              </a:r>
              <a:r>
                <a:rPr lang="en-US" altLang="zh-CN" sz="2000" b="1">
                  <a:solidFill>
                    <a:schemeClr val="accent6">
                      <a:lumMod val="50000"/>
                    </a:schemeClr>
                  </a:solidFill>
                  <a:latin typeface="微软雅黑" panose="020B0503020204020204" charset="-122"/>
                  <a:ea typeface="微软雅黑" panose="020B0503020204020204" charset="-122"/>
                </a:rPr>
                <a:t>“假设、验证、分析”</a:t>
              </a:r>
              <a:r>
                <a:rPr lang="en-US" altLang="zh-CN" sz="2000">
                  <a:latin typeface="微软雅黑" panose="020B0503020204020204" charset="-122"/>
                  <a:ea typeface="微软雅黑" panose="020B0503020204020204" charset="-122"/>
                </a:rPr>
                <a:t> 组成的分层评估过程来实现。</a:t>
              </a:r>
              <a:endParaRPr lang="en-US" altLang="zh-CN" sz="2000">
                <a:latin typeface="微软雅黑" panose="020B0503020204020204" charset="-122"/>
                <a:ea typeface="微软雅黑" panose="020B0503020204020204" charset="-122"/>
              </a:endParaRPr>
            </a:p>
            <a:p>
              <a:pPr marL="342900" indent="-342900" algn="l">
                <a:buFont typeface="Arial" panose="020B0604020202020204" pitchFamily="34" charset="0"/>
                <a:buChar char="•"/>
              </a:pPr>
              <a:r>
                <a:rPr lang="en-US" altLang="zh-CN" sz="2000">
                  <a:latin typeface="微软雅黑" panose="020B0503020204020204" charset="-122"/>
                  <a:ea typeface="微软雅黑" panose="020B0503020204020204" charset="-122"/>
                </a:rPr>
                <a:t>借助累积的 “发现记忆库”，</a:t>
              </a:r>
              <a:r>
                <a:rPr lang="zh-CN" altLang="en-US" sz="2000">
                  <a:latin typeface="微软雅黑" panose="020B0503020204020204" charset="-122"/>
                  <a:ea typeface="微软雅黑" panose="020B0503020204020204" charset="-122"/>
                </a:rPr>
                <a:t>上述</a:t>
              </a:r>
              <a:r>
                <a:rPr lang="en-US" altLang="zh-CN" sz="2000">
                  <a:latin typeface="微软雅黑" panose="020B0503020204020204" charset="-122"/>
                  <a:ea typeface="微软雅黑" panose="020B0503020204020204" charset="-122"/>
                </a:rPr>
                <a:t>循环能智能平衡新假设的探索与已有成果的利用，有选择地</a:t>
              </a:r>
              <a:r>
                <a:rPr lang="en-US" altLang="zh-CN" sz="2000" b="1">
                  <a:solidFill>
                    <a:schemeClr val="accent6">
                      <a:lumMod val="50000"/>
                    </a:schemeClr>
                  </a:solidFill>
                  <a:latin typeface="微软雅黑" panose="020B0503020204020204" charset="-122"/>
                  <a:ea typeface="微软雅黑" panose="020B0503020204020204" charset="-122"/>
                </a:rPr>
                <a:t>将最有前景的发现推进到更高保真度的验证级别。</a:t>
              </a:r>
              <a:endParaRPr lang="en-US" altLang="zh-CN" sz="2000" b="1">
                <a:solidFill>
                  <a:schemeClr val="accent6">
                    <a:lumMod val="50000"/>
                  </a:schemeClr>
                </a:solidFill>
                <a:latin typeface="微软雅黑" panose="020B0503020204020204" charset="-122"/>
                <a:ea typeface="微软雅黑" panose="020B0503020204020204" charset="-122"/>
              </a:endParaRPr>
            </a:p>
          </p:txBody>
        </p:sp>
        <p:sp>
          <p:nvSpPr>
            <p:cNvPr id="19" name="文本框 18"/>
            <p:cNvSpPr txBox="1"/>
            <p:nvPr/>
          </p:nvSpPr>
          <p:spPr>
            <a:xfrm>
              <a:off x="1170" y="3226"/>
              <a:ext cx="5086" cy="596"/>
            </a:xfrm>
            <a:prstGeom prst="rect">
              <a:avLst/>
            </a:prstGeom>
            <a:noFill/>
          </p:spPr>
          <p:txBody>
            <a:bodyPr wrap="square" rtlCol="0" anchor="t">
              <a:noAutofit/>
            </a:bodyPr>
            <a:p>
              <a:pPr algn="l"/>
              <a:r>
                <a:rPr lang="zh-CN" altLang="en-US" sz="2400" b="1">
                  <a:solidFill>
                    <a:schemeClr val="accent6">
                      <a:lumMod val="50000"/>
                    </a:schemeClr>
                  </a:solidFill>
                  <a:latin typeface="微软雅黑" panose="020B0503020204020204" charset="-122"/>
                  <a:ea typeface="微软雅黑" panose="020B0503020204020204" charset="-122"/>
                  <a:sym typeface="+mn-ea"/>
                </a:rPr>
                <a:t>研究重点</a:t>
              </a:r>
              <a:r>
                <a:rPr lang="en-US" altLang="zh-CN" sz="2400" b="1">
                  <a:solidFill>
                    <a:schemeClr val="accent6">
                      <a:lumMod val="50000"/>
                    </a:schemeClr>
                  </a:solidFill>
                  <a:latin typeface="微软雅黑" panose="020B0503020204020204" charset="-122"/>
                  <a:ea typeface="微软雅黑" panose="020B0503020204020204" charset="-122"/>
                  <a:sym typeface="+mn-ea"/>
                </a:rPr>
                <a:t>:</a:t>
              </a:r>
              <a:endParaRPr lang="en-US" altLang="zh-CN" sz="2400" b="1">
                <a:solidFill>
                  <a:schemeClr val="accent6">
                    <a:lumMod val="50000"/>
                  </a:schemeClr>
                </a:solidFill>
                <a:latin typeface="微软雅黑" panose="020B0503020204020204" charset="-122"/>
                <a:ea typeface="微软雅黑" panose="020B0503020204020204" charset="-122"/>
                <a:sym typeface="+mn-ea"/>
              </a:endParaRPr>
            </a:p>
          </p:txBody>
        </p:sp>
      </p:grpSp>
      <p:pic>
        <p:nvPicPr>
          <p:cNvPr id="4" name="图片 3" descr="logo"/>
          <p:cNvPicPr>
            <a:picLocks noChangeAspect="1"/>
          </p:cNvPicPr>
          <p:nvPr/>
        </p:nvPicPr>
        <p:blipFill>
          <a:blip r:embed="rId1"/>
          <a:stretch>
            <a:fillRect/>
          </a:stretch>
        </p:blipFill>
        <p:spPr>
          <a:xfrm>
            <a:off x="8810625" y="33655"/>
            <a:ext cx="3314700" cy="673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strips(downLeft)">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trips(down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strips(down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strips(downLeft)">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 name="组合 6"/>
          <p:cNvGrpSpPr/>
          <p:nvPr/>
        </p:nvGrpSpPr>
        <p:grpSpPr>
          <a:xfrm rot="0">
            <a:off x="266065" y="833120"/>
            <a:ext cx="3510280" cy="5416550"/>
            <a:chOff x="770" y="1830"/>
            <a:chExt cx="5005" cy="8530"/>
          </a:xfrm>
        </p:grpSpPr>
        <p:sp>
          <p:nvSpPr>
            <p:cNvPr id="18" name="圆角矩形 17"/>
            <p:cNvSpPr/>
            <p:nvPr/>
          </p:nvSpPr>
          <p:spPr>
            <a:xfrm>
              <a:off x="770" y="2754"/>
              <a:ext cx="4565" cy="7606"/>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t" anchorCtr="0"/>
            <a:p>
              <a:pPr marL="285750" indent="-285750" algn="l" fontAlgn="auto">
                <a:lnSpc>
                  <a:spcPct val="150000"/>
                </a:lnSpc>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rPr>
                <a:t>科学发现本质上是一个</a:t>
              </a:r>
              <a:r>
                <a:rPr lang="zh-CN" altLang="en-US" b="1">
                  <a:solidFill>
                    <a:schemeClr val="tx1"/>
                  </a:solidFill>
                  <a:latin typeface="微软雅黑" panose="020B0503020204020204" charset="-122"/>
                  <a:ea typeface="微软雅黑" panose="020B0503020204020204" charset="-122"/>
                </a:rPr>
                <a:t>不断探索和试错</a:t>
              </a:r>
              <a:r>
                <a:rPr lang="zh-CN" altLang="en-US">
                  <a:solidFill>
                    <a:schemeClr val="tx1"/>
                  </a:solidFill>
                  <a:latin typeface="微软雅黑" panose="020B0503020204020204" charset="-122"/>
                  <a:ea typeface="微软雅黑" panose="020B0503020204020204" charset="-122"/>
                </a:rPr>
                <a:t>的过程。</a:t>
              </a:r>
              <a:endParaRPr lang="zh-CN" altLang="en-US">
                <a:solidFill>
                  <a:schemeClr val="tx1"/>
                </a:solidFill>
                <a:latin typeface="微软雅黑" panose="020B0503020204020204" charset="-122"/>
                <a:ea typeface="微软雅黑" panose="020B0503020204020204" charset="-122"/>
              </a:endParaRPr>
            </a:p>
            <a:p>
              <a:pPr marL="285750" indent="-285750" algn="l" fontAlgn="auto">
                <a:lnSpc>
                  <a:spcPct val="150000"/>
                </a:lnSpc>
                <a:buFont typeface="Arial" panose="020B0604020202020204" pitchFamily="34" charset="0"/>
                <a:buChar char="•"/>
              </a:pPr>
              <a:r>
                <a:rPr lang="en-US" altLang="zh-CN">
                  <a:solidFill>
                    <a:schemeClr val="tx1"/>
                  </a:solidFill>
                  <a:latin typeface="微软雅黑" panose="020B0503020204020204" charset="-122"/>
                  <a:ea typeface="微软雅黑" panose="020B0503020204020204" charset="-122"/>
                </a:rPr>
                <a:t>LLM</a:t>
              </a:r>
              <a:r>
                <a:rPr lang="zh-CN" altLang="en-US">
                  <a:solidFill>
                    <a:schemeClr val="tx1"/>
                  </a:solidFill>
                  <a:latin typeface="微软雅黑" panose="020B0503020204020204" charset="-122"/>
                  <a:ea typeface="微软雅黑" panose="020B0503020204020204" charset="-122"/>
                </a:rPr>
                <a:t>在科学发现中实现了</a:t>
              </a:r>
              <a:r>
                <a:rPr lang="zh-CN" altLang="en-US" b="1">
                  <a:solidFill>
                    <a:schemeClr val="tx1"/>
                  </a:solidFill>
                  <a:latin typeface="微软雅黑" panose="020B0503020204020204" charset="-122"/>
                  <a:ea typeface="微软雅黑" panose="020B0503020204020204" charset="-122"/>
                </a:rPr>
                <a:t>端到端、全周期的自动化</a:t>
              </a:r>
              <a:r>
                <a:rPr lang="zh-CN" altLang="en-US">
                  <a:solidFill>
                    <a:schemeClr val="tx1"/>
                  </a:solidFill>
                  <a:latin typeface="微软雅黑" panose="020B0503020204020204" charset="-122"/>
                  <a:ea typeface="微软雅黑" panose="020B0503020204020204" charset="-122"/>
                </a:rPr>
                <a:t>。</a:t>
              </a:r>
              <a:endParaRPr lang="zh-CN" altLang="en-US">
                <a:solidFill>
                  <a:schemeClr val="tx1"/>
                </a:solidFill>
                <a:latin typeface="微软雅黑" panose="020B0503020204020204" charset="-122"/>
                <a:ea typeface="微软雅黑" panose="020B0503020204020204" charset="-122"/>
              </a:endParaRPr>
            </a:p>
            <a:p>
              <a:pPr marL="285750" indent="-285750" algn="l" fontAlgn="auto">
                <a:lnSpc>
                  <a:spcPct val="150000"/>
                </a:lnSpc>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rPr>
                <a:t>在缺乏明确科学目标的情况下，当前的人工智能科学家系统经常陷入</a:t>
              </a:r>
              <a:r>
                <a:rPr lang="zh-CN" altLang="en-US" b="1">
                  <a:solidFill>
                    <a:schemeClr val="tx1"/>
                  </a:solidFill>
                  <a:latin typeface="微软雅黑" panose="020B0503020204020204" charset="-122"/>
                  <a:ea typeface="微软雅黑" panose="020B0503020204020204" charset="-122"/>
                </a:rPr>
                <a:t>盲目重组现有知识和方法</a:t>
              </a:r>
              <a:r>
                <a:rPr lang="zh-CN" altLang="en-US">
                  <a:solidFill>
                    <a:schemeClr val="tx1"/>
                  </a:solidFill>
                  <a:latin typeface="微软雅黑" panose="020B0503020204020204" charset="-122"/>
                  <a:ea typeface="微软雅黑" panose="020B0503020204020204" charset="-122"/>
                </a:rPr>
                <a:t>的陷阱。因此，他们的研究成果在人类评价下往往</a:t>
              </a:r>
              <a:r>
                <a:rPr lang="zh-CN" altLang="en-US" b="1">
                  <a:solidFill>
                    <a:schemeClr val="tx1"/>
                  </a:solidFill>
                  <a:latin typeface="微软雅黑" panose="020B0503020204020204" charset="-122"/>
                  <a:ea typeface="微软雅黑" panose="020B0503020204020204" charset="-122"/>
                </a:rPr>
                <a:t>缺乏真正的科学价值</a:t>
              </a:r>
              <a:r>
                <a:rPr lang="zh-CN" altLang="en-US">
                  <a:solidFill>
                    <a:schemeClr val="tx1"/>
                  </a:solidFill>
                  <a:latin typeface="微软雅黑" panose="020B0503020204020204" charset="-122"/>
                  <a:ea typeface="微软雅黑" panose="020B0503020204020204" charset="-122"/>
                </a:rPr>
                <a:t>。</a:t>
              </a:r>
              <a:endParaRPr lang="zh-CN" altLang="en-US">
                <a:solidFill>
                  <a:schemeClr val="tx1"/>
                </a:solidFill>
                <a:latin typeface="微软雅黑" panose="020B0503020204020204" charset="-122"/>
                <a:ea typeface="微软雅黑" panose="020B0503020204020204" charset="-122"/>
              </a:endParaRPr>
            </a:p>
            <a:p>
              <a:pPr marL="285750" indent="-285750" algn="l" fontAlgn="auto">
                <a:lnSpc>
                  <a:spcPct val="150000"/>
                </a:lnSpc>
                <a:buFont typeface="Arial" panose="020B0604020202020204" pitchFamily="34" charset="0"/>
                <a:buChar char="•"/>
              </a:pPr>
              <a:endParaRPr lang="en-US" altLang="zh-CN">
                <a:solidFill>
                  <a:schemeClr val="tx1"/>
                </a:solidFill>
                <a:latin typeface="微软雅黑" panose="020B0503020204020204" charset="-122"/>
                <a:ea typeface="微软雅黑" panose="020B0503020204020204" charset="-122"/>
              </a:endParaRPr>
            </a:p>
            <a:p>
              <a:pPr marL="285750" indent="-285750" algn="l" fontAlgn="auto">
                <a:lnSpc>
                  <a:spcPct val="150000"/>
                </a:lnSpc>
                <a:buFont typeface="Wingdings" panose="05000000000000000000" charset="0"/>
                <a:buChar char="Ø"/>
              </a:pPr>
              <a:endParaRPr lang="zh-CN" altLang="en-US">
                <a:solidFill>
                  <a:schemeClr val="tx1"/>
                </a:solidFill>
                <a:latin typeface="微软雅黑" panose="020B0503020204020204" charset="-122"/>
                <a:ea typeface="微软雅黑" panose="020B0503020204020204" charset="-122"/>
              </a:endParaRPr>
            </a:p>
          </p:txBody>
        </p:sp>
        <p:sp>
          <p:nvSpPr>
            <p:cNvPr id="4" name="文本框 3"/>
            <p:cNvSpPr txBox="1"/>
            <p:nvPr/>
          </p:nvSpPr>
          <p:spPr>
            <a:xfrm>
              <a:off x="770" y="1830"/>
              <a:ext cx="5005" cy="725"/>
            </a:xfrm>
            <a:prstGeom prst="rect">
              <a:avLst/>
            </a:prstGeom>
            <a:noFill/>
          </p:spPr>
          <p:txBody>
            <a:bodyPr wrap="square" rtlCol="0">
              <a:spAutoFit/>
            </a:bodyPr>
            <a:p>
              <a:r>
                <a:rPr lang="zh-CN" altLang="en-US" sz="2400" b="1">
                  <a:solidFill>
                    <a:schemeClr val="accent6">
                      <a:lumMod val="50000"/>
                    </a:schemeClr>
                  </a:solidFill>
                  <a:latin typeface="微软雅黑" panose="020B0503020204020204" charset="-122"/>
                  <a:ea typeface="微软雅黑" panose="020B0503020204020204" charset="-122"/>
                </a:rPr>
                <a:t>目前研究</a:t>
              </a:r>
              <a:r>
                <a:rPr lang="zh-CN" altLang="en-US" sz="2400" b="1">
                  <a:solidFill>
                    <a:schemeClr val="accent6">
                      <a:lumMod val="50000"/>
                    </a:schemeClr>
                  </a:solidFill>
                  <a:latin typeface="微软雅黑" panose="020B0503020204020204" charset="-122"/>
                  <a:ea typeface="微软雅黑" panose="020B0503020204020204" charset="-122"/>
                </a:rPr>
                <a:t>现状：</a:t>
              </a:r>
              <a:endParaRPr lang="zh-CN" altLang="en-US" sz="2400" b="1">
                <a:solidFill>
                  <a:schemeClr val="accent6">
                    <a:lumMod val="50000"/>
                  </a:schemeClr>
                </a:solidFill>
                <a:latin typeface="微软雅黑" panose="020B0503020204020204" charset="-122"/>
                <a:ea typeface="微软雅黑" panose="020B0503020204020204" charset="-122"/>
              </a:endParaRPr>
            </a:p>
          </p:txBody>
        </p:sp>
      </p:grpSp>
      <p:grpSp>
        <p:nvGrpSpPr>
          <p:cNvPr id="2" name="组合 1"/>
          <p:cNvGrpSpPr/>
          <p:nvPr/>
        </p:nvGrpSpPr>
        <p:grpSpPr>
          <a:xfrm>
            <a:off x="0" y="-635"/>
            <a:ext cx="12192000" cy="707390"/>
            <a:chOff x="0" y="0"/>
            <a:chExt cx="19200" cy="1114"/>
          </a:xfrm>
        </p:grpSpPr>
        <p:sp>
          <p:nvSpPr>
            <p:cNvPr id="8" name="矩形 7"/>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I</a:t>
              </a: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ntroduction</a:t>
              </a:r>
              <a:endPar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0" name="文本框 9"/>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02</a:t>
              </a:r>
              <a:endParaRPr lang="en-US" altLang="zh-CN" sz="4000" b="1">
                <a:solidFill>
                  <a:schemeClr val="bg1"/>
                </a:solidFill>
                <a:latin typeface="微软雅黑" panose="020B0503020204020204" charset="-122"/>
                <a:ea typeface="微软雅黑" panose="020B0503020204020204" charset="-122"/>
              </a:endParaRPr>
            </a:p>
          </p:txBody>
        </p:sp>
      </p:grpSp>
      <p:pic>
        <p:nvPicPr>
          <p:cNvPr id="12" name="图片 11" descr="logo"/>
          <p:cNvPicPr>
            <a:picLocks noChangeAspect="1"/>
          </p:cNvPicPr>
          <p:nvPr/>
        </p:nvPicPr>
        <p:blipFill>
          <a:blip r:embed="rId1"/>
          <a:stretch>
            <a:fillRect/>
          </a:stretch>
        </p:blipFill>
        <p:spPr>
          <a:xfrm>
            <a:off x="8810625" y="33655"/>
            <a:ext cx="3314700" cy="673100"/>
          </a:xfrm>
          <a:prstGeom prst="rect">
            <a:avLst/>
          </a:prstGeom>
        </p:spPr>
      </p:pic>
      <p:grpSp>
        <p:nvGrpSpPr>
          <p:cNvPr id="15" name="组合 14"/>
          <p:cNvGrpSpPr/>
          <p:nvPr/>
        </p:nvGrpSpPr>
        <p:grpSpPr>
          <a:xfrm>
            <a:off x="3855085" y="833120"/>
            <a:ext cx="7886065" cy="5530215"/>
            <a:chOff x="6071" y="1312"/>
            <a:chExt cx="12419" cy="8709"/>
          </a:xfrm>
        </p:grpSpPr>
        <p:grpSp>
          <p:nvGrpSpPr>
            <p:cNvPr id="11" name="组合 10"/>
            <p:cNvGrpSpPr/>
            <p:nvPr/>
          </p:nvGrpSpPr>
          <p:grpSpPr>
            <a:xfrm>
              <a:off x="6071" y="1312"/>
              <a:ext cx="12351" cy="5351"/>
              <a:chOff x="8947" y="1302"/>
              <a:chExt cx="12351" cy="5351"/>
            </a:xfrm>
          </p:grpSpPr>
          <p:sp>
            <p:nvSpPr>
              <p:cNvPr id="5" name="文本框 4"/>
              <p:cNvSpPr txBox="1"/>
              <p:nvPr/>
            </p:nvSpPr>
            <p:spPr>
              <a:xfrm>
                <a:off x="8947" y="1302"/>
                <a:ext cx="8028" cy="725"/>
              </a:xfrm>
              <a:prstGeom prst="rect">
                <a:avLst/>
              </a:prstGeom>
              <a:noFill/>
            </p:spPr>
            <p:txBody>
              <a:bodyPr wrap="square" rtlCol="0">
                <a:spAutoFit/>
              </a:bodyPr>
              <a:p>
                <a:r>
                  <a:rPr lang="zh-CN" altLang="en-US" sz="2400" b="1">
                    <a:solidFill>
                      <a:schemeClr val="accent6">
                        <a:lumMod val="50000"/>
                      </a:schemeClr>
                    </a:solidFill>
                    <a:latin typeface="微软雅黑" panose="020B0503020204020204" charset="-122"/>
                    <a:ea typeface="微软雅黑" panose="020B0503020204020204" charset="-122"/>
                    <a:sym typeface="+mn-ea"/>
                  </a:rPr>
                  <a:t>工作</a:t>
                </a:r>
                <a:r>
                  <a:rPr lang="zh-CN" altLang="en-US" sz="2400" b="1">
                    <a:solidFill>
                      <a:schemeClr val="accent6">
                        <a:lumMod val="50000"/>
                      </a:schemeClr>
                    </a:solidFill>
                    <a:latin typeface="微软雅黑" panose="020B0503020204020204" charset="-122"/>
                    <a:ea typeface="微软雅黑" panose="020B0503020204020204" charset="-122"/>
                    <a:sym typeface="+mn-ea"/>
                  </a:rPr>
                  <a:t>架构：</a:t>
                </a:r>
                <a:endParaRPr lang="en-US" altLang="zh-CN" sz="2400" b="1">
                  <a:latin typeface="微软雅黑" panose="020B0503020204020204" charset="-122"/>
                  <a:ea typeface="微软雅黑" panose="020B0503020204020204" charset="-122"/>
                </a:endParaRPr>
              </a:p>
            </p:txBody>
          </p:sp>
          <p:sp>
            <p:nvSpPr>
              <p:cNvPr id="3" name="圆角矩形 2"/>
              <p:cNvSpPr/>
              <p:nvPr/>
            </p:nvSpPr>
            <p:spPr>
              <a:xfrm>
                <a:off x="9051" y="2147"/>
                <a:ext cx="12247" cy="1054"/>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l">
                  <a:buFont typeface="Arial" panose="020B0604020202020204" pitchFamily="34" charset="0"/>
                  <a:buNone/>
                </a:pPr>
                <a:r>
                  <a:rPr lang="zh-CN" altLang="en-US">
                    <a:solidFill>
                      <a:schemeClr val="tx1"/>
                    </a:solidFill>
                    <a:latin typeface="微软雅黑" panose="020B0503020204020204" charset="-122"/>
                    <a:ea typeface="微软雅黑" panose="020B0503020204020204" charset="-122"/>
                  </a:rPr>
                  <a:t>将科学发现建模为</a:t>
                </a:r>
                <a:r>
                  <a:rPr lang="zh-CN" altLang="en-US" b="1">
                    <a:solidFill>
                      <a:schemeClr val="accent6">
                        <a:lumMod val="50000"/>
                      </a:schemeClr>
                    </a:solidFill>
                    <a:latin typeface="微软雅黑" panose="020B0503020204020204" charset="-122"/>
                    <a:ea typeface="微软雅黑" panose="020B0503020204020204" charset="-122"/>
                  </a:rPr>
                  <a:t>目标驱动的贝叶斯优化问题</a:t>
                </a:r>
                <a:r>
                  <a:rPr lang="zh-CN" altLang="en-US">
                    <a:solidFill>
                      <a:schemeClr val="tx1"/>
                    </a:solidFill>
                    <a:latin typeface="微软雅黑" panose="020B0503020204020204" charset="-122"/>
                    <a:ea typeface="微软雅黑" panose="020B0503020204020204" charset="-122"/>
                  </a:rPr>
                  <a:t>，唯一目标是找到一种最大限度地提高目标性能指标的新方法。</a:t>
                </a:r>
                <a:endParaRPr lang="zh-CN" altLang="en-US">
                  <a:solidFill>
                    <a:schemeClr val="tx1"/>
                  </a:solidFill>
                  <a:latin typeface="微软雅黑" panose="020B0503020204020204" charset="-122"/>
                  <a:ea typeface="微软雅黑" panose="020B0503020204020204" charset="-122"/>
                </a:endParaRPr>
              </a:p>
            </p:txBody>
          </p:sp>
          <p:sp>
            <p:nvSpPr>
              <p:cNvPr id="27" name="圆角矩形 26"/>
              <p:cNvSpPr/>
              <p:nvPr/>
            </p:nvSpPr>
            <p:spPr>
              <a:xfrm>
                <a:off x="9051" y="4195"/>
                <a:ext cx="12247" cy="2458"/>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l">
                  <a:buFont typeface="Arial" panose="020B0604020202020204" pitchFamily="34" charset="0"/>
                  <a:buNone/>
                </a:pPr>
                <a:r>
                  <a:rPr lang="en-US" altLang="zh-CN" b="1">
                    <a:solidFill>
                      <a:schemeClr val="accent6">
                        <a:lumMod val="50000"/>
                      </a:schemeClr>
                    </a:solidFill>
                    <a:latin typeface="微软雅黑" panose="020B0503020204020204" charset="-122"/>
                    <a:ea typeface="微软雅黑" panose="020B0503020204020204" charset="-122"/>
                  </a:rPr>
                  <a:t>DeepScientist</a:t>
                </a:r>
                <a:r>
                  <a:rPr lang="zh-CN" altLang="en-US" b="1">
                    <a:solidFill>
                      <a:schemeClr val="accent6">
                        <a:lumMod val="50000"/>
                      </a:schemeClr>
                    </a:solidFill>
                    <a:latin typeface="微软雅黑" panose="020B0503020204020204" charset="-122"/>
                    <a:ea typeface="微软雅黑" panose="020B0503020204020204" charset="-122"/>
                  </a:rPr>
                  <a:t>：</a:t>
                </a:r>
                <a:endParaRPr lang="zh-CN" altLang="en-US" b="1">
                  <a:solidFill>
                    <a:schemeClr val="accent6">
                      <a:lumMod val="50000"/>
                    </a:schemeClr>
                  </a:solidFill>
                  <a:latin typeface="微软雅黑" panose="020B0503020204020204" charset="-122"/>
                  <a:ea typeface="微软雅黑" panose="020B0503020204020204" charset="-122"/>
                </a:endParaRPr>
              </a:p>
              <a:p>
                <a:pPr marL="285750" indent="-285750" algn="l">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rPr>
                  <a:t>采用</a:t>
                </a:r>
                <a:r>
                  <a:rPr lang="zh-CN" altLang="en-US" b="1">
                    <a:solidFill>
                      <a:schemeClr val="accent6">
                        <a:lumMod val="50000"/>
                      </a:schemeClr>
                    </a:solidFill>
                    <a:latin typeface="微软雅黑" panose="020B0503020204020204" charset="-122"/>
                    <a:ea typeface="微软雅黑" panose="020B0503020204020204" charset="-122"/>
                  </a:rPr>
                  <a:t>迭代工作流程</a:t>
                </a:r>
                <a:r>
                  <a:rPr lang="zh-CN" altLang="en-US">
                    <a:solidFill>
                      <a:schemeClr val="tx1"/>
                    </a:solidFill>
                    <a:latin typeface="微软雅黑" panose="020B0503020204020204" charset="-122"/>
                    <a:ea typeface="微软雅黑" panose="020B0503020204020204" charset="-122"/>
                  </a:rPr>
                  <a:t>，不断扩展先前研究知识的记忆。巧妙地平衡了</a:t>
                </a:r>
                <a:r>
                  <a:rPr lang="zh-CN" altLang="en-US">
                    <a:solidFill>
                      <a:schemeClr val="tx1"/>
                    </a:solidFill>
                    <a:latin typeface="微软雅黑" panose="020B0503020204020204" charset="-122"/>
                    <a:ea typeface="微软雅黑" panose="020B0503020204020204" charset="-122"/>
                  </a:rPr>
                  <a:t>挖掘（深化对有前景的高价值方向的调查）和探索（冒险进入未知领域）。</a:t>
                </a:r>
                <a:endParaRPr lang="zh-CN" altLang="en-US">
                  <a:solidFill>
                    <a:schemeClr val="tx1"/>
                  </a:solidFill>
                  <a:latin typeface="微软雅黑" panose="020B0503020204020204" charset="-122"/>
                  <a:ea typeface="微软雅黑" panose="020B0503020204020204" charset="-122"/>
                </a:endParaRPr>
              </a:p>
              <a:p>
                <a:pPr marL="285750" indent="-285750" algn="l">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rPr>
                  <a:t>通过大规模的并行探索，</a:t>
                </a:r>
                <a:r>
                  <a:rPr lang="en-US" altLang="zh-CN">
                    <a:solidFill>
                      <a:schemeClr val="tx1"/>
                    </a:solidFill>
                    <a:latin typeface="微软雅黑" panose="020B0503020204020204" charset="-122"/>
                    <a:ea typeface="微软雅黑" panose="020B0503020204020204" charset="-122"/>
                  </a:rPr>
                  <a:t>DeepScientist</a:t>
                </a:r>
                <a:r>
                  <a:rPr lang="zh-CN" altLang="en-US">
                    <a:solidFill>
                      <a:schemeClr val="tx1"/>
                    </a:solidFill>
                    <a:latin typeface="微软雅黑" panose="020B0503020204020204" charset="-122"/>
                    <a:ea typeface="微软雅黑" panose="020B0503020204020204" charset="-122"/>
                  </a:rPr>
                  <a:t>可以产生创新的假设，并最终通过持续探索</a:t>
                </a:r>
                <a:r>
                  <a:rPr lang="zh-CN" altLang="en-US" b="1">
                    <a:solidFill>
                      <a:schemeClr val="accent6">
                        <a:lumMod val="50000"/>
                      </a:schemeClr>
                    </a:solidFill>
                    <a:latin typeface="微软雅黑" panose="020B0503020204020204" charset="-122"/>
                    <a:ea typeface="微软雅黑" panose="020B0503020204020204" charset="-122"/>
                  </a:rPr>
                  <a:t>产生有价值的新方法和经过验证的科学发现</a:t>
                </a:r>
                <a:r>
                  <a:rPr lang="zh-CN" altLang="en-US">
                    <a:solidFill>
                      <a:schemeClr val="tx1"/>
                    </a:solidFill>
                    <a:latin typeface="微软雅黑" panose="020B0503020204020204" charset="-122"/>
                    <a:ea typeface="微软雅黑" panose="020B0503020204020204" charset="-122"/>
                  </a:rPr>
                  <a:t>。</a:t>
                </a:r>
                <a:endParaRPr lang="zh-CN" altLang="en-US">
                  <a:solidFill>
                    <a:schemeClr val="tx1"/>
                  </a:solidFill>
                  <a:latin typeface="微软雅黑" panose="020B0503020204020204" charset="-122"/>
                  <a:ea typeface="微软雅黑" panose="020B0503020204020204" charset="-122"/>
                </a:endParaRPr>
              </a:p>
            </p:txBody>
          </p:sp>
          <p:sp>
            <p:nvSpPr>
              <p:cNvPr id="29" name="右箭头 28"/>
              <p:cNvSpPr/>
              <p:nvPr/>
            </p:nvSpPr>
            <p:spPr>
              <a:xfrm rot="5400000">
                <a:off x="14855" y="3448"/>
                <a:ext cx="638" cy="499"/>
              </a:xfrm>
              <a:prstGeom prst="rightArrow">
                <a:avLst/>
              </a:prstGeom>
              <a:solidFill>
                <a:schemeClr val="accent6">
                  <a:lumMod val="75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3" name="圆角矩形 12"/>
            <p:cNvSpPr/>
            <p:nvPr/>
          </p:nvSpPr>
          <p:spPr>
            <a:xfrm>
              <a:off x="6244" y="7563"/>
              <a:ext cx="12247" cy="2458"/>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marL="285750" indent="-285750" algn="l">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rPr>
                <a:t>在三大任务上实现</a:t>
              </a:r>
              <a:r>
                <a:rPr lang="en-US" altLang="zh-CN" b="1">
                  <a:solidFill>
                    <a:schemeClr val="accent6">
                      <a:lumMod val="50000"/>
                    </a:schemeClr>
                  </a:solidFill>
                  <a:latin typeface="微软雅黑" panose="020B0503020204020204" charset="-122"/>
                  <a:ea typeface="微软雅黑" panose="020B0503020204020204" charset="-122"/>
                </a:rPr>
                <a:t>SOTA</a:t>
              </a:r>
              <a:r>
                <a:rPr lang="zh-CN" altLang="en-US">
                  <a:solidFill>
                    <a:schemeClr val="tx1"/>
                  </a:solidFill>
                  <a:latin typeface="微软雅黑" panose="020B0503020204020204" charset="-122"/>
                  <a:ea typeface="微软雅黑" panose="020B0503020204020204" charset="-122"/>
                </a:rPr>
                <a:t>（代理故障归因、</a:t>
              </a:r>
              <a:r>
                <a:rPr lang="en-US" altLang="zh-CN">
                  <a:solidFill>
                    <a:schemeClr val="tx1"/>
                  </a:solidFill>
                  <a:latin typeface="微软雅黑" panose="020B0503020204020204" charset="-122"/>
                  <a:ea typeface="微软雅黑" panose="020B0503020204020204" charset="-122"/>
                </a:rPr>
                <a:t>LLM</a:t>
              </a:r>
              <a:r>
                <a:rPr lang="zh-CN" altLang="en-US">
                  <a:solidFill>
                    <a:schemeClr val="tx1"/>
                  </a:solidFill>
                  <a:latin typeface="微软雅黑" panose="020B0503020204020204" charset="-122"/>
                  <a:ea typeface="微软雅黑" panose="020B0503020204020204" charset="-122"/>
                </a:rPr>
                <a:t>推理加速和</a:t>
              </a:r>
              <a:r>
                <a:rPr lang="en-US" altLang="zh-CN">
                  <a:solidFill>
                    <a:schemeClr val="tx1"/>
                  </a:solidFill>
                  <a:latin typeface="微软雅黑" panose="020B0503020204020204" charset="-122"/>
                  <a:ea typeface="微软雅黑" panose="020B0503020204020204" charset="-122"/>
                </a:rPr>
                <a:t>AI</a:t>
              </a:r>
              <a:r>
                <a:rPr lang="zh-CN" altLang="en-US">
                  <a:solidFill>
                    <a:schemeClr val="tx1"/>
                  </a:solidFill>
                  <a:latin typeface="微软雅黑" panose="020B0503020204020204" charset="-122"/>
                  <a:ea typeface="微软雅黑" panose="020B0503020204020204" charset="-122"/>
                </a:rPr>
                <a:t>文本检测</a:t>
              </a:r>
              <a:r>
                <a:rPr lang="zh-CN" altLang="en-US">
                  <a:solidFill>
                    <a:schemeClr val="tx1"/>
                  </a:solidFill>
                  <a:latin typeface="微软雅黑" panose="020B0503020204020204" charset="-122"/>
                  <a:ea typeface="微软雅黑" panose="020B0503020204020204" charset="-122"/>
                </a:rPr>
                <a:t>）</a:t>
              </a:r>
              <a:endParaRPr lang="zh-CN" altLang="en-US">
                <a:solidFill>
                  <a:schemeClr val="tx1"/>
                </a:solidFill>
                <a:latin typeface="微软雅黑" panose="020B0503020204020204" charset="-122"/>
                <a:ea typeface="微软雅黑" panose="020B0503020204020204" charset="-122"/>
              </a:endParaRPr>
            </a:p>
            <a:p>
              <a:pPr marL="285750" indent="-285750" algn="l">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rPr>
                <a:t>分配的资源与有价值的科学发现的产出之间存在近</a:t>
              </a:r>
              <a:r>
                <a:rPr lang="en-US" altLang="zh-CN" b="1">
                  <a:solidFill>
                    <a:schemeClr val="accent6">
                      <a:lumMod val="50000"/>
                    </a:schemeClr>
                  </a:solidFill>
                  <a:latin typeface="微软雅黑" panose="020B0503020204020204" charset="-122"/>
                  <a:ea typeface="微软雅黑" panose="020B0503020204020204" charset="-122"/>
                </a:rPr>
                <a:t>线性关系</a:t>
              </a:r>
              <a:r>
                <a:rPr lang="zh-CN" altLang="en-US">
                  <a:solidFill>
                    <a:schemeClr val="tx1"/>
                  </a:solidFill>
                  <a:latin typeface="微软雅黑" panose="020B0503020204020204" charset="-122"/>
                  <a:ea typeface="微软雅黑" panose="020B0503020204020204" charset="-122"/>
                </a:rPr>
                <a:t>。</a:t>
              </a:r>
              <a:endParaRPr lang="zh-CN" altLang="en-US">
                <a:solidFill>
                  <a:schemeClr val="tx1"/>
                </a:solidFill>
                <a:latin typeface="微软雅黑" panose="020B0503020204020204" charset="-122"/>
                <a:ea typeface="微软雅黑" panose="020B0503020204020204" charset="-122"/>
              </a:endParaRPr>
            </a:p>
            <a:p>
              <a:pPr marL="285750" indent="-285750" algn="l">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rPr>
                <a:t>人工智能的探索速度非常快，但其固有的创新成功率非常低。</a:t>
              </a:r>
              <a:endParaRPr lang="zh-CN" altLang="en-US">
                <a:solidFill>
                  <a:schemeClr val="tx1"/>
                </a:solidFill>
                <a:latin typeface="微软雅黑" panose="020B0503020204020204" charset="-122"/>
                <a:ea typeface="微软雅黑" panose="020B0503020204020204" charset="-122"/>
              </a:endParaRPr>
            </a:p>
            <a:p>
              <a:pPr marL="285750" indent="-285750" algn="l">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rPr>
                <a:t>该领域的核心问题不再是</a:t>
              </a:r>
              <a:r>
                <a:rPr lang="en-US" altLang="zh-CN">
                  <a:solidFill>
                    <a:schemeClr val="tx1"/>
                  </a:solidFill>
                  <a:latin typeface="微软雅黑" panose="020B0503020204020204" charset="-122"/>
                  <a:ea typeface="微软雅黑" panose="020B0503020204020204" charset="-122"/>
                </a:rPr>
                <a:t>“</a:t>
              </a:r>
              <a:r>
                <a:rPr lang="zh-CN" altLang="en-US">
                  <a:solidFill>
                    <a:schemeClr val="tx1"/>
                  </a:solidFill>
                  <a:latin typeface="微软雅黑" panose="020B0503020204020204" charset="-122"/>
                  <a:ea typeface="微软雅黑" panose="020B0503020204020204" charset="-122"/>
                </a:rPr>
                <a:t>人工智能能创新吗？而是</a:t>
              </a:r>
              <a:r>
                <a:rPr lang="en-US" altLang="zh-CN">
                  <a:solidFill>
                    <a:schemeClr val="tx1"/>
                  </a:solidFill>
                  <a:latin typeface="微软雅黑" panose="020B0503020204020204" charset="-122"/>
                  <a:ea typeface="微软雅黑" panose="020B0503020204020204" charset="-122"/>
                </a:rPr>
                <a:t>“</a:t>
              </a:r>
              <a:r>
                <a:rPr lang="en-US" altLang="zh-CN" b="1">
                  <a:solidFill>
                    <a:schemeClr val="accent6">
                      <a:lumMod val="50000"/>
                    </a:schemeClr>
                  </a:solidFill>
                  <a:latin typeface="微软雅黑" panose="020B0503020204020204" charset="-122"/>
                  <a:ea typeface="微软雅黑" panose="020B0503020204020204" charset="-122"/>
                </a:rPr>
                <a:t>我们如何有效地引导其强大但高度耗散的探索过程，以最大限度地提高科学回报？</a:t>
              </a:r>
              <a:r>
                <a:rPr lang="en-US" altLang="zh-CN">
                  <a:solidFill>
                    <a:schemeClr val="tx1"/>
                  </a:solidFill>
                  <a:latin typeface="微软雅黑" panose="020B0503020204020204" charset="-122"/>
                  <a:ea typeface="微软雅黑" panose="020B0503020204020204" charset="-122"/>
                </a:rPr>
                <a:t>”</a:t>
              </a:r>
              <a:endParaRPr lang="en-US" altLang="zh-CN">
                <a:solidFill>
                  <a:schemeClr val="tx1"/>
                </a:solidFill>
                <a:latin typeface="微软雅黑" panose="020B0503020204020204" charset="-122"/>
                <a:ea typeface="微软雅黑" panose="020B0503020204020204" charset="-122"/>
              </a:endParaRPr>
            </a:p>
          </p:txBody>
        </p:sp>
        <p:sp>
          <p:nvSpPr>
            <p:cNvPr id="14" name="右箭头 13"/>
            <p:cNvSpPr/>
            <p:nvPr/>
          </p:nvSpPr>
          <p:spPr>
            <a:xfrm rot="5400000">
              <a:off x="12084" y="6864"/>
              <a:ext cx="567" cy="499"/>
            </a:xfrm>
            <a:prstGeom prst="rightArrow">
              <a:avLst/>
            </a:prstGeom>
            <a:solidFill>
              <a:schemeClr val="accent6">
                <a:lumMod val="75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strips(down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strips(downLeft)">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0" y="-635"/>
            <a:ext cx="12192000" cy="707390"/>
            <a:chOff x="0" y="0"/>
            <a:chExt cx="19200" cy="1114"/>
          </a:xfrm>
        </p:grpSpPr>
        <p:sp>
          <p:nvSpPr>
            <p:cNvPr id="3" name="矩形 2"/>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R</a:t>
              </a: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elated Work</a:t>
              </a:r>
              <a:endPar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5" name="文本框 4"/>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3</a:t>
              </a:r>
              <a:endParaRPr lang="en-US" altLang="zh-CN" sz="4000" b="1">
                <a:solidFill>
                  <a:schemeClr val="bg1"/>
                </a:solidFill>
                <a:latin typeface="微软雅黑" panose="020B0503020204020204" charset="-122"/>
                <a:ea typeface="微软雅黑" panose="020B0503020204020204" charset="-122"/>
              </a:endParaRPr>
            </a:p>
          </p:txBody>
        </p:sp>
      </p:grpSp>
      <p:pic>
        <p:nvPicPr>
          <p:cNvPr id="7" name="图片 6" descr="logo"/>
          <p:cNvPicPr>
            <a:picLocks noChangeAspect="1"/>
          </p:cNvPicPr>
          <p:nvPr/>
        </p:nvPicPr>
        <p:blipFill>
          <a:blip r:embed="rId1"/>
          <a:stretch>
            <a:fillRect/>
          </a:stretch>
        </p:blipFill>
        <p:spPr>
          <a:xfrm>
            <a:off x="8810625" y="33655"/>
            <a:ext cx="3314700" cy="673100"/>
          </a:xfrm>
          <a:prstGeom prst="rect">
            <a:avLst/>
          </a:prstGeom>
        </p:spPr>
      </p:pic>
      <p:grpSp>
        <p:nvGrpSpPr>
          <p:cNvPr id="19" name="组合 18"/>
          <p:cNvGrpSpPr/>
          <p:nvPr/>
        </p:nvGrpSpPr>
        <p:grpSpPr>
          <a:xfrm>
            <a:off x="266065" y="1130935"/>
            <a:ext cx="11551285" cy="5172710"/>
            <a:chOff x="419" y="1781"/>
            <a:chExt cx="18191" cy="8146"/>
          </a:xfrm>
        </p:grpSpPr>
        <p:grpSp>
          <p:nvGrpSpPr>
            <p:cNvPr id="11" name="组合 10"/>
            <p:cNvGrpSpPr/>
            <p:nvPr/>
          </p:nvGrpSpPr>
          <p:grpSpPr>
            <a:xfrm>
              <a:off x="419" y="1781"/>
              <a:ext cx="5180" cy="8147"/>
              <a:chOff x="419" y="1928"/>
              <a:chExt cx="5180" cy="8147"/>
            </a:xfrm>
          </p:grpSpPr>
          <p:sp>
            <p:nvSpPr>
              <p:cNvPr id="18" name="圆角矩形 17"/>
              <p:cNvSpPr/>
              <p:nvPr/>
            </p:nvSpPr>
            <p:spPr>
              <a:xfrm>
                <a:off x="419" y="2469"/>
                <a:ext cx="5181" cy="7606"/>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t" anchorCtr="0"/>
              <a:p>
                <a:pPr marL="285750" indent="-285750" algn="l" fontAlgn="auto">
                  <a:lnSpc>
                    <a:spcPct val="150000"/>
                  </a:lnSpc>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rPr>
                  <a:t>这类工作的共同目标是在已有的科学范式内进行工程驱动的优化，在不质疑核心基础假设的前提下改进现有系统。</a:t>
                </a:r>
                <a:endParaRPr lang="zh-CN" altLang="en-US">
                  <a:solidFill>
                    <a:schemeClr val="tx1"/>
                  </a:solidFill>
                  <a:latin typeface="微软雅黑" panose="020B0503020204020204" charset="-122"/>
                  <a:ea typeface="微软雅黑" panose="020B0503020204020204" charset="-122"/>
                </a:endParaRPr>
              </a:p>
              <a:p>
                <a:pPr marL="285750" indent="-285750" algn="l" fontAlgn="auto">
                  <a:lnSpc>
                    <a:spcPct val="150000"/>
                  </a:lnSpc>
                  <a:buFont typeface="Arial" panose="020B0604020202020204" pitchFamily="34" charset="0"/>
                  <a:buChar char="•"/>
                </a:pPr>
                <a:r>
                  <a:rPr lang="en-US" altLang="zh-CN">
                    <a:solidFill>
                      <a:schemeClr val="tx1"/>
                    </a:solidFill>
                    <a:latin typeface="微软雅黑" panose="020B0503020204020204" charset="-122"/>
                    <a:ea typeface="微软雅黑" panose="020B0503020204020204" charset="-122"/>
                  </a:rPr>
                  <a:t>DeepScientist</a:t>
                </a:r>
                <a:r>
                  <a:rPr lang="zh-CN" altLang="en-US">
                    <a:solidFill>
                      <a:schemeClr val="tx1"/>
                    </a:solidFill>
                    <a:latin typeface="微软雅黑" panose="020B0503020204020204" charset="-122"/>
                    <a:ea typeface="微软雅黑" panose="020B0503020204020204" charset="-122"/>
                  </a:rPr>
                  <a:t>不是追求以现有最先进技术的局限性为目标的科学发现，也不是优化当前的最先进技术，而是</a:t>
                </a:r>
                <a:r>
                  <a:rPr lang="zh-CN" altLang="en-US" b="1">
                    <a:solidFill>
                      <a:schemeClr val="accent6">
                        <a:lumMod val="50000"/>
                      </a:schemeClr>
                    </a:solidFill>
                    <a:latin typeface="微软雅黑" panose="020B0503020204020204" charset="-122"/>
                    <a:ea typeface="微软雅黑" panose="020B0503020204020204" charset="-122"/>
                  </a:rPr>
                  <a:t>通过引入根本不同的方法来建立新的技术体系。</a:t>
                </a:r>
                <a:endParaRPr lang="zh-CN" altLang="en-US" b="1">
                  <a:solidFill>
                    <a:schemeClr val="accent6">
                      <a:lumMod val="50000"/>
                    </a:schemeClr>
                  </a:solidFill>
                  <a:latin typeface="微软雅黑" panose="020B0503020204020204" charset="-122"/>
                  <a:ea typeface="微软雅黑" panose="020B0503020204020204" charset="-122"/>
                </a:endParaRPr>
              </a:p>
            </p:txBody>
          </p:sp>
          <p:sp>
            <p:nvSpPr>
              <p:cNvPr id="10" name="矩形 9"/>
              <p:cNvSpPr/>
              <p:nvPr/>
            </p:nvSpPr>
            <p:spPr>
              <a:xfrm>
                <a:off x="1138" y="1928"/>
                <a:ext cx="3744" cy="688"/>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000" b="1">
                    <a:latin typeface="微软雅黑" panose="020B0503020204020204" charset="-122"/>
                    <a:ea typeface="微软雅黑" panose="020B0503020204020204" charset="-122"/>
                    <a:cs typeface="微软雅黑" panose="020B0503020204020204" charset="-122"/>
                  </a:rPr>
                  <a:t> </a:t>
                </a:r>
                <a:r>
                  <a:rPr lang="zh-CN" altLang="en-US" sz="2000" b="1">
                    <a:latin typeface="微软雅黑" panose="020B0503020204020204" charset="-122"/>
                    <a:ea typeface="微软雅黑" panose="020B0503020204020204" charset="-122"/>
                    <a:cs typeface="微软雅黑" panose="020B0503020204020204" charset="-122"/>
                  </a:rPr>
                  <a:t>复制与优化</a:t>
                </a:r>
                <a:endParaRPr lang="zh-CN" altLang="en-US" sz="2000" b="1">
                  <a:latin typeface="微软雅黑" panose="020B0503020204020204" charset="-122"/>
                  <a:ea typeface="微软雅黑" panose="020B0503020204020204" charset="-122"/>
                  <a:cs typeface="微软雅黑" panose="020B0503020204020204" charset="-122"/>
                </a:endParaRPr>
              </a:p>
            </p:txBody>
          </p:sp>
        </p:grpSp>
        <p:grpSp>
          <p:nvGrpSpPr>
            <p:cNvPr id="12" name="组合 11"/>
            <p:cNvGrpSpPr/>
            <p:nvPr/>
          </p:nvGrpSpPr>
          <p:grpSpPr>
            <a:xfrm>
              <a:off x="6113" y="1781"/>
              <a:ext cx="5180" cy="8147"/>
              <a:chOff x="419" y="1928"/>
              <a:chExt cx="5180" cy="8147"/>
            </a:xfrm>
          </p:grpSpPr>
          <p:sp>
            <p:nvSpPr>
              <p:cNvPr id="13" name="圆角矩形 12"/>
              <p:cNvSpPr/>
              <p:nvPr/>
            </p:nvSpPr>
            <p:spPr>
              <a:xfrm>
                <a:off x="419" y="2469"/>
                <a:ext cx="5181" cy="7606"/>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t" anchorCtr="0"/>
              <a:p>
                <a:pPr marL="285750" indent="-285750" algn="l" fontAlgn="auto">
                  <a:lnSpc>
                    <a:spcPct val="150000"/>
                  </a:lnSpc>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rPr>
                  <a:t>这些强大的工具仅能解决科学过程中孤立的部分，关键的从失败中学习和探索环节仍由人类完成。</a:t>
                </a:r>
                <a:endParaRPr lang="zh-CN" altLang="en-US">
                  <a:solidFill>
                    <a:schemeClr val="tx1"/>
                  </a:solidFill>
                  <a:latin typeface="微软雅黑" panose="020B0503020204020204" charset="-122"/>
                  <a:ea typeface="微软雅黑" panose="020B0503020204020204" charset="-122"/>
                </a:endParaRPr>
              </a:p>
              <a:p>
                <a:pPr marL="285750" indent="-285750" algn="l" fontAlgn="auto">
                  <a:lnSpc>
                    <a:spcPct val="150000"/>
                  </a:lnSpc>
                  <a:buFont typeface="Arial" panose="020B0604020202020204" pitchFamily="34" charset="0"/>
                  <a:buChar char="•"/>
                </a:pPr>
                <a:r>
                  <a:rPr lang="en-US" altLang="zh-CN">
                    <a:solidFill>
                      <a:schemeClr val="tx1"/>
                    </a:solidFill>
                    <a:latin typeface="微软雅黑" panose="020B0503020204020204" charset="-122"/>
                    <a:ea typeface="微软雅黑" panose="020B0503020204020204" charset="-122"/>
                  </a:rPr>
                  <a:t>DeepScientist </a:t>
                </a:r>
                <a:r>
                  <a:rPr lang="zh-CN" altLang="en-US">
                    <a:solidFill>
                      <a:schemeClr val="tx1"/>
                    </a:solidFill>
                    <a:latin typeface="微软雅黑" panose="020B0503020204020204" charset="-122"/>
                    <a:ea typeface="微软雅黑" panose="020B0503020204020204" charset="-122"/>
                  </a:rPr>
                  <a:t>是一个自主智能体，能够</a:t>
                </a:r>
                <a:r>
                  <a:rPr lang="zh-CN" altLang="en-US" b="1">
                    <a:solidFill>
                      <a:schemeClr val="accent6">
                        <a:lumMod val="50000"/>
                      </a:schemeClr>
                    </a:solidFill>
                    <a:latin typeface="微软雅黑" panose="020B0503020204020204" charset="-122"/>
                    <a:ea typeface="微软雅黑" panose="020B0503020204020204" charset="-122"/>
                  </a:rPr>
                  <a:t>管理整个端到端的研究周期</a:t>
                </a:r>
                <a:r>
                  <a:rPr lang="zh-CN" altLang="en-US">
                    <a:solidFill>
                      <a:schemeClr val="tx1"/>
                    </a:solidFill>
                    <a:latin typeface="微软雅黑" panose="020B0503020204020204" charset="-122"/>
                    <a:ea typeface="微软雅黑" panose="020B0503020204020204" charset="-122"/>
                  </a:rPr>
                  <a:t>，通过从自身实验中学习来闭合循环，并自主引导研究路径。</a:t>
                </a:r>
                <a:endParaRPr lang="zh-CN" altLang="en-US">
                  <a:solidFill>
                    <a:schemeClr val="tx1"/>
                  </a:solidFill>
                  <a:latin typeface="微软雅黑" panose="020B0503020204020204" charset="-122"/>
                  <a:ea typeface="微软雅黑" panose="020B0503020204020204" charset="-122"/>
                </a:endParaRPr>
              </a:p>
            </p:txBody>
          </p:sp>
          <p:sp>
            <p:nvSpPr>
              <p:cNvPr id="14" name="矩形 13"/>
              <p:cNvSpPr/>
              <p:nvPr/>
            </p:nvSpPr>
            <p:spPr>
              <a:xfrm>
                <a:off x="1138" y="1928"/>
                <a:ext cx="3744" cy="688"/>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b="1">
                    <a:latin typeface="微软雅黑" panose="020B0503020204020204" charset="-122"/>
                    <a:ea typeface="微软雅黑" panose="020B0503020204020204" charset="-122"/>
                    <a:cs typeface="微软雅黑" panose="020B0503020204020204" charset="-122"/>
                  </a:rPr>
                  <a:t>半自动化科学辅助</a:t>
                </a:r>
                <a:endParaRPr lang="zh-CN" altLang="en-US" sz="2000" b="1">
                  <a:latin typeface="微软雅黑" panose="020B0503020204020204" charset="-122"/>
                  <a:ea typeface="微软雅黑" panose="020B0503020204020204" charset="-122"/>
                  <a:cs typeface="微软雅黑" panose="020B0503020204020204" charset="-122"/>
                </a:endParaRPr>
              </a:p>
            </p:txBody>
          </p:sp>
        </p:grpSp>
        <p:grpSp>
          <p:nvGrpSpPr>
            <p:cNvPr id="15" name="组合 14"/>
            <p:cNvGrpSpPr/>
            <p:nvPr/>
          </p:nvGrpSpPr>
          <p:grpSpPr>
            <a:xfrm>
              <a:off x="11668" y="1781"/>
              <a:ext cx="6942" cy="8147"/>
              <a:chOff x="419" y="1928"/>
              <a:chExt cx="6942" cy="8147"/>
            </a:xfrm>
          </p:grpSpPr>
          <p:sp>
            <p:nvSpPr>
              <p:cNvPr id="16" name="圆角矩形 15"/>
              <p:cNvSpPr/>
              <p:nvPr/>
            </p:nvSpPr>
            <p:spPr>
              <a:xfrm>
                <a:off x="419" y="2469"/>
                <a:ext cx="6942" cy="7606"/>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t" anchorCtr="0"/>
              <a:p>
                <a:pPr marL="285750" indent="-285750" algn="l" fontAlgn="auto">
                  <a:lnSpc>
                    <a:spcPct val="150000"/>
                  </a:lnSpc>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rPr>
                  <a:t>它们的主要局限在于探索策略，往往缺乏植根于某一领域重大挑战的具体科学目标，导致发现缺乏方向，可能被认为缺乏真正的科学价值。</a:t>
                </a:r>
                <a:endParaRPr lang="zh-CN" altLang="en-US">
                  <a:solidFill>
                    <a:schemeClr val="tx1"/>
                  </a:solidFill>
                  <a:latin typeface="微软雅黑" panose="020B0503020204020204" charset="-122"/>
                  <a:ea typeface="微软雅黑" panose="020B0503020204020204" charset="-122"/>
                </a:endParaRPr>
              </a:p>
              <a:p>
                <a:pPr marL="285750" indent="-285750" algn="l" fontAlgn="auto">
                  <a:lnSpc>
                    <a:spcPct val="150000"/>
                  </a:lnSpc>
                  <a:buFont typeface="Arial" panose="020B0604020202020204" pitchFamily="34" charset="0"/>
                  <a:buChar char="•"/>
                </a:pPr>
                <a:r>
                  <a:rPr lang="en-US" altLang="zh-CN">
                    <a:solidFill>
                      <a:schemeClr val="tx1"/>
                    </a:solidFill>
                    <a:latin typeface="微软雅黑" panose="020B0503020204020204" charset="-122"/>
                    <a:ea typeface="微软雅黑" panose="020B0503020204020204" charset="-122"/>
                  </a:rPr>
                  <a:t> DeepScientist </a:t>
                </a:r>
                <a:r>
                  <a:rPr lang="zh-CN" altLang="en-US">
                    <a:solidFill>
                      <a:schemeClr val="tx1"/>
                    </a:solidFill>
                    <a:latin typeface="微软雅黑" panose="020B0503020204020204" charset="-122"/>
                    <a:ea typeface="微软雅黑" panose="020B0503020204020204" charset="-122"/>
                  </a:rPr>
                  <a:t>是</a:t>
                </a:r>
                <a:r>
                  <a:rPr lang="zh-CN" altLang="en-US" b="1">
                    <a:solidFill>
                      <a:schemeClr val="accent6">
                        <a:lumMod val="50000"/>
                      </a:schemeClr>
                    </a:solidFill>
                    <a:latin typeface="微软雅黑" panose="020B0503020204020204" charset="-122"/>
                    <a:ea typeface="微软雅黑" panose="020B0503020204020204" charset="-122"/>
                  </a:rPr>
                  <a:t>首个利用闭环、迭代过程来发现超越人类最先进水平方法</a:t>
                </a:r>
                <a:r>
                  <a:rPr lang="zh-CN" altLang="en-US">
                    <a:solidFill>
                      <a:schemeClr val="tx1"/>
                    </a:solidFill>
                    <a:latin typeface="微软雅黑" panose="020B0503020204020204" charset="-122"/>
                    <a:ea typeface="微软雅黑" panose="020B0503020204020204" charset="-122"/>
                  </a:rPr>
                  <a:t>的自动化科学发现系统，其探索以目标为导向且由洞察驱动，从识别人类最先进技术的公认局限性开始，然后利用故障归因确保发现既新颖又具有科学意义。</a:t>
                </a:r>
                <a:endParaRPr lang="zh-CN" altLang="en-US">
                  <a:solidFill>
                    <a:schemeClr val="tx1"/>
                  </a:solidFill>
                  <a:latin typeface="微软雅黑" panose="020B0503020204020204" charset="-122"/>
                  <a:ea typeface="微软雅黑" panose="020B0503020204020204" charset="-122"/>
                </a:endParaRPr>
              </a:p>
            </p:txBody>
          </p:sp>
          <p:sp>
            <p:nvSpPr>
              <p:cNvPr id="17" name="矩形 16"/>
              <p:cNvSpPr/>
              <p:nvPr/>
            </p:nvSpPr>
            <p:spPr>
              <a:xfrm>
                <a:off x="2018" y="1928"/>
                <a:ext cx="3744" cy="688"/>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b="1">
                    <a:latin typeface="微软雅黑" panose="020B0503020204020204" charset="-122"/>
                    <a:ea typeface="微软雅黑" panose="020B0503020204020204" charset="-122"/>
                    <a:cs typeface="微软雅黑" panose="020B0503020204020204" charset="-122"/>
                  </a:rPr>
                  <a:t>自动化科学发现</a:t>
                </a:r>
                <a:endParaRPr lang="zh-CN" altLang="en-US" sz="2000" b="1">
                  <a:latin typeface="微软雅黑" panose="020B0503020204020204" charset="-122"/>
                  <a:ea typeface="微软雅黑" panose="020B0503020204020204" charset="-122"/>
                  <a:cs typeface="微软雅黑" panose="020B0503020204020204"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strips(downLeft)">
                                      <p:cBhvr>
                                        <p:cTn id="1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 name="组合 25"/>
          <p:cNvGrpSpPr/>
          <p:nvPr/>
        </p:nvGrpSpPr>
        <p:grpSpPr>
          <a:xfrm rot="0">
            <a:off x="339487" y="955139"/>
            <a:ext cx="11274438" cy="5786509"/>
            <a:chOff x="6436" y="1489"/>
            <a:chExt cx="14944" cy="9541"/>
          </a:xfrm>
        </p:grpSpPr>
        <p:sp>
          <p:nvSpPr>
            <p:cNvPr id="27" name="圆角矩形 26"/>
            <p:cNvSpPr/>
            <p:nvPr/>
          </p:nvSpPr>
          <p:spPr>
            <a:xfrm>
              <a:off x="7687" y="1489"/>
              <a:ext cx="12443" cy="1034"/>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en-US" altLang="zh-CN" sz="2000" b="1">
                  <a:solidFill>
                    <a:schemeClr val="accent6">
                      <a:lumMod val="50000"/>
                    </a:schemeClr>
                  </a:solidFill>
                  <a:latin typeface="微软雅黑" panose="020B0503020204020204" charset="-122"/>
                  <a:ea typeface="微软雅黑" panose="020B0503020204020204" charset="-122"/>
                </a:rPr>
                <a:t> MODELING SCIENTIFIC DISCOVERY AS AN OPTIMIZATION PROBLEM</a:t>
              </a:r>
              <a:endParaRPr lang="en-US" altLang="zh-CN" sz="2000" b="1">
                <a:solidFill>
                  <a:schemeClr val="accent6">
                    <a:lumMod val="50000"/>
                  </a:schemeClr>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28" name="文本框 27"/>
                <p:cNvSpPr txBox="1"/>
                <p:nvPr/>
              </p:nvSpPr>
              <p:spPr>
                <a:xfrm>
                  <a:off x="6436" y="2633"/>
                  <a:ext cx="14944" cy="8397"/>
                </a:xfrm>
                <a:prstGeom prst="rect">
                  <a:avLst/>
                </a:prstGeom>
              </p:spPr>
              <p:txBody>
                <a:bodyPr wrap="square">
                  <a:spAutoFit/>
                </a:bodyPr>
                <a:p>
                  <a:pPr indent="0" algn="l" fontAlgn="auto">
                    <a:lnSpc>
                      <a:spcPct val="125000"/>
                    </a:lnSpc>
                    <a:buNone/>
                  </a:pPr>
                  <a:r>
                    <a:rPr lang="zh-CN" altLang="en-US" sz="2000" b="0" i="0">
                      <a:latin typeface="微软雅黑" panose="020B0503020204020204" charset="-122"/>
                      <a:ea typeface="微软雅黑" panose="020B0503020204020204" charset="-122"/>
                    </a:rPr>
                    <a:t>自动化科学发现的根本目标是自主识别出能在特定科学领域带来重大进展的新方法。这一过程可被形式化地概念化为在一个庞大且无结构的可能性空间中寻找最优解。</a:t>
                  </a:r>
                  <a:endParaRPr lang="zh-CN" altLang="en-US" sz="2000" b="0" i="0">
                    <a:latin typeface="微软雅黑" panose="020B0503020204020204" charset="-122"/>
                    <a:ea typeface="微软雅黑" panose="020B0503020204020204" charset="-122"/>
                  </a:endParaRPr>
                </a:p>
                <a:p>
                  <a:pPr indent="0" algn="l" fontAlgn="auto">
                    <a:lnSpc>
                      <a:spcPct val="125000"/>
                    </a:lnSpc>
                    <a:buNone/>
                  </a:pPr>
                  <a14:m>
                    <m:oMathPara xmlns:m="http://schemas.openxmlformats.org/officeDocument/2006/math">
                      <m:oMathParaPr>
                        <m:jc m:val="centerGroup"/>
                      </m:oMathParaPr>
                      <m:oMath xmlns:m="http://schemas.openxmlformats.org/officeDocument/2006/math">
                        <m:sSup>
                          <m:sSupPr>
                            <m:ctrlPr>
                              <a:rPr lang="en-US" altLang="zh-CN" sz="2000" b="1" i="1">
                                <a:solidFill>
                                  <a:schemeClr val="accent6">
                                    <a:lumMod val="50000"/>
                                  </a:schemeClr>
                                </a:solidFill>
                                <a:latin typeface="Cambria Math" panose="02040503050406030204" charset="0"/>
                                <a:ea typeface="微软雅黑" panose="020B0503020204020204" charset="-122"/>
                                <a:cs typeface="Cambria Math" panose="02040503050406030204" charset="0"/>
                              </a:rPr>
                            </m:ctrlPr>
                          </m:sSupPr>
                          <m:e>
                            <m:r>
                              <a:rPr lang="en-US" altLang="zh-CN" sz="2000" b="1" i="1">
                                <a:solidFill>
                                  <a:schemeClr val="accent6">
                                    <a:lumMod val="50000"/>
                                  </a:schemeClr>
                                </a:solidFill>
                                <a:latin typeface="Cambria Math" panose="02040503050406030204" charset="0"/>
                                <a:ea typeface="微软雅黑" panose="020B0503020204020204" charset="-122"/>
                                <a:cs typeface="Cambria Math" panose="02040503050406030204" charset="0"/>
                              </a:rPr>
                              <m:t>𝑰</m:t>
                            </m:r>
                          </m:e>
                          <m:sup>
                            <m:r>
                              <a:rPr lang="en-US" altLang="zh-CN" sz="2000" b="1" i="1">
                                <a:solidFill>
                                  <a:schemeClr val="accent6">
                                    <a:lumMod val="50000"/>
                                  </a:schemeClr>
                                </a:solidFill>
                                <a:latin typeface="Cambria Math" panose="02040503050406030204" charset="0"/>
                                <a:ea typeface="微软雅黑" panose="020B0503020204020204" charset="-122"/>
                                <a:cs typeface="Cambria Math" panose="02040503050406030204" charset="0"/>
                              </a:rPr>
                              <m:t>∗</m:t>
                            </m:r>
                          </m:sup>
                        </m:sSup>
                        <m:r>
                          <a:rPr lang="en-US" altLang="zh-CN" sz="2000" b="1" i="1">
                            <a:solidFill>
                              <a:schemeClr val="accent6">
                                <a:lumMod val="50000"/>
                              </a:schemeClr>
                            </a:solidFill>
                            <a:latin typeface="Cambria Math" panose="02040503050406030204" charset="0"/>
                            <a:ea typeface="MS Mincho" charset="0"/>
                            <a:cs typeface="Cambria Math" panose="02040503050406030204" charset="0"/>
                          </a:rPr>
                          <m:t>=</m:t>
                        </m:r>
                        <m:r>
                          <a:rPr lang="en-US" altLang="zh-CN" sz="2000" b="1" i="1">
                            <a:solidFill>
                              <a:schemeClr val="accent6">
                                <a:lumMod val="50000"/>
                              </a:schemeClr>
                            </a:solidFill>
                            <a:latin typeface="Cambria Math" panose="02040503050406030204" charset="0"/>
                            <a:ea typeface="MS Mincho" charset="0"/>
                            <a:cs typeface="Cambria Math" panose="02040503050406030204" charset="0"/>
                          </a:rPr>
                          <m:t>𝒂𝒓𝒈</m:t>
                        </m:r>
                        <m:r>
                          <a:rPr lang="en-US" altLang="zh-CN" sz="2000" b="1" i="1">
                            <a:solidFill>
                              <a:schemeClr val="accent6">
                                <a:lumMod val="50000"/>
                              </a:schemeClr>
                            </a:solidFill>
                            <a:latin typeface="Cambria Math" panose="02040503050406030204" charset="0"/>
                            <a:ea typeface="MS Mincho" charset="0"/>
                            <a:cs typeface="Cambria Math" panose="02040503050406030204" charset="0"/>
                          </a:rPr>
                          <m:t> </m:t>
                        </m:r>
                        <m:sSub>
                          <m:sSubPr>
                            <m:ctrlPr>
                              <a:rPr lang="en-US" altLang="zh-CN" sz="2000" b="1" i="1">
                                <a:solidFill>
                                  <a:schemeClr val="accent6">
                                    <a:lumMod val="50000"/>
                                  </a:schemeClr>
                                </a:solidFill>
                                <a:latin typeface="Cambria Math" panose="02040503050406030204" charset="0"/>
                                <a:ea typeface="MS Mincho" charset="0"/>
                                <a:cs typeface="Cambria Math" panose="02040503050406030204" charset="0"/>
                              </a:rPr>
                            </m:ctrlPr>
                          </m:sSubPr>
                          <m:e>
                            <m:r>
                              <a:rPr lang="en-US" altLang="zh-CN" sz="2000" b="1" i="1">
                                <a:solidFill>
                                  <a:schemeClr val="accent6">
                                    <a:lumMod val="50000"/>
                                  </a:schemeClr>
                                </a:solidFill>
                                <a:latin typeface="Cambria Math" panose="02040503050406030204" charset="0"/>
                                <a:ea typeface="MS Mincho" charset="0"/>
                                <a:cs typeface="Cambria Math" panose="02040503050406030204" charset="0"/>
                              </a:rPr>
                              <m:t>𝒎𝒂𝒙</m:t>
                            </m:r>
                          </m:e>
                          <m:sub>
                            <m:r>
                              <a:rPr lang="en-US" altLang="zh-CN" sz="2000" b="1" i="1">
                                <a:solidFill>
                                  <a:schemeClr val="accent6">
                                    <a:lumMod val="50000"/>
                                  </a:schemeClr>
                                </a:solidFill>
                                <a:latin typeface="Cambria Math" panose="02040503050406030204" charset="0"/>
                                <a:ea typeface="MS Mincho" charset="0"/>
                                <a:cs typeface="Cambria Math" panose="02040503050406030204" charset="0"/>
                              </a:rPr>
                              <m:t>𝑰</m:t>
                            </m:r>
                            <m:r>
                              <a:rPr lang="en-US" altLang="zh-CN" sz="2000" b="1" i="1">
                                <a:solidFill>
                                  <a:schemeClr val="accent6">
                                    <a:lumMod val="50000"/>
                                  </a:schemeClr>
                                </a:solidFill>
                                <a:latin typeface="Cambria Math" panose="02040503050406030204" charset="0"/>
                                <a:ea typeface="MS Mincho" charset="0"/>
                                <a:cs typeface="Cambria Math" panose="02040503050406030204" charset="0"/>
                              </a:rPr>
                              <m:t>∈</m:t>
                            </m:r>
                            <m:r>
                              <a:rPr lang="en-US" altLang="zh-CN" sz="2000" b="1" i="1">
                                <a:solidFill>
                                  <a:schemeClr val="accent6">
                                    <a:lumMod val="50000"/>
                                  </a:schemeClr>
                                </a:solidFill>
                                <a:latin typeface="Cambria Math" panose="02040503050406030204" charset="0"/>
                                <a:ea typeface="MS Mincho" charset="0"/>
                                <a:cs typeface="Cambria Math" panose="02040503050406030204" charset="0"/>
                              </a:rPr>
                              <m:t>𝓘</m:t>
                            </m:r>
                          </m:sub>
                        </m:sSub>
                        <m:r>
                          <a:rPr lang="en-US" altLang="zh-CN" sz="2000" b="1" i="1">
                            <a:solidFill>
                              <a:schemeClr val="accent6">
                                <a:lumMod val="50000"/>
                              </a:schemeClr>
                            </a:solidFill>
                            <a:latin typeface="Cambria Math" panose="02040503050406030204" charset="0"/>
                            <a:ea typeface="MS Mincho" charset="0"/>
                            <a:cs typeface="Cambria Math" panose="02040503050406030204" charset="0"/>
                          </a:rPr>
                          <m:t>𝒇</m:t>
                        </m:r>
                        <m:r>
                          <a:rPr lang="en-US" altLang="zh-CN" sz="2000" b="1" i="1">
                            <a:solidFill>
                              <a:schemeClr val="accent6">
                                <a:lumMod val="50000"/>
                              </a:schemeClr>
                            </a:solidFill>
                            <a:latin typeface="Cambria Math" panose="02040503050406030204" charset="0"/>
                            <a:ea typeface="MS Mincho" charset="0"/>
                            <a:cs typeface="Cambria Math" panose="02040503050406030204" charset="0"/>
                          </a:rPr>
                          <m:t>(</m:t>
                        </m:r>
                        <m:r>
                          <a:rPr lang="en-US" altLang="zh-CN" sz="2000" b="1" i="1">
                            <a:solidFill>
                              <a:schemeClr val="accent6">
                                <a:lumMod val="50000"/>
                              </a:schemeClr>
                            </a:solidFill>
                            <a:latin typeface="Cambria Math" panose="02040503050406030204" charset="0"/>
                            <a:ea typeface="MS Mincho" charset="0"/>
                            <a:cs typeface="Cambria Math" panose="02040503050406030204" charset="0"/>
                          </a:rPr>
                          <m:t>𝑰</m:t>
                        </m:r>
                        <m:r>
                          <a:rPr lang="en-US" altLang="zh-CN" sz="2000" b="1" i="1">
                            <a:solidFill>
                              <a:schemeClr val="accent6">
                                <a:lumMod val="50000"/>
                              </a:schemeClr>
                            </a:solidFill>
                            <a:latin typeface="Cambria Math" panose="02040503050406030204" charset="0"/>
                            <a:ea typeface="MS Mincho" charset="0"/>
                            <a:cs typeface="Cambria Math" panose="02040503050406030204" charset="0"/>
                          </a:rPr>
                          <m:t>)</m:t>
                        </m:r>
                      </m:oMath>
                    </m:oMathPara>
                  </a14:m>
                  <a:endParaRPr lang="zh-CN" altLang="en-US" sz="2000" b="1" i="0">
                    <a:solidFill>
                      <a:schemeClr val="accent6">
                        <a:lumMod val="50000"/>
                      </a:schemeClr>
                    </a:solidFill>
                    <a:latin typeface="微软雅黑" panose="020B0503020204020204" charset="-122"/>
                    <a:ea typeface="微软雅黑" panose="020B0503020204020204" charset="-122"/>
                  </a:endParaRPr>
                </a:p>
                <a:p>
                  <a:pPr indent="0" algn="l" fontAlgn="auto">
                    <a:lnSpc>
                      <a:spcPct val="125000"/>
                    </a:lnSpc>
                    <a:buNone/>
                  </a:pPr>
                  <a:r>
                    <a:rPr lang="zh-CN" altLang="en-US" sz="2000" b="0" i="0">
                      <a:latin typeface="微软雅黑" panose="020B0503020204020204" charset="-122"/>
                      <a:ea typeface="微软雅黑" panose="020B0503020204020204" charset="-122"/>
                    </a:rPr>
                    <a:t>其中：</a:t>
                  </a:r>
                  <a:endParaRPr lang="zh-CN" altLang="en-US" sz="2000" b="0" i="0">
                    <a:latin typeface="微软雅黑" panose="020B0503020204020204" charset="-122"/>
                    <a:ea typeface="微软雅黑" panose="020B0503020204020204" charset="-122"/>
                  </a:endParaRPr>
                </a:p>
                <a:p>
                  <a:pPr indent="0" algn="l" fontAlgn="auto">
                    <a:lnSpc>
                      <a:spcPct val="125000"/>
                    </a:lnSpc>
                    <a:buNone/>
                  </a:pPr>
                  <a:r>
                    <a:rPr lang="zh-CN" altLang="en-US" sz="2000" b="0" i="0">
                      <a:latin typeface="微软雅黑" panose="020B0503020204020204" charset="-122"/>
                      <a:ea typeface="微软雅黑" panose="020B0503020204020204" charset="-122"/>
                    </a:rPr>
                    <a:t>所有可能的候选研究方法构成的空间为</a:t>
                  </a:r>
                  <a14:m>
                    <m:oMath xmlns:m="http://schemas.openxmlformats.org/officeDocument/2006/math">
                      <m:r>
                        <a:rPr lang="en-US" altLang="zh-CN" sz="2000" i="1">
                          <a:latin typeface="Cambria Math" panose="02040503050406030204" charset="0"/>
                          <a:ea typeface="MS Mincho" charset="0"/>
                          <a:cs typeface="Cambria Math" panose="02040503050406030204" charset="0"/>
                        </a:rPr>
                        <m:t>ℐ</m:t>
                      </m:r>
                    </m:oMath>
                  </a14:m>
                  <a:endParaRPr lang="en-US" altLang="zh-CN" sz="2000" b="0" i="0">
                    <a:latin typeface="微软雅黑" panose="020B0503020204020204" charset="-122"/>
                    <a:ea typeface="微软雅黑" panose="020B0503020204020204" charset="-122"/>
                    <a:cs typeface="Cambria Math" panose="02040503050406030204" charset="0"/>
                  </a:endParaRPr>
                </a:p>
                <a:p>
                  <a:pPr indent="0" algn="l" fontAlgn="auto">
                    <a:lnSpc>
                      <a:spcPct val="125000"/>
                    </a:lnSpc>
                    <a:buNone/>
                  </a:pPr>
                  <a:r>
                    <a:rPr lang="zh-CN" altLang="en-US" sz="2000" b="0" i="0">
                      <a:latin typeface="微软雅黑" panose="020B0503020204020204" charset="-122"/>
                      <a:ea typeface="微软雅黑" panose="020B0503020204020204" charset="-122"/>
                    </a:rPr>
                    <a:t>每一个单独的方法</a:t>
                  </a:r>
                  <a:r>
                    <a:rPr lang="en-US" altLang="zh-CN" sz="2000" b="0" i="0">
                      <a:latin typeface="微软雅黑" panose="020B0503020204020204" charset="-122"/>
                      <a:ea typeface="微软雅黑" panose="020B0503020204020204" charset="-122"/>
                    </a:rPr>
                    <a:t>I</a:t>
                  </a:r>
                  <a:r>
                    <a:rPr lang="zh-CN" altLang="en-US" sz="2000" b="0" i="0">
                      <a:latin typeface="微软雅黑" panose="020B0503020204020204" charset="-122"/>
                      <a:ea typeface="微软雅黑" panose="020B0503020204020204" charset="-122"/>
                    </a:rPr>
                    <a:t>，比如一种新算法或一个新的模型架构，都具有内在的科学价值。</a:t>
                  </a:r>
                  <a:endParaRPr lang="zh-CN" altLang="en-US" sz="2000" b="0" i="0">
                    <a:latin typeface="微软雅黑" panose="020B0503020204020204" charset="-122"/>
                    <a:ea typeface="微软雅黑" panose="020B0503020204020204" charset="-122"/>
                  </a:endParaRPr>
                </a:p>
                <a:p>
                  <a:pPr indent="0" algn="l" fontAlgn="auto">
                    <a:lnSpc>
                      <a:spcPct val="125000"/>
                    </a:lnSpc>
                    <a:buNone/>
                  </a:pPr>
                  <a:r>
                    <a:rPr lang="zh-CN" altLang="en-US" sz="2000" b="0" i="0">
                      <a:latin typeface="微软雅黑" panose="020B0503020204020204" charset="-122"/>
                      <a:ea typeface="微软雅黑" panose="020B0503020204020204" charset="-122"/>
                    </a:rPr>
                    <a:t>这种价值由一个黑箱式的真实价值函数</a:t>
                  </a:r>
                  <a:r>
                    <a:rPr lang="en-US" altLang="zh-CN" sz="2000" b="0" i="0">
                      <a:latin typeface="微软雅黑" panose="020B0503020204020204" charset="-122"/>
                      <a:ea typeface="微软雅黑" panose="020B0503020204020204" charset="-122"/>
                    </a:rPr>
                    <a:t> f </a:t>
                  </a:r>
                  <a:r>
                    <a:rPr lang="zh-CN" altLang="en-US" sz="2000" b="0" i="0">
                      <a:latin typeface="微软雅黑" panose="020B0503020204020204" charset="-122"/>
                      <a:ea typeface="微软雅黑" panose="020B0503020204020204" charset="-122"/>
                    </a:rPr>
                    <a:t>决定，该函数将一种方法映射到其最终的实证影响上。</a:t>
                  </a:r>
                  <a:endParaRPr lang="zh-CN" altLang="en-US" sz="2000" b="0" i="0">
                    <a:latin typeface="微软雅黑" panose="020B0503020204020204" charset="-122"/>
                    <a:ea typeface="微软雅黑" panose="020B0503020204020204" charset="-122"/>
                  </a:endParaRPr>
                </a:p>
                <a:p>
                  <a:pPr indent="0" algn="l" fontAlgn="auto">
                    <a:lnSpc>
                      <a:spcPct val="125000"/>
                    </a:lnSpc>
                    <a:buNone/>
                  </a:pPr>
                  <a:endParaRPr lang="zh-CN" altLang="en-US" sz="2000" b="0" i="0">
                    <a:latin typeface="微软雅黑" panose="020B0503020204020204" charset="-122"/>
                    <a:ea typeface="微软雅黑" panose="020B0503020204020204" charset="-122"/>
                  </a:endParaRPr>
                </a:p>
                <a:p>
                  <a:pPr marL="342900" indent="-342900" algn="l" fontAlgn="auto">
                    <a:lnSpc>
                      <a:spcPct val="125000"/>
                    </a:lnSpc>
                    <a:buFont typeface="Wingdings" panose="05000000000000000000" charset="0"/>
                    <a:buChar char="Ø"/>
                  </a:pPr>
                  <a:r>
                    <a:rPr lang="zh-CN" altLang="en-US" sz="2000" b="0" i="0">
                      <a:latin typeface="微软雅黑" panose="020B0503020204020204" charset="-122"/>
                      <a:ea typeface="微软雅黑" panose="020B0503020204020204" charset="-122"/>
                    </a:rPr>
                    <a:t>贝叶斯优化为昂贵黑箱函数的全局优化提供了一种原则性方法。通过</a:t>
                  </a:r>
                  <a:r>
                    <a:rPr lang="zh-CN" altLang="en-US" sz="2000" b="1" i="0">
                      <a:solidFill>
                        <a:schemeClr val="accent6">
                          <a:lumMod val="50000"/>
                        </a:schemeClr>
                      </a:solidFill>
                      <a:latin typeface="微软雅黑" panose="020B0503020204020204" charset="-122"/>
                      <a:ea typeface="微软雅黑" panose="020B0503020204020204" charset="-122"/>
                    </a:rPr>
                    <a:t>构建一个代理模型来智能引导搜索</a:t>
                  </a:r>
                  <a:r>
                    <a:rPr lang="zh-CN" altLang="en-US" sz="2000" b="0" i="0">
                      <a:latin typeface="微软雅黑" panose="020B0503020204020204" charset="-122"/>
                      <a:ea typeface="微软雅黑" panose="020B0503020204020204" charset="-122"/>
                    </a:rPr>
                    <a:t>，贝叶斯优化通过仔细平衡探索和利用，有效地减少了昂贵的真实世界评估次数。</a:t>
                  </a:r>
                  <a:endParaRPr lang="zh-CN" altLang="en-US" sz="2000" b="0" i="0">
                    <a:latin typeface="微软雅黑" panose="020B0503020204020204" charset="-122"/>
                    <a:ea typeface="微软雅黑" panose="020B0503020204020204" charset="-122"/>
                  </a:endParaRPr>
                </a:p>
                <a:p>
                  <a:pPr marL="342900" indent="-342900" algn="l" fontAlgn="auto">
                    <a:lnSpc>
                      <a:spcPct val="125000"/>
                    </a:lnSpc>
                    <a:buFont typeface="Wingdings" panose="05000000000000000000" charset="0"/>
                    <a:buChar char="Ø"/>
                  </a:pPr>
                  <a:r>
                    <a:rPr lang="zh-CN" altLang="en-US" sz="2000" b="0" i="0">
                      <a:latin typeface="微软雅黑" panose="020B0503020204020204" charset="-122"/>
                      <a:ea typeface="微软雅黑" panose="020B0503020204020204" charset="-122"/>
                    </a:rPr>
                    <a:t>然而，对于科学发现而言，</a:t>
                  </a:r>
                  <a14:m>
                    <m:oMath xmlns:m="http://schemas.openxmlformats.org/officeDocument/2006/math">
                      <m:r>
                        <a:rPr lang="en-US" altLang="zh-CN" sz="2000" i="1">
                          <a:latin typeface="Cambria Math" panose="02040503050406030204" charset="0"/>
                          <a:ea typeface="MS Mincho" charset="0"/>
                          <a:cs typeface="Cambria Math" panose="02040503050406030204" charset="0"/>
                        </a:rPr>
                        <m:t>ℐ</m:t>
                      </m:r>
                    </m:oMath>
                  </a14:m>
                  <a:r>
                    <a:rPr lang="zh-CN" altLang="en-US" sz="2000" b="0" i="0">
                      <a:latin typeface="微软雅黑" panose="020B0503020204020204" charset="-122"/>
                      <a:ea typeface="微软雅黑" panose="020B0503020204020204" charset="-122"/>
                    </a:rPr>
                    <a:t>是一个未被明确界定的概念空间</a:t>
                  </a:r>
                  <a:r>
                    <a:rPr lang="zh-CN" sz="2000" b="0" i="0">
                      <a:latin typeface="微软雅黑" panose="020B0503020204020204" charset="-122"/>
                      <a:ea typeface="微软雅黑" panose="020B0503020204020204" charset="-122"/>
                    </a:rPr>
                    <a:t>，</a:t>
                  </a:r>
                  <a:r>
                    <a:rPr lang="zh-CN" altLang="en-US" sz="2000" b="0" i="0">
                      <a:latin typeface="微软雅黑" panose="020B0503020204020204" charset="-122"/>
                      <a:ea typeface="微软雅黑" panose="020B0503020204020204" charset="-122"/>
                    </a:rPr>
                    <a:t>高质量候选假设的生成是一个关键瓶颈，而传统的贝叶斯优化算法并非为解决这一问题而设计，这一挑战需要一种将创造性构思与样本高效优化相结合的新机制。</a:t>
                  </a:r>
                  <a:endParaRPr lang="zh-CN" altLang="en-US" sz="2000" b="0" i="0">
                    <a:latin typeface="微软雅黑" panose="020B0503020204020204" charset="-122"/>
                    <a:ea typeface="微软雅黑" panose="020B0503020204020204" charset="-122"/>
                  </a:endParaRPr>
                </a:p>
              </p:txBody>
            </p:sp>
          </mc:Choice>
          <mc:Fallback>
            <p:sp>
              <p:nvSpPr>
                <p:cNvPr id="28" name="文本框 27"/>
                <p:cNvSpPr txBox="1">
                  <a:spLocks noRot="1" noChangeAspect="1" noMove="1" noResize="1" noEditPoints="1" noAdjustHandles="1" noChangeArrowheads="1" noChangeShapeType="1" noTextEdit="1"/>
                </p:cNvSpPr>
                <p:nvPr/>
              </p:nvSpPr>
              <p:spPr>
                <a:xfrm>
                  <a:off x="6436" y="2633"/>
                  <a:ext cx="14944" cy="8397"/>
                </a:xfrm>
                <a:prstGeom prst="rect">
                  <a:avLst/>
                </a:prstGeom>
                <a:blipFill rotWithShape="1">
                  <a:blip r:embed="rId1"/>
                </a:blipFill>
              </p:spPr>
              <p:txBody>
                <a:bodyPr/>
                <a:lstStyle/>
                <a:p>
                  <a:r>
                    <a:rPr lang="zh-CN" altLang="en-US">
                      <a:noFill/>
                    </a:rPr>
                    <a:t> </a:t>
                  </a:r>
                </a:p>
              </p:txBody>
            </p:sp>
          </mc:Fallback>
        </mc:AlternateContent>
      </p:grpSp>
      <p:grpSp>
        <p:nvGrpSpPr>
          <p:cNvPr id="2" name="组合 1"/>
          <p:cNvGrpSpPr/>
          <p:nvPr/>
        </p:nvGrpSpPr>
        <p:grpSpPr>
          <a:xfrm>
            <a:off x="0" y="-635"/>
            <a:ext cx="12192000" cy="707390"/>
            <a:chOff x="0" y="0"/>
            <a:chExt cx="19200" cy="1114"/>
          </a:xfrm>
        </p:grpSpPr>
        <p:sp>
          <p:nvSpPr>
            <p:cNvPr id="3" name="矩形 2"/>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DeepScientist</a:t>
              </a:r>
              <a:endParaRPr lang="en-US" altLang="zh-CN" sz="14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4</a:t>
              </a:r>
              <a:endParaRPr lang="en-US" altLang="zh-CN" sz="4000" b="1">
                <a:solidFill>
                  <a:schemeClr val="bg1"/>
                </a:solidFill>
                <a:latin typeface="微软雅黑" panose="020B0503020204020204" charset="-122"/>
                <a:ea typeface="微软雅黑" panose="020B0503020204020204" charset="-122"/>
              </a:endParaRPr>
            </a:p>
          </p:txBody>
        </p:sp>
      </p:grpSp>
      <p:pic>
        <p:nvPicPr>
          <p:cNvPr id="8" name="图片 7" descr="logo"/>
          <p:cNvPicPr>
            <a:picLocks noChangeAspect="1"/>
          </p:cNvPicPr>
          <p:nvPr/>
        </p:nvPicPr>
        <p:blipFill>
          <a:blip r:embed="rId2"/>
          <a:stretch>
            <a:fillRect/>
          </a:stretch>
        </p:blipFill>
        <p:spPr>
          <a:xfrm>
            <a:off x="8810625" y="33655"/>
            <a:ext cx="3314700" cy="673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strips(downLeft)">
                                      <p:cBhvr>
                                        <p:cTn id="1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0" y="-635"/>
            <a:ext cx="12192000" cy="707390"/>
            <a:chOff x="0" y="0"/>
            <a:chExt cx="19200" cy="1114"/>
          </a:xfrm>
        </p:grpSpPr>
        <p:sp>
          <p:nvSpPr>
            <p:cNvPr id="3" name="矩形 2"/>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DeepScientist</a:t>
              </a:r>
              <a:endParaRPr lang="en-US" altLang="zh-CN" sz="14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4</a:t>
              </a:r>
              <a:endParaRPr lang="en-US" altLang="zh-CN" sz="4000" b="1">
                <a:solidFill>
                  <a:schemeClr val="bg1"/>
                </a:solidFill>
                <a:latin typeface="微软雅黑" panose="020B0503020204020204" charset="-122"/>
                <a:ea typeface="微软雅黑" panose="020B0503020204020204" charset="-122"/>
              </a:endParaRPr>
            </a:p>
          </p:txBody>
        </p:sp>
      </p:grpSp>
      <p:pic>
        <p:nvPicPr>
          <p:cNvPr id="8" name="图片 7" descr="logo"/>
          <p:cNvPicPr>
            <a:picLocks noChangeAspect="1"/>
          </p:cNvPicPr>
          <p:nvPr/>
        </p:nvPicPr>
        <p:blipFill>
          <a:blip r:embed="rId1"/>
          <a:stretch>
            <a:fillRect/>
          </a:stretch>
        </p:blipFill>
        <p:spPr>
          <a:xfrm>
            <a:off x="8810625" y="33655"/>
            <a:ext cx="3314700" cy="673100"/>
          </a:xfrm>
          <a:prstGeom prst="rect">
            <a:avLst/>
          </a:prstGeom>
        </p:spPr>
      </p:pic>
      <p:grpSp>
        <p:nvGrpSpPr>
          <p:cNvPr id="9" name="组合 8"/>
          <p:cNvGrpSpPr/>
          <p:nvPr/>
        </p:nvGrpSpPr>
        <p:grpSpPr>
          <a:xfrm>
            <a:off x="231775" y="955040"/>
            <a:ext cx="11705590" cy="5536565"/>
            <a:chOff x="365" y="1504"/>
            <a:chExt cx="18434" cy="8719"/>
          </a:xfrm>
        </p:grpSpPr>
        <p:sp>
          <p:nvSpPr>
            <p:cNvPr id="27" name="圆角矩形 26"/>
            <p:cNvSpPr/>
            <p:nvPr/>
          </p:nvSpPr>
          <p:spPr>
            <a:xfrm>
              <a:off x="2021" y="1504"/>
              <a:ext cx="14784" cy="988"/>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en-US" altLang="zh-CN" sz="2000" b="1">
                  <a:solidFill>
                    <a:schemeClr val="accent6">
                      <a:lumMod val="50000"/>
                    </a:schemeClr>
                  </a:solidFill>
                  <a:latin typeface="微软雅黑" panose="020B0503020204020204" charset="-122"/>
                  <a:ea typeface="微软雅黑" panose="020B0503020204020204" charset="-122"/>
                </a:rPr>
                <a:t>THE DEEPSCIENTIST FRAMEWORK</a:t>
              </a:r>
              <a:endParaRPr lang="en-US" altLang="zh-CN" sz="2000" b="1">
                <a:solidFill>
                  <a:schemeClr val="accent6">
                    <a:lumMod val="50000"/>
                  </a:schemeClr>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2"/>
            <a:stretch>
              <a:fillRect/>
            </a:stretch>
          </p:blipFill>
          <p:spPr>
            <a:xfrm>
              <a:off x="365" y="2693"/>
              <a:ext cx="14061" cy="7531"/>
            </a:xfrm>
            <a:prstGeom prst="rect">
              <a:avLst/>
            </a:prstGeom>
          </p:spPr>
        </p:pic>
        <p:sp>
          <p:nvSpPr>
            <p:cNvPr id="6" name="文本框 5"/>
            <p:cNvSpPr txBox="1"/>
            <p:nvPr/>
          </p:nvSpPr>
          <p:spPr>
            <a:xfrm>
              <a:off x="14647" y="3285"/>
              <a:ext cx="4152" cy="6348"/>
            </a:xfrm>
            <a:prstGeom prst="rect">
              <a:avLst/>
            </a:prstGeom>
          </p:spPr>
          <p:txBody>
            <a:bodyPr wrap="square">
              <a:spAutoFit/>
            </a:bodyPr>
            <a:p>
              <a:pPr indent="0">
                <a:buNone/>
              </a:pPr>
              <a:r>
                <a:rPr lang="en-US" altLang="zh-CN" sz="1600" i="0">
                  <a:solidFill>
                    <a:srgbClr val="000000"/>
                  </a:solidFill>
                  <a:latin typeface="微软雅黑" panose="020B0503020204020204" charset="-122"/>
                  <a:ea typeface="微软雅黑" panose="020B0503020204020204" charset="-122"/>
                  <a:cs typeface="微软雅黑" panose="020B0503020204020204" charset="-122"/>
                </a:rPr>
                <a:t>DeepScientist</a:t>
              </a:r>
              <a:r>
                <a:rPr lang="zh-CN" altLang="en-US" sz="1600" i="0">
                  <a:solidFill>
                    <a:srgbClr val="000000"/>
                  </a:solidFill>
                  <a:latin typeface="微软雅黑" panose="020B0503020204020204" charset="-122"/>
                  <a:ea typeface="微软雅黑" panose="020B0503020204020204" charset="-122"/>
                  <a:cs typeface="微软雅黑" panose="020B0503020204020204" charset="-122"/>
                </a:rPr>
                <a:t>的架构通过一个配备开放知识系统和持续积累的</a:t>
              </a:r>
              <a:r>
                <a:rPr lang="zh-CN" altLang="en-US" sz="1600" b="1" i="0">
                  <a:solidFill>
                    <a:schemeClr val="accent6">
                      <a:lumMod val="50000"/>
                    </a:schemeClr>
                  </a:solidFill>
                  <a:latin typeface="微软雅黑" panose="020B0503020204020204" charset="-122"/>
                  <a:ea typeface="微软雅黑" panose="020B0503020204020204" charset="-122"/>
                  <a:cs typeface="微软雅黑" panose="020B0503020204020204" charset="-122"/>
                </a:rPr>
                <a:t>发现记忆库</a:t>
              </a:r>
              <a:r>
                <a:rPr lang="zh-CN" altLang="en-US" sz="1600" i="0">
                  <a:solidFill>
                    <a:srgbClr val="000000"/>
                  </a:solidFill>
                  <a:latin typeface="微软雅黑" panose="020B0503020204020204" charset="-122"/>
                  <a:ea typeface="微软雅黑" panose="020B0503020204020204" charset="-122"/>
                  <a:cs typeface="微软雅黑" panose="020B0503020204020204" charset="-122"/>
                </a:rPr>
                <a:t>的多智能体系统，实现了</a:t>
              </a:r>
              <a:r>
                <a:rPr lang="zh-CN" altLang="en-US" sz="1600" b="1" i="0">
                  <a:solidFill>
                    <a:schemeClr val="accent6">
                      <a:lumMod val="50000"/>
                    </a:schemeClr>
                  </a:solidFill>
                  <a:latin typeface="微软雅黑" panose="020B0503020204020204" charset="-122"/>
                  <a:ea typeface="微软雅黑" panose="020B0503020204020204" charset="-122"/>
                  <a:cs typeface="微软雅黑" panose="020B0503020204020204" charset="-122"/>
                </a:rPr>
                <a:t>贝叶斯优化循环</a:t>
              </a:r>
              <a:r>
                <a:rPr lang="zh-CN" altLang="en-US" sz="1600" i="0">
                  <a:solidFill>
                    <a:srgbClr val="000000"/>
                  </a:solidFill>
                  <a:latin typeface="微软雅黑" panose="020B0503020204020204" charset="-122"/>
                  <a:ea typeface="微软雅黑" panose="020B0503020204020204" charset="-122"/>
                  <a:cs typeface="微软雅黑" panose="020B0503020204020204" charset="-122"/>
                </a:rPr>
                <a:t>。</a:t>
              </a:r>
              <a:endParaRPr lang="zh-CN" altLang="en-US" sz="1600" i="0">
                <a:solidFill>
                  <a:srgbClr val="000000"/>
                </a:solidFill>
                <a:latin typeface="微软雅黑" panose="020B0503020204020204" charset="-122"/>
                <a:ea typeface="微软雅黑" panose="020B0503020204020204" charset="-122"/>
                <a:cs typeface="微软雅黑" panose="020B0503020204020204" charset="-122"/>
              </a:endParaRPr>
            </a:p>
            <a:p>
              <a:pPr indent="0">
                <a:buNone/>
              </a:pPr>
              <a:r>
                <a:rPr lang="zh-CN" altLang="en-US" sz="1600" i="0">
                  <a:solidFill>
                    <a:srgbClr val="000000"/>
                  </a:solidFill>
                  <a:latin typeface="微软雅黑" panose="020B0503020204020204" charset="-122"/>
                  <a:ea typeface="微软雅黑" panose="020B0503020204020204" charset="-122"/>
                  <a:cs typeface="微软雅黑" panose="020B0503020204020204" charset="-122"/>
                </a:rPr>
                <a:t>该记忆库由前沿的人类知识以及系统自身的历史发现共同构成。</a:t>
              </a:r>
              <a:endParaRPr lang="zh-CN" altLang="en-US" sz="1600" i="0">
                <a:solidFill>
                  <a:srgbClr val="000000"/>
                </a:solidFill>
                <a:latin typeface="微软雅黑" panose="020B0503020204020204" charset="-122"/>
                <a:ea typeface="微软雅黑" panose="020B0503020204020204" charset="-122"/>
                <a:cs typeface="微软雅黑" panose="020B0503020204020204" charset="-122"/>
              </a:endParaRPr>
            </a:p>
            <a:p>
              <a:pPr indent="0">
                <a:buNone/>
              </a:pPr>
              <a:r>
                <a:rPr lang="zh-CN" altLang="en-US" sz="1600" i="0">
                  <a:solidFill>
                    <a:srgbClr val="000000"/>
                  </a:solidFill>
                  <a:latin typeface="微软雅黑" panose="020B0503020204020204" charset="-122"/>
                  <a:ea typeface="微软雅黑" panose="020B0503020204020204" charset="-122"/>
                  <a:cs typeface="微软雅黑" panose="020B0503020204020204" charset="-122"/>
                </a:rPr>
                <a:t>整个发现过程被构建为一个</a:t>
              </a:r>
              <a:r>
                <a:rPr lang="zh-CN" altLang="en-US" sz="1600" b="1" i="0">
                  <a:solidFill>
                    <a:schemeClr val="accent6">
                      <a:lumMod val="50000"/>
                    </a:schemeClr>
                  </a:solidFill>
                  <a:latin typeface="微软雅黑" panose="020B0503020204020204" charset="-122"/>
                  <a:ea typeface="微软雅黑" panose="020B0503020204020204" charset="-122"/>
                  <a:cs typeface="微软雅黑" panose="020B0503020204020204" charset="-122"/>
                </a:rPr>
                <a:t>分层且迭代的三阶段探索循环</a:t>
              </a:r>
              <a:r>
                <a:rPr lang="zh-CN" altLang="en-US" sz="1600" i="0">
                  <a:solidFill>
                    <a:srgbClr val="000000"/>
                  </a:solidFill>
                  <a:latin typeface="微软雅黑" panose="020B0503020204020204" charset="-122"/>
                  <a:ea typeface="微软雅黑" panose="020B0503020204020204" charset="-122"/>
                  <a:cs typeface="微软雅黑" panose="020B0503020204020204" charset="-122"/>
                </a:rPr>
                <a:t>。在这种分层机制中，只有展现出前景的研究想法才会被推进到成本更高的评估阶段，而其他想法则被保留在发现记忆库中，为后续探索提供参考。</a:t>
              </a:r>
              <a:endParaRPr lang="zh-CN" altLang="en-US" sz="1600" i="0">
                <a:solidFill>
                  <a:srgbClr val="000000"/>
                </a:solidFill>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strips(downLeft)">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0" y="-635"/>
            <a:ext cx="12192000" cy="707390"/>
            <a:chOff x="0" y="0"/>
            <a:chExt cx="19200" cy="1114"/>
          </a:xfrm>
        </p:grpSpPr>
        <p:sp>
          <p:nvSpPr>
            <p:cNvPr id="3" name="矩形 2"/>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DeepScientist</a:t>
              </a:r>
              <a:endParaRPr lang="en-US" altLang="zh-CN" sz="14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4</a:t>
              </a:r>
              <a:endParaRPr lang="en-US" altLang="zh-CN" sz="4000" b="1">
                <a:solidFill>
                  <a:schemeClr val="bg1"/>
                </a:solidFill>
                <a:latin typeface="微软雅黑" panose="020B0503020204020204" charset="-122"/>
                <a:ea typeface="微软雅黑" panose="020B0503020204020204" charset="-122"/>
              </a:endParaRPr>
            </a:p>
          </p:txBody>
        </p:sp>
      </p:grpSp>
      <p:pic>
        <p:nvPicPr>
          <p:cNvPr id="8" name="图片 7" descr="logo"/>
          <p:cNvPicPr>
            <a:picLocks noChangeAspect="1"/>
          </p:cNvPicPr>
          <p:nvPr/>
        </p:nvPicPr>
        <p:blipFill>
          <a:blip r:embed="rId1"/>
          <a:stretch>
            <a:fillRect/>
          </a:stretch>
        </p:blipFill>
        <p:spPr>
          <a:xfrm>
            <a:off x="8810625" y="33655"/>
            <a:ext cx="3314700" cy="673100"/>
          </a:xfrm>
          <a:prstGeom prst="rect">
            <a:avLst/>
          </a:prstGeom>
        </p:spPr>
      </p:pic>
      <p:grpSp>
        <p:nvGrpSpPr>
          <p:cNvPr id="9" name="组合 8"/>
          <p:cNvGrpSpPr/>
          <p:nvPr/>
        </p:nvGrpSpPr>
        <p:grpSpPr>
          <a:xfrm>
            <a:off x="231775" y="955040"/>
            <a:ext cx="11286490" cy="5536565"/>
            <a:chOff x="365" y="1504"/>
            <a:chExt cx="17774" cy="8719"/>
          </a:xfrm>
        </p:grpSpPr>
        <p:sp>
          <p:nvSpPr>
            <p:cNvPr id="27" name="圆角矩形 26"/>
            <p:cNvSpPr/>
            <p:nvPr/>
          </p:nvSpPr>
          <p:spPr>
            <a:xfrm>
              <a:off x="2021" y="1504"/>
              <a:ext cx="14784" cy="988"/>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en-US" altLang="zh-CN" sz="2000" b="1">
                  <a:solidFill>
                    <a:schemeClr val="accent6">
                      <a:lumMod val="50000"/>
                    </a:schemeClr>
                  </a:solidFill>
                  <a:latin typeface="微软雅黑" panose="020B0503020204020204" charset="-122"/>
                  <a:ea typeface="微软雅黑" panose="020B0503020204020204" charset="-122"/>
                </a:rPr>
                <a:t>THE DEEPSCIENTIST FRAMEWORK</a:t>
              </a:r>
              <a:endParaRPr lang="en-US" altLang="zh-CN" sz="2000" b="1">
                <a:solidFill>
                  <a:schemeClr val="accent6">
                    <a:lumMod val="50000"/>
                  </a:schemeClr>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2"/>
            <a:srcRect r="66759"/>
            <a:stretch>
              <a:fillRect/>
            </a:stretch>
          </p:blipFill>
          <p:spPr>
            <a:xfrm>
              <a:off x="365" y="2693"/>
              <a:ext cx="4674" cy="7531"/>
            </a:xfrm>
            <a:prstGeom prst="rect">
              <a:avLst/>
            </a:prstGeom>
            <a:effectLst>
              <a:softEdge rad="127000"/>
            </a:effectLst>
          </p:spPr>
        </p:pic>
        <p:grpSp>
          <p:nvGrpSpPr>
            <p:cNvPr id="11" name="组合 10"/>
            <p:cNvGrpSpPr/>
            <p:nvPr/>
          </p:nvGrpSpPr>
          <p:grpSpPr>
            <a:xfrm>
              <a:off x="5413" y="2821"/>
              <a:ext cx="12726" cy="7353"/>
              <a:chOff x="419" y="1928"/>
              <a:chExt cx="5180" cy="8147"/>
            </a:xfrm>
          </p:grpSpPr>
          <mc:AlternateContent xmlns:mc="http://schemas.openxmlformats.org/markup-compatibility/2006">
            <mc:Choice xmlns:a14="http://schemas.microsoft.com/office/drawing/2010/main" Requires="a14">
              <p:sp>
                <p:nvSpPr>
                  <p:cNvPr id="18" name="圆角矩形 17"/>
                  <p:cNvSpPr/>
                  <p:nvPr/>
                </p:nvSpPr>
                <p:spPr>
                  <a:xfrm>
                    <a:off x="419" y="2469"/>
                    <a:ext cx="5181" cy="7606"/>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t" anchorCtr="0"/>
                  <a:p>
                    <a:pPr marL="285750" indent="-285750" algn="l" fontAlgn="auto">
                      <a:lnSpc>
                        <a:spcPct val="150000"/>
                      </a:lnSpc>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rPr>
                      <a:t>每个研究周期都始于对</a:t>
                    </a:r>
                    <a:r>
                      <a:rPr lang="zh-CN" altLang="en-US" b="1">
                        <a:solidFill>
                          <a:schemeClr val="accent6">
                            <a:lumMod val="50000"/>
                          </a:schemeClr>
                        </a:solidFill>
                        <a:latin typeface="微软雅黑" panose="020B0503020204020204" charset="-122"/>
                        <a:ea typeface="微软雅黑" panose="020B0503020204020204" charset="-122"/>
                      </a:rPr>
                      <a:t>发现记忆库</a:t>
                    </a:r>
                    <a14:m>
                      <m:oMath xmlns:m="http://schemas.openxmlformats.org/officeDocument/2006/math">
                        <m:sSub>
                          <m:sSubPr>
                            <m:ctrlP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ctrlPr>
                          </m:sSubPr>
                          <m:e>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𝓜</m:t>
                            </m:r>
                          </m:e>
                          <m:sub>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𝒕</m:t>
                            </m:r>
                          </m:sub>
                        </m:sSub>
                      </m:oMath>
                    </a14:m>
                    <a:r>
                      <a:rPr lang="zh-CN" altLang="en-US">
                        <a:solidFill>
                          <a:schemeClr val="tx1"/>
                        </a:solidFill>
                        <a:latin typeface="微软雅黑" panose="020B0503020204020204" charset="-122"/>
                        <a:ea typeface="微软雅黑" panose="020B0503020204020204" charset="-122"/>
                      </a:rPr>
                      <a:t>的分析，这是一个包含数千条结构化记录的列表式数据库，并根据每个</a:t>
                    </a:r>
                    <a:r>
                      <a:rPr lang="zh-CN" altLang="en-US">
                        <a:solidFill>
                          <a:schemeClr val="tx1"/>
                        </a:solidFill>
                        <a:latin typeface="微软雅黑" panose="020B0503020204020204" charset="-122"/>
                        <a:ea typeface="微软雅黑" panose="020B0503020204020204" charset="-122"/>
                      </a:rPr>
                      <a:t>科学发现的发展阶段进行分类。</a:t>
                    </a:r>
                    <a:endParaRPr lang="zh-CN" altLang="en-US">
                      <a:solidFill>
                        <a:schemeClr val="tx1"/>
                      </a:solidFill>
                      <a:latin typeface="微软雅黑" panose="020B0503020204020204" charset="-122"/>
                      <a:ea typeface="微软雅黑" panose="020B0503020204020204" charset="-122"/>
                    </a:endParaRPr>
                  </a:p>
                  <a:p>
                    <a:pPr marL="285750" indent="-285750" algn="l" fontAlgn="auto">
                      <a:lnSpc>
                        <a:spcPct val="150000"/>
                      </a:lnSpc>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rPr>
                      <a:t>在第一阶段，系统识别现有知识的局限性，并</a:t>
                    </a:r>
                    <a:r>
                      <a:rPr lang="zh-CN" altLang="en-US" b="1">
                        <a:solidFill>
                          <a:schemeClr val="accent6">
                            <a:lumMod val="50000"/>
                          </a:schemeClr>
                        </a:solidFill>
                        <a:latin typeface="微软雅黑" panose="020B0503020204020204" charset="-122"/>
                        <a:ea typeface="微软雅黑" panose="020B0503020204020204" charset="-122"/>
                      </a:rPr>
                      <a:t>生成一组新的假设</a:t>
                    </a:r>
                    <a14:m>
                      <m:oMath xmlns:m="http://schemas.openxmlformats.org/officeDocument/2006/math">
                        <m:sSub>
                          <m:sSubPr>
                            <m:ctrlPr>
                              <a:rPr lang="zh-CN" altLang="en-US" b="1">
                                <a:solidFill>
                                  <a:schemeClr val="accent6">
                                    <a:lumMod val="50000"/>
                                  </a:schemeClr>
                                </a:solidFill>
                                <a:latin typeface="微软雅黑" panose="020B0503020204020204" charset="-122"/>
                                <a:ea typeface="微软雅黑" panose="020B0503020204020204" charset="-122"/>
                              </a:rPr>
                            </m:ctrlPr>
                          </m:sSubPr>
                          <m:e>
                            <m:r>
                              <a:rPr lang="zh-CN" altLang="en-US" b="1">
                                <a:solidFill>
                                  <a:schemeClr val="accent6">
                                    <a:lumMod val="50000"/>
                                  </a:schemeClr>
                                </a:solidFill>
                                <a:latin typeface="微软雅黑" panose="020B0503020204020204" charset="-122"/>
                                <a:ea typeface="微软雅黑" panose="020B0503020204020204" charset="-122"/>
                              </a:rPr>
                              <m:t>𝒫</m:t>
                            </m:r>
                          </m:e>
                          <m:sub>
                            <m:r>
                              <a:rPr lang="zh-CN" altLang="en-US" b="1">
                                <a:solidFill>
                                  <a:schemeClr val="accent6">
                                    <a:lumMod val="50000"/>
                                  </a:schemeClr>
                                </a:solidFill>
                                <a:latin typeface="微软雅黑" panose="020B0503020204020204" charset="-122"/>
                                <a:ea typeface="微软雅黑" panose="020B0503020204020204" charset="-122"/>
                              </a:rPr>
                              <m:t>𝑛𝑒𝑤</m:t>
                            </m:r>
                          </m:sub>
                        </m:sSub>
                      </m:oMath>
                    </a14:m>
                    <a:r>
                      <a:rPr lang="zh-CN" altLang="en-US">
                        <a:solidFill>
                          <a:schemeClr val="tx1"/>
                        </a:solidFill>
                        <a:latin typeface="微软雅黑" panose="020B0503020204020204" charset="-122"/>
                        <a:ea typeface="微软雅黑" panose="020B0503020204020204" charset="-122"/>
                      </a:rPr>
                      <a:t>，然后用一个低成本的</a:t>
                    </a:r>
                    <a:r>
                      <a:rPr lang="zh-CN" altLang="en-US" b="1">
                        <a:solidFill>
                          <a:schemeClr val="accent6">
                            <a:lumMod val="50000"/>
                          </a:schemeClr>
                        </a:solidFill>
                        <a:latin typeface="微软雅黑" panose="020B0503020204020204" charset="-122"/>
                        <a:ea typeface="微软雅黑" panose="020B0503020204020204" charset="-122"/>
                      </a:rPr>
                      <a:t>代理模型</a:t>
                    </a:r>
                    <a14:m>
                      <m:oMath xmlns:m="http://schemas.openxmlformats.org/officeDocument/2006/math">
                        <m:sSub>
                          <m:sSubPr>
                            <m:ctrlPr>
                              <a:rPr lang="zh-CN" altLang="en-US" b="1">
                                <a:solidFill>
                                  <a:schemeClr val="accent6">
                                    <a:lumMod val="50000"/>
                                  </a:schemeClr>
                                </a:solidFill>
                                <a:latin typeface="微软雅黑" panose="020B0503020204020204" charset="-122"/>
                                <a:ea typeface="微软雅黑" panose="020B0503020204020204" charset="-122"/>
                              </a:rPr>
                            </m:ctrlPr>
                          </m:sSubPr>
                          <m:e>
                            <m:r>
                              <a:rPr lang="zh-CN" altLang="en-US" b="1">
                                <a:solidFill>
                                  <a:schemeClr val="accent6">
                                    <a:lumMod val="50000"/>
                                  </a:schemeClr>
                                </a:solidFill>
                                <a:latin typeface="微软雅黑" panose="020B0503020204020204" charset="-122"/>
                                <a:ea typeface="微软雅黑" panose="020B0503020204020204" charset="-122"/>
                              </a:rPr>
                              <m:t>𝑔</m:t>
                            </m:r>
                          </m:e>
                          <m:sub>
                            <m:r>
                              <a:rPr lang="zh-CN" altLang="en-US" b="1">
                                <a:solidFill>
                                  <a:schemeClr val="accent6">
                                    <a:lumMod val="50000"/>
                                  </a:schemeClr>
                                </a:solidFill>
                                <a:latin typeface="微软雅黑" panose="020B0503020204020204" charset="-122"/>
                                <a:ea typeface="微软雅黑" panose="020B0503020204020204" charset="-122"/>
                              </a:rPr>
                              <m:t>𝑡</m:t>
                            </m:r>
                          </m:sub>
                        </m:sSub>
                      </m:oMath>
                    </a14:m>
                    <a:r>
                      <a:rPr lang="zh-CN" altLang="en-US" b="1">
                        <a:solidFill>
                          <a:schemeClr val="accent6">
                            <a:lumMod val="50000"/>
                          </a:schemeClr>
                        </a:solidFill>
                        <a:latin typeface="微软雅黑" panose="020B0503020204020204" charset="-122"/>
                        <a:ea typeface="微软雅黑" panose="020B0503020204020204" charset="-122"/>
                      </a:rPr>
                      <a:t>对这些假设进行评估</a:t>
                    </a:r>
                    <a:r>
                      <a:rPr lang="zh-CN" altLang="en-US">
                        <a:solidFill>
                          <a:schemeClr val="tx1"/>
                        </a:solidFill>
                        <a:latin typeface="微软雅黑" panose="020B0503020204020204" charset="-122"/>
                        <a:ea typeface="微软雅黑" panose="020B0503020204020204" charset="-122"/>
                      </a:rPr>
                      <a:t>。</a:t>
                    </a:r>
                    <a:endParaRPr lang="zh-CN" altLang="en-US">
                      <a:solidFill>
                        <a:schemeClr val="tx1"/>
                      </a:solidFill>
                      <a:latin typeface="微软雅黑" panose="020B0503020204020204" charset="-122"/>
                      <a:ea typeface="微软雅黑" panose="020B0503020204020204" charset="-122"/>
                    </a:endParaRPr>
                  </a:p>
                  <a:p>
                    <a:pPr marL="285750" indent="-285750" algn="l" fontAlgn="auto">
                      <a:lnSpc>
                        <a:spcPct val="150000"/>
                      </a:lnSpc>
                      <a:buFont typeface="Arial" panose="020B0604020202020204" pitchFamily="34" charset="0"/>
                      <a:buChar char="•"/>
                    </a:pPr>
                    <a14:m>
                      <m:oMath xmlns:m="http://schemas.openxmlformats.org/officeDocument/2006/math">
                        <m:sSub>
                          <m:sSubPr>
                            <m:ctrlPr>
                              <a:rPr lang="en-US" altLang="zh-CN"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i="1">
                                <a:solidFill>
                                  <a:schemeClr val="tx1"/>
                                </a:solidFill>
                                <a:latin typeface="Cambria Math" panose="02040503050406030204" charset="0"/>
                                <a:ea typeface="微软雅黑" panose="020B0503020204020204" charset="-122"/>
                                <a:cs typeface="Cambria Math" panose="02040503050406030204" charset="0"/>
                              </a:rPr>
                              <m:t>𝑔</m:t>
                            </m:r>
                          </m:e>
                          <m:sub>
                            <m:r>
                              <a:rPr lang="en-US" altLang="zh-CN" i="1">
                                <a:solidFill>
                                  <a:schemeClr val="tx1"/>
                                </a:solidFill>
                                <a:latin typeface="Cambria Math" panose="02040503050406030204" charset="0"/>
                                <a:ea typeface="微软雅黑" panose="020B0503020204020204" charset="-122"/>
                                <a:cs typeface="Cambria Math" panose="02040503050406030204" charset="0"/>
                              </a:rPr>
                              <m:t>𝑡</m:t>
                            </m:r>
                          </m:sub>
                        </m:sSub>
                      </m:oMath>
                    </a14:m>
                    <a:r>
                      <a:rPr lang="zh-CN" altLang="en-US">
                        <a:solidFill>
                          <a:schemeClr val="tx1"/>
                        </a:solidFill>
                        <a:latin typeface="微软雅黑" panose="020B0503020204020204" charset="-122"/>
                        <a:ea typeface="微软雅黑" panose="020B0503020204020204" charset="-122"/>
                      </a:rPr>
                      <a:t>首先会结合整个发现记忆库的上下文，对于每个候选发现</a:t>
                    </a:r>
                    <a14:m>
                      <m:oMath xmlns:m="http://schemas.openxmlformats.org/officeDocument/2006/math">
                        <m:sSub>
                          <m:sSubPr>
                            <m:ctrlPr>
                              <a:rPr lang="en-US" altLang="zh-CN"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i="1">
                                <a:solidFill>
                                  <a:schemeClr val="tx1"/>
                                </a:solidFill>
                                <a:latin typeface="Cambria Math" panose="02040503050406030204" charset="0"/>
                                <a:ea typeface="微软雅黑" panose="020B0503020204020204" charset="-122"/>
                                <a:cs typeface="Cambria Math" panose="02040503050406030204" charset="0"/>
                              </a:rPr>
                              <m:t>𝒫</m:t>
                            </m:r>
                          </m:e>
                          <m:sub>
                            <m:r>
                              <a:rPr lang="en-US" altLang="zh-CN" i="1">
                                <a:solidFill>
                                  <a:schemeClr val="tx1"/>
                                </a:solidFill>
                                <a:latin typeface="Cambria Math" panose="02040503050406030204" charset="0"/>
                                <a:ea typeface="微软雅黑" panose="020B0503020204020204" charset="-122"/>
                                <a:cs typeface="Cambria Math" panose="02040503050406030204" charset="0"/>
                              </a:rPr>
                              <m:t>𝑛𝑒𝑤</m:t>
                            </m:r>
                          </m:sub>
                        </m:sSub>
                      </m:oMath>
                    </a14:m>
                    <a:r>
                      <a:rPr lang="zh-CN" altLang="en-US">
                        <a:solidFill>
                          <a:schemeClr val="tx1"/>
                        </a:solidFill>
                        <a:latin typeface="微软雅黑" panose="020B0503020204020204" charset="-122"/>
                        <a:ea typeface="微软雅黑" panose="020B0503020204020204" charset="-122"/>
                      </a:rPr>
                      <a:t>，它会近似真实价值函数</a:t>
                    </a:r>
                    <a:r>
                      <a:rPr lang="en-US" altLang="zh-CN">
                        <a:solidFill>
                          <a:schemeClr val="tx1"/>
                        </a:solidFill>
                        <a:latin typeface="微软雅黑" panose="020B0503020204020204" charset="-122"/>
                        <a:ea typeface="微软雅黑" panose="020B0503020204020204" charset="-122"/>
                      </a:rPr>
                      <a:t>f</a:t>
                    </a:r>
                    <a:r>
                      <a:rPr lang="zh-CN" altLang="en-US">
                        <a:solidFill>
                          <a:schemeClr val="tx1"/>
                        </a:solidFill>
                        <a:latin typeface="微软雅黑" panose="020B0503020204020204" charset="-122"/>
                        <a:ea typeface="微软雅黑" panose="020B0503020204020204" charset="-122"/>
                      </a:rPr>
                      <a:t>，并为其生成一个结构化的评估向量</a:t>
                    </a:r>
                    <a14:m>
                      <m:oMath xmlns:m="http://schemas.openxmlformats.org/officeDocument/2006/math">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𝑽</m:t>
                        </m:r>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m:t>
                        </m:r>
                        <m:d>
                          <m:dPr>
                            <m:begChr m:val="〈"/>
                            <m:endChr m:val="〉"/>
                            <m:ctrlP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ctrlPr>
                          </m:dPr>
                          <m:e>
                            <m:sSub>
                              <m:sSubPr>
                                <m:ctrlP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ctrlPr>
                              </m:sSubPr>
                              <m:e>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𝒗</m:t>
                                </m:r>
                              </m:e>
                              <m:sub>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𝒖</m:t>
                                </m:r>
                              </m:sub>
                            </m:sSub>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m:t>
                            </m:r>
                            <m:sSub>
                              <m:sSubPr>
                                <m:ctrlP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ctrlPr>
                              </m:sSubPr>
                              <m:e>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𝒗</m:t>
                                </m:r>
                              </m:e>
                              <m:sub>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𝒒</m:t>
                                </m:r>
                              </m:sub>
                            </m:sSub>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m:t>
                            </m:r>
                            <m:sSub>
                              <m:sSubPr>
                                <m:ctrlP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ctrlPr>
                              </m:sSubPr>
                              <m:e>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𝒗</m:t>
                                </m:r>
                              </m:e>
                              <m:sub>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𝒆</m:t>
                                </m:r>
                              </m:sub>
                            </m:sSub>
                          </m:e>
                        </m:d>
                      </m:oMath>
                    </a14:m>
                    <a:r>
                      <a:rPr lang="zh-CN" altLang="en-US">
                        <a:solidFill>
                          <a:schemeClr val="tx1"/>
                        </a:solidFill>
                        <a:latin typeface="微软雅黑" panose="020B0503020204020204" charset="-122"/>
                        <a:ea typeface="微软雅黑" panose="020B0503020204020204" charset="-122"/>
                      </a:rPr>
                      <a:t>，将其估计的效用、质量和探索价值量化为</a:t>
                    </a:r>
                    <a:r>
                      <a:rPr lang="en-US" altLang="zh-CN">
                        <a:solidFill>
                          <a:schemeClr val="tx1"/>
                        </a:solidFill>
                        <a:latin typeface="微软雅黑" panose="020B0503020204020204" charset="-122"/>
                        <a:ea typeface="微软雅黑" panose="020B0503020204020204" charset="-122"/>
                      </a:rPr>
                      <a:t> 0 </a:t>
                    </a:r>
                    <a:r>
                      <a:rPr lang="zh-CN" altLang="en-US">
                        <a:solidFill>
                          <a:schemeClr val="tx1"/>
                        </a:solidFill>
                        <a:latin typeface="微软雅黑" panose="020B0503020204020204" charset="-122"/>
                        <a:ea typeface="微软雅黑" panose="020B0503020204020204" charset="-122"/>
                      </a:rPr>
                      <a:t>到</a:t>
                    </a:r>
                    <a:r>
                      <a:rPr lang="en-US" altLang="zh-CN">
                        <a:solidFill>
                          <a:schemeClr val="tx1"/>
                        </a:solidFill>
                        <a:latin typeface="微软雅黑" panose="020B0503020204020204" charset="-122"/>
                        <a:ea typeface="微软雅黑" panose="020B0503020204020204" charset="-122"/>
                      </a:rPr>
                      <a:t> 100 </a:t>
                    </a:r>
                    <a:r>
                      <a:rPr lang="zh-CN" altLang="en-US">
                        <a:solidFill>
                          <a:schemeClr val="tx1"/>
                        </a:solidFill>
                        <a:latin typeface="微软雅黑" panose="020B0503020204020204" charset="-122"/>
                        <a:ea typeface="微软雅黑" panose="020B0503020204020204" charset="-122"/>
                      </a:rPr>
                      <a:t>范围内的整数分数。随后，每个新假设及其评估向量会被用于在发现记忆库中初始化一条新记录，阶段为</a:t>
                    </a:r>
                    <a:r>
                      <a:rPr lang="en-US" altLang="zh-CN">
                        <a:solidFill>
                          <a:schemeClr val="tx1"/>
                        </a:solidFill>
                        <a:latin typeface="微软雅黑" panose="020B0503020204020204" charset="-122"/>
                        <a:ea typeface="微软雅黑" panose="020B0503020204020204" charset="-122"/>
                      </a:rPr>
                      <a:t>“</a:t>
                    </a:r>
                    <a:r>
                      <a:rPr lang="zh-CN" altLang="en-US">
                        <a:solidFill>
                          <a:schemeClr val="tx1"/>
                        </a:solidFill>
                        <a:latin typeface="微软雅黑" panose="020B0503020204020204" charset="-122"/>
                        <a:ea typeface="微软雅黑" panose="020B0503020204020204" charset="-122"/>
                      </a:rPr>
                      <a:t>想法发现</a:t>
                    </a:r>
                    <a:r>
                      <a:rPr lang="en-US" altLang="zh-CN">
                        <a:solidFill>
                          <a:schemeClr val="tx1"/>
                        </a:solidFill>
                        <a:latin typeface="微软雅黑" panose="020B0503020204020204" charset="-122"/>
                        <a:ea typeface="微软雅黑" panose="020B0503020204020204" charset="-122"/>
                      </a:rPr>
                      <a:t>”</a:t>
                    </a:r>
                    <a:r>
                      <a:rPr lang="zh-CN" altLang="en-US">
                        <a:solidFill>
                          <a:schemeClr val="tx1"/>
                        </a:solidFill>
                        <a:latin typeface="微软雅黑" panose="020B0503020204020204" charset="-122"/>
                        <a:ea typeface="微软雅黑" panose="020B0503020204020204" charset="-122"/>
                      </a:rPr>
                      <a:t>。</a:t>
                    </a:r>
                    <a:endParaRPr lang="zh-CN" altLang="en-US">
                      <a:solidFill>
                        <a:schemeClr val="tx1"/>
                      </a:solidFill>
                      <a:latin typeface="微软雅黑" panose="020B0503020204020204" charset="-122"/>
                      <a:ea typeface="微软雅黑" panose="020B0503020204020204" charset="-122"/>
                    </a:endParaRPr>
                  </a:p>
                </p:txBody>
              </p:sp>
            </mc:Choice>
            <mc:Fallback>
              <p:sp>
                <p:nvSpPr>
                  <p:cNvPr id="18" name="圆角矩形 17"/>
                  <p:cNvSpPr>
                    <a:spLocks noRot="1" noChangeAspect="1" noMove="1" noResize="1" noEditPoints="1" noAdjustHandles="1" noChangeArrowheads="1" noChangeShapeType="1" noTextEdit="1"/>
                  </p:cNvSpPr>
                  <p:nvPr/>
                </p:nvSpPr>
                <p:spPr>
                  <a:xfrm>
                    <a:off x="419" y="2469"/>
                    <a:ext cx="5181" cy="7606"/>
                  </a:xfrm>
                  <a:prstGeom prst="roundRect">
                    <a:avLst>
                      <a:gd name="adj" fmla="val 4415"/>
                    </a:avLst>
                  </a:prstGeom>
                  <a:blipFill rotWithShape="1">
                    <a:blip r:embed="rId3"/>
                  </a:blip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a:lstStyle/>
                  <a:p>
                    <a:r>
                      <a:rPr lang="zh-CN" altLang="en-US">
                        <a:noFill/>
                      </a:rPr>
                      <a:t> </a:t>
                    </a:r>
                  </a:p>
                </p:txBody>
              </p:sp>
            </mc:Fallback>
          </mc:AlternateContent>
          <p:sp>
            <p:nvSpPr>
              <p:cNvPr id="10" name="矩形 9"/>
              <p:cNvSpPr/>
              <p:nvPr/>
            </p:nvSpPr>
            <p:spPr>
              <a:xfrm>
                <a:off x="1138" y="1928"/>
                <a:ext cx="3744" cy="688"/>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b="1">
                    <a:latin typeface="微软雅黑" panose="020B0503020204020204" charset="-122"/>
                    <a:ea typeface="微软雅黑" panose="020B0503020204020204" charset="-122"/>
                    <a:cs typeface="微软雅黑" panose="020B0503020204020204" charset="-122"/>
                  </a:rPr>
                  <a:t>策略制定与假设生成</a:t>
                </a:r>
                <a:endParaRPr lang="zh-CN" altLang="en-US" sz="2000" b="1">
                  <a:latin typeface="微软雅黑" panose="020B0503020204020204" charset="-122"/>
                  <a:ea typeface="微软雅黑" panose="020B0503020204020204" charset="-122"/>
                  <a:cs typeface="微软雅黑" panose="020B0503020204020204"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strips(downLeft)">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0" y="-635"/>
            <a:ext cx="12192000" cy="707390"/>
            <a:chOff x="0" y="0"/>
            <a:chExt cx="19200" cy="1114"/>
          </a:xfrm>
        </p:grpSpPr>
        <p:sp>
          <p:nvSpPr>
            <p:cNvPr id="3" name="矩形 2"/>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DeepScientist</a:t>
              </a:r>
              <a:endParaRPr lang="en-US" altLang="zh-CN" sz="14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4</a:t>
              </a:r>
              <a:endParaRPr lang="en-US" altLang="zh-CN" sz="4000" b="1">
                <a:solidFill>
                  <a:schemeClr val="bg1"/>
                </a:solidFill>
                <a:latin typeface="微软雅黑" panose="020B0503020204020204" charset="-122"/>
                <a:ea typeface="微软雅黑" panose="020B0503020204020204" charset="-122"/>
              </a:endParaRPr>
            </a:p>
          </p:txBody>
        </p:sp>
      </p:grpSp>
      <p:pic>
        <p:nvPicPr>
          <p:cNvPr id="8" name="图片 7" descr="logo"/>
          <p:cNvPicPr>
            <a:picLocks noChangeAspect="1"/>
          </p:cNvPicPr>
          <p:nvPr/>
        </p:nvPicPr>
        <p:blipFill>
          <a:blip r:embed="rId1"/>
          <a:stretch>
            <a:fillRect/>
          </a:stretch>
        </p:blipFill>
        <p:spPr>
          <a:xfrm>
            <a:off x="8810625" y="33655"/>
            <a:ext cx="3314700" cy="673100"/>
          </a:xfrm>
          <a:prstGeom prst="rect">
            <a:avLst/>
          </a:prstGeom>
        </p:spPr>
      </p:pic>
      <p:grpSp>
        <p:nvGrpSpPr>
          <p:cNvPr id="9" name="组合 8"/>
          <p:cNvGrpSpPr/>
          <p:nvPr/>
        </p:nvGrpSpPr>
        <p:grpSpPr>
          <a:xfrm>
            <a:off x="163195" y="955040"/>
            <a:ext cx="11356340" cy="5536565"/>
            <a:chOff x="257" y="1504"/>
            <a:chExt cx="17884" cy="8719"/>
          </a:xfrm>
        </p:grpSpPr>
        <p:sp>
          <p:nvSpPr>
            <p:cNvPr id="27" name="圆角矩形 26"/>
            <p:cNvSpPr/>
            <p:nvPr/>
          </p:nvSpPr>
          <p:spPr>
            <a:xfrm>
              <a:off x="2021" y="1504"/>
              <a:ext cx="14784" cy="988"/>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en-US" altLang="zh-CN" sz="2000" b="1">
                  <a:solidFill>
                    <a:schemeClr val="accent6">
                      <a:lumMod val="50000"/>
                    </a:schemeClr>
                  </a:solidFill>
                  <a:latin typeface="微软雅黑" panose="020B0503020204020204" charset="-122"/>
                  <a:ea typeface="微软雅黑" panose="020B0503020204020204" charset="-122"/>
                </a:rPr>
                <a:t>THE DEEPSCIENTIST FRAMEWORK</a:t>
              </a:r>
              <a:endParaRPr lang="en-US" altLang="zh-CN" sz="2000" b="1">
                <a:solidFill>
                  <a:schemeClr val="accent6">
                    <a:lumMod val="50000"/>
                  </a:schemeClr>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2"/>
            <a:srcRect l="32075" r="30510"/>
            <a:stretch>
              <a:fillRect/>
            </a:stretch>
          </p:blipFill>
          <p:spPr>
            <a:xfrm>
              <a:off x="257" y="2693"/>
              <a:ext cx="5261" cy="7531"/>
            </a:xfrm>
            <a:prstGeom prst="rect">
              <a:avLst/>
            </a:prstGeom>
            <a:effectLst>
              <a:softEdge rad="127000"/>
            </a:effectLst>
          </p:spPr>
        </p:pic>
        <p:grpSp>
          <p:nvGrpSpPr>
            <p:cNvPr id="11" name="组合 10"/>
            <p:cNvGrpSpPr/>
            <p:nvPr/>
          </p:nvGrpSpPr>
          <p:grpSpPr>
            <a:xfrm>
              <a:off x="5659" y="2821"/>
              <a:ext cx="12483" cy="7403"/>
              <a:chOff x="519" y="1928"/>
              <a:chExt cx="5081" cy="8202"/>
            </a:xfrm>
          </p:grpSpPr>
          <mc:AlternateContent xmlns:mc="http://schemas.openxmlformats.org/markup-compatibility/2006">
            <mc:Choice xmlns:a14="http://schemas.microsoft.com/office/drawing/2010/main" Requires="a14">
              <p:sp>
                <p:nvSpPr>
                  <p:cNvPr id="18" name="圆角矩形 17"/>
                  <p:cNvSpPr/>
                  <p:nvPr/>
                </p:nvSpPr>
                <p:spPr>
                  <a:xfrm>
                    <a:off x="519" y="2524"/>
                    <a:ext cx="5081" cy="7606"/>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t" anchorCtr="0"/>
                  <a:p>
                    <a:pPr marL="285750" indent="-285750" algn="l" fontAlgn="auto">
                      <a:lnSpc>
                        <a:spcPct val="150000"/>
                      </a:lnSpc>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rPr>
                      <a:t>这一阶段是发现记忆库中的主要筛选环节。为了确定众多</a:t>
                    </a:r>
                    <a:r>
                      <a:rPr lang="en-US" altLang="zh-CN">
                        <a:solidFill>
                          <a:schemeClr val="tx1"/>
                        </a:solidFill>
                        <a:latin typeface="微软雅黑" panose="020B0503020204020204" charset="-122"/>
                        <a:ea typeface="微软雅黑" panose="020B0503020204020204" charset="-122"/>
                      </a:rPr>
                      <a:t> “</a:t>
                    </a:r>
                    <a:r>
                      <a:rPr lang="zh-CN" altLang="en-US">
                        <a:solidFill>
                          <a:schemeClr val="tx1"/>
                        </a:solidFill>
                        <a:latin typeface="微软雅黑" panose="020B0503020204020204" charset="-122"/>
                        <a:ea typeface="微软雅黑" panose="020B0503020204020204" charset="-122"/>
                      </a:rPr>
                      <a:t>想法发现</a:t>
                    </a:r>
                    <a:r>
                      <a:rPr lang="en-US" altLang="zh-CN">
                        <a:solidFill>
                          <a:schemeClr val="tx1"/>
                        </a:solidFill>
                        <a:latin typeface="微软雅黑" panose="020B0503020204020204" charset="-122"/>
                        <a:ea typeface="微软雅黑" panose="020B0503020204020204" charset="-122"/>
                      </a:rPr>
                      <a:t>” </a:t>
                    </a:r>
                    <a:r>
                      <a:rPr lang="zh-CN" altLang="en-US">
                        <a:solidFill>
                          <a:schemeClr val="tx1"/>
                        </a:solidFill>
                        <a:latin typeface="微软雅黑" panose="020B0503020204020204" charset="-122"/>
                        <a:ea typeface="微软雅黑" panose="020B0503020204020204" charset="-122"/>
                      </a:rPr>
                      <a:t>中哪些值得投入大量资源以推进到真实世界的实验中，系统采用了一个采集函数</a:t>
                    </a:r>
                    <a14:m>
                      <m:oMath xmlns:m="http://schemas.openxmlformats.org/officeDocument/2006/math">
                        <m:r>
                          <a:rPr lang="en-US" altLang="zh-CN" i="1">
                            <a:solidFill>
                              <a:schemeClr val="tx1"/>
                            </a:solidFill>
                            <a:latin typeface="Cambria Math" panose="02040503050406030204" charset="0"/>
                            <a:ea typeface="微软雅黑" panose="020B0503020204020204" charset="-122"/>
                            <a:cs typeface="Cambria Math" panose="02040503050406030204" charset="0"/>
                          </a:rPr>
                          <m:t>(</m:t>
                        </m:r>
                        <m:r>
                          <a:rPr lang="en-US" altLang="zh-CN" i="1">
                            <a:solidFill>
                              <a:schemeClr val="tx1"/>
                            </a:solidFill>
                            <a:latin typeface="Cambria Math" panose="02040503050406030204" charset="0"/>
                            <a:ea typeface="微软雅黑" panose="020B0503020204020204" charset="-122"/>
                            <a:cs typeface="Cambria Math" panose="02040503050406030204" charset="0"/>
                          </a:rPr>
                          <m:t>𝛼</m:t>
                        </m:r>
                        <m:r>
                          <a:rPr lang="en-US" altLang="zh-CN" i="1">
                            <a:solidFill>
                              <a:schemeClr val="tx1"/>
                            </a:solidFill>
                            <a:latin typeface="Cambria Math" panose="02040503050406030204" charset="0"/>
                            <a:ea typeface="微软雅黑" panose="020B0503020204020204" charset="-122"/>
                            <a:cs typeface="Cambria Math" panose="02040503050406030204" charset="0"/>
                          </a:rPr>
                          <m:t>)</m:t>
                        </m:r>
                      </m:oMath>
                    </a14:m>
                    <a:r>
                      <a:rPr lang="zh-CN" altLang="en-US">
                        <a:solidFill>
                          <a:schemeClr val="tx1"/>
                        </a:solidFill>
                        <a:latin typeface="微软雅黑" panose="020B0503020204020204" charset="-122"/>
                        <a:ea typeface="微软雅黑" panose="020B0503020204020204" charset="-122"/>
                      </a:rPr>
                      <a:t>。具体而言，它使用经典的上置信界（</a:t>
                    </a:r>
                    <a:r>
                      <a:rPr lang="en-US" altLang="zh-CN">
                        <a:solidFill>
                          <a:schemeClr val="tx1"/>
                        </a:solidFill>
                        <a:latin typeface="微软雅黑" panose="020B0503020204020204" charset="-122"/>
                        <a:ea typeface="微软雅黑" panose="020B0503020204020204" charset="-122"/>
                      </a:rPr>
                      <a:t>UCB</a:t>
                    </a:r>
                    <a:r>
                      <a:rPr lang="zh-CN" altLang="en-US">
                        <a:solidFill>
                          <a:schemeClr val="tx1"/>
                        </a:solidFill>
                        <a:latin typeface="微软雅黑" panose="020B0503020204020204" charset="-122"/>
                        <a:ea typeface="微软雅黑" panose="020B0503020204020204" charset="-122"/>
                      </a:rPr>
                      <a:t>）算法来选择最有前景的记录。</a:t>
                    </a:r>
                    <a:r>
                      <a:rPr lang="en-US" altLang="zh-CN">
                        <a:solidFill>
                          <a:schemeClr val="tx1"/>
                        </a:solidFill>
                        <a:latin typeface="微软雅黑" panose="020B0503020204020204" charset="-122"/>
                        <a:ea typeface="微软雅黑" panose="020B0503020204020204" charset="-122"/>
                      </a:rPr>
                      <a:t>UCB </a:t>
                    </a:r>
                    <a:r>
                      <a:rPr lang="zh-CN" altLang="en-US">
                        <a:solidFill>
                          <a:schemeClr val="tx1"/>
                        </a:solidFill>
                        <a:latin typeface="微软雅黑" panose="020B0503020204020204" charset="-122"/>
                        <a:ea typeface="微软雅黑" panose="020B0503020204020204" charset="-122"/>
                      </a:rPr>
                      <a:t>公式将评估向量</a:t>
                    </a:r>
                    <a:r>
                      <a:rPr lang="en-US" altLang="zh-CN">
                        <a:solidFill>
                          <a:schemeClr val="tx1"/>
                        </a:solidFill>
                        <a:latin typeface="微软雅黑" panose="020B0503020204020204" charset="-122"/>
                        <a:ea typeface="微软雅黑" panose="020B0503020204020204" charset="-122"/>
                      </a:rPr>
                      <a:t>V</a:t>
                    </a:r>
                    <a:r>
                      <a:rPr lang="zh-CN" altLang="en-US">
                        <a:solidFill>
                          <a:schemeClr val="tx1"/>
                        </a:solidFill>
                        <a:latin typeface="微软雅黑" panose="020B0503020204020204" charset="-122"/>
                        <a:ea typeface="微软雅黑" panose="020B0503020204020204" charset="-122"/>
                      </a:rPr>
                      <a:t>进行映射，以平衡利用有前景途径（</a:t>
                    </a:r>
                    <a14:m>
                      <m:oMath xmlns:m="http://schemas.openxmlformats.org/officeDocument/2006/math">
                        <m:sSub>
                          <m:sSubPr>
                            <m:ctrlP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ctrlPr>
                          </m:sSubPr>
                          <m:e>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𝒗</m:t>
                            </m:r>
                          </m:e>
                          <m:sub>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𝒖</m:t>
                            </m:r>
                          </m:sub>
                        </m:sSub>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m:t>
                        </m:r>
                        <m:sSub>
                          <m:sSubPr>
                            <m:ctrlP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ctrlPr>
                          </m:sSubPr>
                          <m:e>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𝒗</m:t>
                            </m:r>
                          </m:e>
                          <m:sub>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𝒒</m:t>
                            </m:r>
                          </m:sub>
                        </m:sSub>
                      </m:oMath>
                    </a14:m>
                    <a:r>
                      <a:rPr lang="zh-CN" altLang="en-US">
                        <a:solidFill>
                          <a:schemeClr val="tx1"/>
                        </a:solidFill>
                        <a:latin typeface="微软雅黑" panose="020B0503020204020204" charset="-122"/>
                        <a:ea typeface="微软雅黑" panose="020B0503020204020204" charset="-122"/>
                      </a:rPr>
                      <a:t>）与探索不确定途径（</a:t>
                    </a:r>
                    <a14:m>
                      <m:oMath xmlns:m="http://schemas.openxmlformats.org/officeDocument/2006/math">
                        <m:sSub>
                          <m:sSubPr>
                            <m:ctrlP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ctrlPr>
                          </m:sSubPr>
                          <m:e>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𝒗</m:t>
                            </m:r>
                          </m:e>
                          <m:sub>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𝒆</m:t>
                            </m:r>
                          </m:sub>
                        </m:sSub>
                      </m:oMath>
                    </a14:m>
                    <a:r>
                      <a:rPr lang="zh-CN" altLang="en-US">
                        <a:solidFill>
                          <a:schemeClr val="tx1"/>
                        </a:solidFill>
                        <a:latin typeface="微软雅黑" panose="020B0503020204020204" charset="-122"/>
                        <a:ea typeface="微软雅黑" panose="020B0503020204020204" charset="-122"/>
                      </a:rPr>
                      <a:t>）之间的权衡：</a:t>
                    </a:r>
                    <a:endParaRPr lang="zh-CN" altLang="en-US">
                      <a:solidFill>
                        <a:schemeClr val="tx1"/>
                      </a:solidFill>
                      <a:latin typeface="微软雅黑" panose="020B0503020204020204" charset="-122"/>
                      <a:ea typeface="微软雅黑" panose="020B0503020204020204" charset="-122"/>
                    </a:endParaRPr>
                  </a:p>
                  <a:p>
                    <a:pPr indent="0" algn="l" fontAlgn="auto">
                      <a:lnSpc>
                        <a:spcPct val="150000"/>
                      </a:lnSpc>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ctrlPr>
                            </m:sSubPr>
                            <m:e>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𝑰</m:t>
                              </m:r>
                            </m:e>
                            <m:sub>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𝒕</m:t>
                              </m:r>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m:t>
                              </m:r>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𝟏</m:t>
                              </m:r>
                            </m:sub>
                          </m:sSub>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m:t>
                          </m:r>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𝒂𝒓𝒈</m:t>
                          </m:r>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 </m:t>
                          </m:r>
                          <m:sSub>
                            <m:sSubPr>
                              <m:ctrlP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ctrlPr>
                            </m:sSubPr>
                            <m:e>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𝒎𝒂𝒙</m:t>
                              </m:r>
                            </m:e>
                            <m:sub>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𝑰</m:t>
                              </m:r>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m:t>
                              </m:r>
                              <m:sSub>
                                <m:sSubPr>
                                  <m:ctrlP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ctrlPr>
                                </m:sSubPr>
                                <m:e>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𝑷</m:t>
                                  </m:r>
                                </m:e>
                                <m:sub>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𝒏𝒆𝒘</m:t>
                                  </m:r>
                                </m:sub>
                              </m:sSub>
                            </m:sub>
                          </m:sSub>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m:t>
                          </m:r>
                          <m:sSub>
                            <m:sSubPr>
                              <m:ctrlP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ctrlPr>
                            </m:sSubPr>
                            <m:e>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𝝎</m:t>
                              </m:r>
                            </m:e>
                            <m:sub>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𝒖</m:t>
                              </m:r>
                            </m:sub>
                          </m:sSub>
                          <m:sSub>
                            <m:sSubPr>
                              <m:ctrlP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ctrlPr>
                            </m:sSubPr>
                            <m:e>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𝒗</m:t>
                              </m:r>
                            </m:e>
                            <m:sub>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𝒖</m:t>
                              </m:r>
                            </m:sub>
                          </m:sSub>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m:t>
                          </m:r>
                          <m:sSub>
                            <m:sSubPr>
                              <m:ctrlP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ctrlPr>
                            </m:sSubPr>
                            <m:e>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𝝎</m:t>
                              </m:r>
                            </m:e>
                            <m:sub>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𝒒</m:t>
                              </m:r>
                            </m:sub>
                          </m:sSub>
                          <m:sSub>
                            <m:sSubPr>
                              <m:ctrlP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ctrlPr>
                            </m:sSubPr>
                            <m:e>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𝒗</m:t>
                              </m:r>
                            </m:e>
                            <m:sub>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𝒒</m:t>
                              </m:r>
                            </m:sub>
                          </m:sSub>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m:t>
                          </m:r>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𝜿</m:t>
                          </m:r>
                          <m:sSub>
                            <m:sSubPr>
                              <m:ctrlP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ctrlPr>
                            </m:sSubPr>
                            <m:e>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𝒗</m:t>
                              </m:r>
                            </m:e>
                            <m:sub>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𝒆</m:t>
                              </m:r>
                            </m:sub>
                          </m:sSub>
                          <m:r>
                            <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rPr>
                            <m:t>)</m:t>
                          </m:r>
                        </m:oMath>
                      </m:oMathPara>
                    </a14:m>
                    <a:endParaRPr lang="en-US" altLang="zh-CN" b="1" i="1">
                      <a:solidFill>
                        <a:schemeClr val="accent6">
                          <a:lumMod val="50000"/>
                        </a:schemeClr>
                      </a:solidFill>
                      <a:latin typeface="Cambria Math" panose="02040503050406030204" charset="0"/>
                      <a:ea typeface="微软雅黑" panose="020B0503020204020204" charset="-122"/>
                      <a:cs typeface="Cambria Math" panose="02040503050406030204" charset="0"/>
                    </a:endParaRPr>
                  </a:p>
                  <a:p>
                    <a:pPr marL="285750" indent="-285750" algn="l" fontAlgn="auto">
                      <a:lnSpc>
                        <a:spcPct val="150000"/>
                      </a:lnSpc>
                      <a:buClrTx/>
                      <a:buSzTx/>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rPr>
                      <a:t>其中</a:t>
                    </a:r>
                    <a14:m>
                      <m:oMath xmlns:m="http://schemas.openxmlformats.org/officeDocument/2006/math">
                        <m:sSub>
                          <m:sSubPr>
                            <m:ctrlPr>
                              <a:rPr lang="en-US" altLang="zh-CN" b="1"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b="1" i="1">
                                <a:solidFill>
                                  <a:schemeClr val="tx1"/>
                                </a:solidFill>
                                <a:latin typeface="Cambria Math" panose="02040503050406030204" charset="0"/>
                                <a:ea typeface="微软雅黑" panose="020B0503020204020204" charset="-122"/>
                                <a:cs typeface="Cambria Math" panose="02040503050406030204" charset="0"/>
                              </a:rPr>
                              <m:t>𝝎</m:t>
                            </m:r>
                          </m:e>
                          <m:sub>
                            <m:r>
                              <a:rPr lang="en-US" altLang="zh-CN" b="1" i="1">
                                <a:solidFill>
                                  <a:schemeClr val="tx1"/>
                                </a:solidFill>
                                <a:latin typeface="Cambria Math" panose="02040503050406030204" charset="0"/>
                                <a:ea typeface="微软雅黑" panose="020B0503020204020204" charset="-122"/>
                                <a:cs typeface="Cambria Math" panose="02040503050406030204" charset="0"/>
                              </a:rPr>
                              <m:t>𝒖</m:t>
                            </m:r>
                          </m:sub>
                        </m:sSub>
                      </m:oMath>
                    </a14:m>
                    <a:r>
                      <a:rPr lang="zh-CN" altLang="en-US">
                        <a:solidFill>
                          <a:schemeClr val="tx1"/>
                        </a:solidFill>
                        <a:latin typeface="微软雅黑" panose="020B0503020204020204" charset="-122"/>
                        <a:ea typeface="微软雅黑" panose="020B0503020204020204" charset="-122"/>
                      </a:rPr>
                      <a:t>和</a:t>
                    </a:r>
                    <a14:m>
                      <m:oMath xmlns:m="http://schemas.openxmlformats.org/officeDocument/2006/math">
                        <m:sSub>
                          <m:sSubPr>
                            <m:ctrlPr>
                              <a:rPr lang="en-US" altLang="zh-CN" b="1"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b="1" i="1">
                                <a:solidFill>
                                  <a:schemeClr val="tx1"/>
                                </a:solidFill>
                                <a:latin typeface="Cambria Math" panose="02040503050406030204" charset="0"/>
                                <a:ea typeface="微软雅黑" panose="020B0503020204020204" charset="-122"/>
                                <a:cs typeface="Cambria Math" panose="02040503050406030204" charset="0"/>
                              </a:rPr>
                              <m:t>𝝎</m:t>
                            </m:r>
                          </m:e>
                          <m:sub>
                            <m:r>
                              <a:rPr lang="en-US" altLang="zh-CN" b="1" i="1">
                                <a:solidFill>
                                  <a:schemeClr val="tx1"/>
                                </a:solidFill>
                                <a:latin typeface="Cambria Math" panose="02040503050406030204" charset="0"/>
                                <a:ea typeface="微软雅黑" panose="020B0503020204020204" charset="-122"/>
                                <a:cs typeface="Cambria Math" panose="02040503050406030204" charset="0"/>
                              </a:rPr>
                              <m:t>𝒒</m:t>
                            </m:r>
                          </m:sub>
                        </m:sSub>
                      </m:oMath>
                    </a14:m>
                    <a:r>
                      <a:rPr lang="zh-CN" altLang="en-US">
                        <a:solidFill>
                          <a:schemeClr val="tx1"/>
                        </a:solidFill>
                        <a:latin typeface="微软雅黑" panose="020B0503020204020204" charset="-122"/>
                        <a:ea typeface="微软雅黑" panose="020B0503020204020204" charset="-122"/>
                      </a:rPr>
                      <a:t>是超参数，</a:t>
                    </a:r>
                    <a14:m>
                      <m:oMath xmlns:m="http://schemas.openxmlformats.org/officeDocument/2006/math">
                        <m:r>
                          <a:rPr lang="en-US" altLang="zh-CN" b="1" i="1">
                            <a:solidFill>
                              <a:schemeClr val="tx1"/>
                            </a:solidFill>
                            <a:latin typeface="Cambria Math" panose="02040503050406030204" charset="0"/>
                            <a:ea typeface="微软雅黑" panose="020B0503020204020204" charset="-122"/>
                            <a:cs typeface="Cambria Math" panose="02040503050406030204" charset="0"/>
                          </a:rPr>
                          <m:t>𝜿</m:t>
                        </m:r>
                      </m:oMath>
                    </a14:m>
                    <a:r>
                      <a:rPr lang="zh-CN" altLang="en-US">
                        <a:solidFill>
                          <a:schemeClr val="tx1"/>
                        </a:solidFill>
                        <a:latin typeface="微软雅黑" panose="020B0503020204020204" charset="-122"/>
                        <a:ea typeface="微软雅黑" panose="020B0503020204020204" charset="-122"/>
                      </a:rPr>
                      <a:t>控制探索的强度。在科学发现中，</a:t>
                    </a:r>
                    <a:r>
                      <a:rPr lang="en-US" altLang="zh-CN">
                        <a:solidFill>
                          <a:schemeClr val="tx1"/>
                        </a:solidFill>
                        <a:latin typeface="微软雅黑" panose="020B0503020204020204" charset="-122"/>
                        <a:ea typeface="微软雅黑" panose="020B0503020204020204" charset="-122"/>
                      </a:rPr>
                      <a:t>UCB </a:t>
                    </a:r>
                    <a:r>
                      <a:rPr lang="zh-CN" altLang="en-US">
                        <a:solidFill>
                          <a:schemeClr val="tx1"/>
                        </a:solidFill>
                        <a:latin typeface="微软雅黑" panose="020B0503020204020204" charset="-122"/>
                        <a:ea typeface="微软雅黑" panose="020B0503020204020204" charset="-122"/>
                      </a:rPr>
                      <a:t>算法恰好能为</a:t>
                    </a:r>
                    <a:r>
                      <a:rPr lang="en-US" altLang="zh-CN">
                        <a:solidFill>
                          <a:schemeClr val="tx1"/>
                        </a:solidFill>
                        <a:latin typeface="微软雅黑" panose="020B0503020204020204" charset="-122"/>
                        <a:ea typeface="微软雅黑" panose="020B0503020204020204" charset="-122"/>
                      </a:rPr>
                      <a:t> “</a:t>
                    </a:r>
                    <a:r>
                      <a:rPr lang="zh-CN" altLang="en-US">
                        <a:solidFill>
                          <a:schemeClr val="tx1"/>
                        </a:solidFill>
                        <a:latin typeface="微软雅黑" panose="020B0503020204020204" charset="-122"/>
                        <a:ea typeface="微软雅黑" panose="020B0503020204020204" charset="-122"/>
                      </a:rPr>
                      <a:t>科学发现的资源分配</a:t>
                    </a:r>
                    <a:r>
                      <a:rPr lang="en-US" altLang="zh-CN">
                        <a:solidFill>
                          <a:schemeClr val="tx1"/>
                        </a:solidFill>
                        <a:latin typeface="微软雅黑" panose="020B0503020204020204" charset="-122"/>
                        <a:ea typeface="微软雅黑" panose="020B0503020204020204" charset="-122"/>
                      </a:rPr>
                      <a:t>” </a:t>
                    </a:r>
                    <a:r>
                      <a:rPr lang="zh-CN" altLang="en-US">
                        <a:solidFill>
                          <a:schemeClr val="tx1"/>
                        </a:solidFill>
                        <a:latin typeface="微软雅黑" panose="020B0503020204020204" charset="-122"/>
                        <a:ea typeface="微软雅黑" panose="020B0503020204020204" charset="-122"/>
                      </a:rPr>
                      <a:t>提供量化依据，让系统在预算有限时，最大化发现效率。</a:t>
                    </a:r>
                    <a:r>
                      <a:rPr lang="zh-CN" altLang="en-US" b="1">
                        <a:solidFill>
                          <a:schemeClr val="accent6">
                            <a:lumMod val="50000"/>
                          </a:schemeClr>
                        </a:solidFill>
                        <a:latin typeface="微软雅黑" panose="020B0503020204020204" charset="-122"/>
                        <a:ea typeface="微软雅黑" panose="020B0503020204020204" charset="-122"/>
                      </a:rPr>
                      <a:t>（文中三个参数均为</a:t>
                    </a:r>
                    <a:r>
                      <a:rPr lang="en-US" altLang="zh-CN" b="1">
                        <a:solidFill>
                          <a:schemeClr val="accent6">
                            <a:lumMod val="50000"/>
                          </a:schemeClr>
                        </a:solidFill>
                        <a:latin typeface="微软雅黑" panose="020B0503020204020204" charset="-122"/>
                        <a:ea typeface="微软雅黑" panose="020B0503020204020204" charset="-122"/>
                      </a:rPr>
                      <a:t>1</a:t>
                    </a:r>
                    <a:r>
                      <a:rPr lang="zh-CN" altLang="en-US" b="1">
                        <a:solidFill>
                          <a:schemeClr val="accent6">
                            <a:lumMod val="50000"/>
                          </a:schemeClr>
                        </a:solidFill>
                        <a:latin typeface="微软雅黑" panose="020B0503020204020204" charset="-122"/>
                        <a:ea typeface="微软雅黑" panose="020B0503020204020204" charset="-122"/>
                      </a:rPr>
                      <a:t>）</a:t>
                    </a:r>
                    <a:endParaRPr lang="zh-CN" altLang="en-US" b="1">
                      <a:solidFill>
                        <a:schemeClr val="accent6">
                          <a:lumMod val="50000"/>
                        </a:schemeClr>
                      </a:solidFill>
                      <a:latin typeface="微软雅黑" panose="020B0503020204020204" charset="-122"/>
                      <a:ea typeface="微软雅黑" panose="020B0503020204020204" charset="-122"/>
                    </a:endParaRPr>
                  </a:p>
                </p:txBody>
              </p:sp>
            </mc:Choice>
            <mc:Fallback>
              <p:sp>
                <p:nvSpPr>
                  <p:cNvPr id="18" name="圆角矩形 17"/>
                  <p:cNvSpPr>
                    <a:spLocks noRot="1" noChangeAspect="1" noMove="1" noResize="1" noEditPoints="1" noAdjustHandles="1" noChangeArrowheads="1" noChangeShapeType="1" noTextEdit="1"/>
                  </p:cNvSpPr>
                  <p:nvPr/>
                </p:nvSpPr>
                <p:spPr>
                  <a:xfrm>
                    <a:off x="519" y="2524"/>
                    <a:ext cx="5081" cy="7606"/>
                  </a:xfrm>
                  <a:prstGeom prst="roundRect">
                    <a:avLst>
                      <a:gd name="adj" fmla="val 4415"/>
                    </a:avLst>
                  </a:prstGeom>
                  <a:blipFill rotWithShape="1">
                    <a:blip r:embed="rId3"/>
                  </a:blip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a:lstStyle/>
                  <a:p>
                    <a:r>
                      <a:rPr lang="zh-CN" altLang="en-US">
                        <a:noFill/>
                      </a:rPr>
                      <a:t> </a:t>
                    </a:r>
                  </a:p>
                </p:txBody>
              </p:sp>
            </mc:Fallback>
          </mc:AlternateContent>
          <p:sp>
            <p:nvSpPr>
              <p:cNvPr id="10" name="矩形 9"/>
              <p:cNvSpPr/>
              <p:nvPr/>
            </p:nvSpPr>
            <p:spPr>
              <a:xfrm>
                <a:off x="1138" y="1928"/>
                <a:ext cx="3744" cy="688"/>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b="1">
                    <a:latin typeface="微软雅黑" panose="020B0503020204020204" charset="-122"/>
                    <a:ea typeface="微软雅黑" panose="020B0503020204020204" charset="-122"/>
                    <a:cs typeface="微软雅黑" panose="020B0503020204020204" charset="-122"/>
                  </a:rPr>
                  <a:t>实施与验证</a:t>
                </a:r>
                <a:endParaRPr lang="zh-CN" altLang="en-US" sz="2000" b="1">
                  <a:latin typeface="微软雅黑" panose="020B0503020204020204" charset="-122"/>
                  <a:ea typeface="微软雅黑" panose="020B0503020204020204" charset="-122"/>
                  <a:cs typeface="微软雅黑" panose="020B0503020204020204"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strips(downLeft)">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0" y="-635"/>
            <a:ext cx="12192000" cy="707390"/>
            <a:chOff x="0" y="0"/>
            <a:chExt cx="19200" cy="1114"/>
          </a:xfrm>
        </p:grpSpPr>
        <p:sp>
          <p:nvSpPr>
            <p:cNvPr id="3" name="矩形 2"/>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DeepScientist</a:t>
              </a:r>
              <a:endParaRPr lang="en-US" altLang="zh-CN" sz="14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4</a:t>
              </a:r>
              <a:endParaRPr lang="en-US" altLang="zh-CN" sz="4000" b="1">
                <a:solidFill>
                  <a:schemeClr val="bg1"/>
                </a:solidFill>
                <a:latin typeface="微软雅黑" panose="020B0503020204020204" charset="-122"/>
                <a:ea typeface="微软雅黑" panose="020B0503020204020204" charset="-122"/>
              </a:endParaRPr>
            </a:p>
          </p:txBody>
        </p:sp>
      </p:grpSp>
      <p:pic>
        <p:nvPicPr>
          <p:cNvPr id="8" name="图片 7" descr="logo"/>
          <p:cNvPicPr>
            <a:picLocks noChangeAspect="1"/>
          </p:cNvPicPr>
          <p:nvPr/>
        </p:nvPicPr>
        <p:blipFill>
          <a:blip r:embed="rId1"/>
          <a:stretch>
            <a:fillRect/>
          </a:stretch>
        </p:blipFill>
        <p:spPr>
          <a:xfrm>
            <a:off x="8810625" y="33655"/>
            <a:ext cx="3314700" cy="673100"/>
          </a:xfrm>
          <a:prstGeom prst="rect">
            <a:avLst/>
          </a:prstGeom>
        </p:spPr>
      </p:pic>
      <p:grpSp>
        <p:nvGrpSpPr>
          <p:cNvPr id="6" name="组合 5"/>
          <p:cNvGrpSpPr/>
          <p:nvPr/>
        </p:nvGrpSpPr>
        <p:grpSpPr>
          <a:xfrm>
            <a:off x="147955" y="955040"/>
            <a:ext cx="11370310" cy="5536565"/>
            <a:chOff x="233" y="1504"/>
            <a:chExt cx="17906" cy="8719"/>
          </a:xfrm>
        </p:grpSpPr>
        <p:sp>
          <p:nvSpPr>
            <p:cNvPr id="27" name="圆角矩形 26"/>
            <p:cNvSpPr/>
            <p:nvPr/>
          </p:nvSpPr>
          <p:spPr>
            <a:xfrm>
              <a:off x="2021" y="1504"/>
              <a:ext cx="14784" cy="988"/>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en-US" altLang="zh-CN" sz="2000" b="1">
                  <a:solidFill>
                    <a:schemeClr val="accent6">
                      <a:lumMod val="50000"/>
                    </a:schemeClr>
                  </a:solidFill>
                  <a:latin typeface="微软雅黑" panose="020B0503020204020204" charset="-122"/>
                  <a:ea typeface="微软雅黑" panose="020B0503020204020204" charset="-122"/>
                </a:rPr>
                <a:t>THE DEEPSCIENTIST FRAMEWORK</a:t>
              </a:r>
              <a:endParaRPr lang="en-US" altLang="zh-CN" sz="2000" b="1">
                <a:solidFill>
                  <a:schemeClr val="accent6">
                    <a:lumMod val="50000"/>
                  </a:schemeClr>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2"/>
            <a:srcRect l="32075" r="30510"/>
            <a:stretch>
              <a:fillRect/>
            </a:stretch>
          </p:blipFill>
          <p:spPr>
            <a:xfrm>
              <a:off x="233" y="2693"/>
              <a:ext cx="5261" cy="7531"/>
            </a:xfrm>
            <a:prstGeom prst="rect">
              <a:avLst/>
            </a:prstGeom>
            <a:effectLst>
              <a:softEdge rad="127000"/>
            </a:effectLst>
          </p:spPr>
        </p:pic>
        <p:grpSp>
          <p:nvGrpSpPr>
            <p:cNvPr id="11" name="组合 10"/>
            <p:cNvGrpSpPr/>
            <p:nvPr/>
          </p:nvGrpSpPr>
          <p:grpSpPr>
            <a:xfrm>
              <a:off x="5621" y="2821"/>
              <a:ext cx="12518" cy="7353"/>
              <a:chOff x="419" y="1928"/>
              <a:chExt cx="5180" cy="8147"/>
            </a:xfrm>
          </p:grpSpPr>
          <mc:AlternateContent xmlns:mc="http://schemas.openxmlformats.org/markup-compatibility/2006">
            <mc:Choice xmlns:a14="http://schemas.microsoft.com/office/drawing/2010/main" Requires="a14">
              <p:sp>
                <p:nvSpPr>
                  <p:cNvPr id="18" name="圆角矩形 17"/>
                  <p:cNvSpPr/>
                  <p:nvPr/>
                </p:nvSpPr>
                <p:spPr>
                  <a:xfrm>
                    <a:off x="419" y="2469"/>
                    <a:ext cx="5181" cy="7606"/>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t" anchorCtr="0"/>
                  <a:p>
                    <a:pPr marL="285750" indent="-285750" algn="l" fontAlgn="auto">
                      <a:lnSpc>
                        <a:spcPct val="150000"/>
                      </a:lnSpc>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rPr>
                      <a:t>得分最高的发现</a:t>
                    </a:r>
                    <a14:m>
                      <m:oMath xmlns:m="http://schemas.openxmlformats.org/officeDocument/2006/math">
                        <m:sSub>
                          <m:sSubPr>
                            <m:ctrlPr>
                              <a:rPr lang="en-US" altLang="zh-CN" b="1"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b="1" i="1">
                                <a:solidFill>
                                  <a:schemeClr val="tx1"/>
                                </a:solidFill>
                                <a:latin typeface="Cambria Math" panose="02040503050406030204" charset="0"/>
                                <a:ea typeface="微软雅黑" panose="020B0503020204020204" charset="-122"/>
                                <a:cs typeface="Cambria Math" panose="02040503050406030204" charset="0"/>
                              </a:rPr>
                              <m:t>𝑰</m:t>
                            </m:r>
                          </m:e>
                          <m:sub>
                            <m:r>
                              <a:rPr lang="en-US" altLang="zh-CN" b="1" i="1">
                                <a:solidFill>
                                  <a:schemeClr val="tx1"/>
                                </a:solidFill>
                                <a:latin typeface="Cambria Math" panose="02040503050406030204" charset="0"/>
                                <a:ea typeface="微软雅黑" panose="020B0503020204020204" charset="-122"/>
                                <a:cs typeface="Cambria Math" panose="02040503050406030204" charset="0"/>
                              </a:rPr>
                              <m:t>𝒕</m:t>
                            </m:r>
                            <m:r>
                              <a:rPr lang="en-US" altLang="zh-CN" b="1" i="1">
                                <a:solidFill>
                                  <a:schemeClr val="tx1"/>
                                </a:solidFill>
                                <a:latin typeface="Cambria Math" panose="02040503050406030204" charset="0"/>
                                <a:ea typeface="微软雅黑" panose="020B0503020204020204" charset="-122"/>
                                <a:cs typeface="Cambria Math" panose="02040503050406030204" charset="0"/>
                              </a:rPr>
                              <m:t>+</m:t>
                            </m:r>
                            <m:r>
                              <a:rPr lang="en-US" altLang="zh-CN" b="1" i="1">
                                <a:solidFill>
                                  <a:schemeClr val="tx1"/>
                                </a:solidFill>
                                <a:latin typeface="Cambria Math" panose="02040503050406030204" charset="0"/>
                                <a:ea typeface="微软雅黑" panose="020B0503020204020204" charset="-122"/>
                                <a:cs typeface="Cambria Math" panose="02040503050406030204" charset="0"/>
                              </a:rPr>
                              <m:t>𝟏</m:t>
                            </m:r>
                          </m:sub>
                        </m:sSub>
                      </m:oMath>
                    </a14:m>
                    <a:r>
                      <a:rPr lang="zh-CN" altLang="en-US">
                        <a:solidFill>
                          <a:schemeClr val="tx1"/>
                        </a:solidFill>
                        <a:latin typeface="微软雅黑" panose="020B0503020204020204" charset="-122"/>
                        <a:ea typeface="微软雅黑" panose="020B0503020204020204" charset="-122"/>
                      </a:rPr>
                      <a:t>被选中进行验证，其记录被提升为 </a:t>
                    </a:r>
                    <a:r>
                      <a:rPr lang="zh-CN" altLang="en-US" b="1">
                        <a:solidFill>
                          <a:schemeClr val="accent6">
                            <a:lumMod val="50000"/>
                          </a:schemeClr>
                        </a:solidFill>
                        <a:latin typeface="微软雅黑" panose="020B0503020204020204" charset="-122"/>
                        <a:ea typeface="微软雅黑" panose="020B0503020204020204" charset="-122"/>
                      </a:rPr>
                      <a:t>“实施发现”</a:t>
                    </a:r>
                    <a:r>
                      <a:rPr lang="zh-CN" altLang="en-US">
                        <a:solidFill>
                          <a:schemeClr val="tx1"/>
                        </a:solidFill>
                        <a:latin typeface="微软雅黑" panose="020B0503020204020204" charset="-122"/>
                        <a:ea typeface="微软雅黑" panose="020B0503020204020204" charset="-122"/>
                      </a:rPr>
                      <a:t> 状态。</a:t>
                    </a:r>
                    <a:endParaRPr lang="zh-CN" altLang="en-US">
                      <a:solidFill>
                        <a:schemeClr val="tx1"/>
                      </a:solidFill>
                      <a:latin typeface="微软雅黑" panose="020B0503020204020204" charset="-122"/>
                      <a:ea typeface="微软雅黑" panose="020B0503020204020204" charset="-122"/>
                    </a:endParaRPr>
                  </a:p>
                  <a:p>
                    <a:pPr marL="285750" indent="-285750" algn="l" fontAlgn="auto">
                      <a:lnSpc>
                        <a:spcPct val="150000"/>
                      </a:lnSpc>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rPr>
                      <a:t>一个编码智能体执行代码库级别的实施以开展实验。该智能体在一个具有完全权限的沙盒环境中运行，使其能够</a:t>
                    </a:r>
                    <a:r>
                      <a:rPr lang="zh-CN" altLang="en-US" b="1">
                        <a:solidFill>
                          <a:schemeClr val="accent6">
                            <a:lumMod val="50000"/>
                          </a:schemeClr>
                        </a:solidFill>
                        <a:latin typeface="微软雅黑" panose="020B0503020204020204" charset="-122"/>
                        <a:ea typeface="微软雅黑" panose="020B0503020204020204" charset="-122"/>
                      </a:rPr>
                      <a:t>读取完整的代码库，并可访问互联网进行文献和代码搜索。</a:t>
                    </a:r>
                    <a:endParaRPr lang="zh-CN" altLang="en-US" b="1">
                      <a:solidFill>
                        <a:schemeClr val="accent6">
                          <a:lumMod val="50000"/>
                        </a:schemeClr>
                      </a:solidFill>
                      <a:latin typeface="微软雅黑" panose="020B0503020204020204" charset="-122"/>
                      <a:ea typeface="微软雅黑" panose="020B0503020204020204" charset="-122"/>
                    </a:endParaRPr>
                  </a:p>
                  <a:p>
                    <a:pPr marL="285750" indent="-285750" algn="l" fontAlgn="auto">
                      <a:lnSpc>
                        <a:spcPct val="150000"/>
                      </a:lnSpc>
                      <a:buFont typeface="Arial" panose="020B0604020202020204" pitchFamily="34" charset="0"/>
                      <a:buChar char="•"/>
                    </a:pPr>
                    <a:r>
                      <a:rPr lang="zh-CN" altLang="en-US" b="1">
                        <a:solidFill>
                          <a:schemeClr val="accent6">
                            <a:lumMod val="50000"/>
                          </a:schemeClr>
                        </a:solidFill>
                        <a:latin typeface="微软雅黑" panose="020B0503020204020204" charset="-122"/>
                        <a:ea typeface="微软雅黑" panose="020B0503020204020204" charset="-122"/>
                      </a:rPr>
                      <a:t>它的目标是在现有最先进（SOTA）方法的代码库基础上实施新的假设</a:t>
                    </a:r>
                    <a:r>
                      <a:rPr lang="zh-CN" altLang="en-US">
                        <a:solidFill>
                          <a:schemeClr val="tx1"/>
                        </a:solidFill>
                        <a:latin typeface="微软雅黑" panose="020B0503020204020204" charset="-122"/>
                        <a:ea typeface="微软雅黑" panose="020B0503020204020204" charset="-122"/>
                      </a:rPr>
                      <a:t>。该智能体通常会先规划任务，然后阅读代码以理解其结构，最后实施变更以生成实验日志和结果。</a:t>
                    </a:r>
                    <a:endParaRPr lang="zh-CN" altLang="en-US">
                      <a:solidFill>
                        <a:schemeClr val="tx1"/>
                      </a:solidFill>
                      <a:latin typeface="微软雅黑" panose="020B0503020204020204" charset="-122"/>
                      <a:ea typeface="微软雅黑" panose="020B0503020204020204" charset="-122"/>
                    </a:endParaRPr>
                  </a:p>
                  <a:p>
                    <a:pPr marL="285750" indent="-285750" algn="l" fontAlgn="auto">
                      <a:lnSpc>
                        <a:spcPct val="150000"/>
                      </a:lnSpc>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rPr>
                      <a:t>实验日志和结果</a:t>
                    </a:r>
                    <a14:m>
                      <m:oMath xmlns:m="http://schemas.openxmlformats.org/officeDocument/2006/math">
                        <m:sSub>
                          <m:sSubPr>
                            <m:ctrlPr>
                              <a:rPr lang="en-US" altLang="zh-CN" b="1"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b="1" i="1">
                                <a:solidFill>
                                  <a:schemeClr val="tx1"/>
                                </a:solidFill>
                                <a:latin typeface="Cambria Math" panose="02040503050406030204" charset="0"/>
                                <a:ea typeface="微软雅黑" panose="020B0503020204020204" charset="-122"/>
                                <a:cs typeface="Cambria Math" panose="02040503050406030204" charset="0"/>
                              </a:rPr>
                              <m:t>𝑰</m:t>
                            </m:r>
                          </m:e>
                          <m:sub>
                            <m:r>
                              <a:rPr lang="en-US" altLang="zh-CN" b="1" i="1">
                                <a:solidFill>
                                  <a:schemeClr val="tx1"/>
                                </a:solidFill>
                                <a:latin typeface="Cambria Math" panose="02040503050406030204" charset="0"/>
                                <a:ea typeface="微软雅黑" panose="020B0503020204020204" charset="-122"/>
                                <a:cs typeface="Cambria Math" panose="02040503050406030204" charset="0"/>
                              </a:rPr>
                              <m:t>𝒕</m:t>
                            </m:r>
                            <m:r>
                              <a:rPr lang="en-US" altLang="zh-CN" b="1" i="1">
                                <a:solidFill>
                                  <a:schemeClr val="tx1"/>
                                </a:solidFill>
                                <a:latin typeface="Cambria Math" panose="02040503050406030204" charset="0"/>
                                <a:ea typeface="微软雅黑" panose="020B0503020204020204" charset="-122"/>
                                <a:cs typeface="Cambria Math" panose="02040503050406030204" charset="0"/>
                              </a:rPr>
                              <m:t>+</m:t>
                            </m:r>
                            <m:r>
                              <a:rPr lang="en-US" altLang="zh-CN" b="1" i="1">
                                <a:solidFill>
                                  <a:schemeClr val="tx1"/>
                                </a:solidFill>
                                <a:latin typeface="Cambria Math" panose="02040503050406030204" charset="0"/>
                                <a:ea typeface="微软雅黑" panose="020B0503020204020204" charset="-122"/>
                                <a:cs typeface="Cambria Math" panose="02040503050406030204" charset="0"/>
                              </a:rPr>
                              <m:t>𝟏</m:t>
                            </m:r>
                          </m:sub>
                        </m:sSub>
                      </m:oMath>
                    </a14:m>
                    <a:r>
                      <a:rPr lang="zh-CN" altLang="en-US">
                        <a:solidFill>
                          <a:schemeClr val="tx1"/>
                        </a:solidFill>
                        <a:latin typeface="微软雅黑" panose="020B0503020204020204" charset="-122"/>
                        <a:ea typeface="微软雅黑" panose="020B0503020204020204" charset="-122"/>
                      </a:rPr>
                      <a:t>被用于更新相应的记录，用实证证据丰富它，从而闭合学习循环。</a:t>
                    </a:r>
                    <a:endParaRPr lang="zh-CN" altLang="en-US">
                      <a:solidFill>
                        <a:schemeClr val="tx1"/>
                      </a:solidFill>
                      <a:latin typeface="微软雅黑" panose="020B0503020204020204" charset="-122"/>
                      <a:ea typeface="微软雅黑" panose="020B0503020204020204" charset="-122"/>
                    </a:endParaRPr>
                  </a:p>
                  <a:p>
                    <a:pPr indent="0" algn="l" fontAlgn="auto">
                      <a:lnSpc>
                        <a:spcPct val="150000"/>
                      </a:lnSpc>
                      <a:buFont typeface="Arial" panose="020B0604020202020204" pitchFamily="34" charset="0"/>
                      <a:buNone/>
                    </a:pPr>
                    <a:endParaRPr lang="zh-CN" altLang="en-US">
                      <a:solidFill>
                        <a:schemeClr val="tx1"/>
                      </a:solidFill>
                      <a:latin typeface="微软雅黑" panose="020B0503020204020204" charset="-122"/>
                      <a:ea typeface="微软雅黑" panose="020B0503020204020204" charset="-122"/>
                    </a:endParaRPr>
                  </a:p>
                </p:txBody>
              </p:sp>
            </mc:Choice>
            <mc:Fallback>
              <p:sp>
                <p:nvSpPr>
                  <p:cNvPr id="18" name="圆角矩形 17"/>
                  <p:cNvSpPr>
                    <a:spLocks noRot="1" noChangeAspect="1" noMove="1" noResize="1" noEditPoints="1" noAdjustHandles="1" noChangeArrowheads="1" noChangeShapeType="1" noTextEdit="1"/>
                  </p:cNvSpPr>
                  <p:nvPr/>
                </p:nvSpPr>
                <p:spPr>
                  <a:xfrm>
                    <a:off x="419" y="2469"/>
                    <a:ext cx="5181" cy="7606"/>
                  </a:xfrm>
                  <a:prstGeom prst="roundRect">
                    <a:avLst>
                      <a:gd name="adj" fmla="val 4415"/>
                    </a:avLst>
                  </a:prstGeom>
                  <a:blipFill rotWithShape="1">
                    <a:blip r:embed="rId3"/>
                  </a:blip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a:lstStyle/>
                  <a:p>
                    <a:r>
                      <a:rPr lang="zh-CN" altLang="en-US">
                        <a:noFill/>
                      </a:rPr>
                      <a:t> </a:t>
                    </a:r>
                  </a:p>
                </p:txBody>
              </p:sp>
            </mc:Fallback>
          </mc:AlternateContent>
          <p:sp>
            <p:nvSpPr>
              <p:cNvPr id="10" name="矩形 9"/>
              <p:cNvSpPr/>
              <p:nvPr/>
            </p:nvSpPr>
            <p:spPr>
              <a:xfrm>
                <a:off x="1138" y="1928"/>
                <a:ext cx="3744" cy="688"/>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b="1">
                    <a:latin typeface="微软雅黑" panose="020B0503020204020204" charset="-122"/>
                    <a:ea typeface="微软雅黑" panose="020B0503020204020204" charset="-122"/>
                    <a:cs typeface="微软雅黑" panose="020B0503020204020204" charset="-122"/>
                  </a:rPr>
                  <a:t>实施与验证</a:t>
                </a:r>
                <a:endParaRPr lang="zh-CN" altLang="en-US" sz="2000" b="1">
                  <a:latin typeface="微软雅黑" panose="020B0503020204020204" charset="-122"/>
                  <a:ea typeface="微软雅黑" panose="020B0503020204020204" charset="-122"/>
                  <a:cs typeface="微软雅黑" panose="020B0503020204020204"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trips(down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0" y="-635"/>
            <a:ext cx="12192000" cy="707390"/>
            <a:chOff x="0" y="0"/>
            <a:chExt cx="19200" cy="1114"/>
          </a:xfrm>
        </p:grpSpPr>
        <p:sp>
          <p:nvSpPr>
            <p:cNvPr id="3" name="矩形 2"/>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DeepScientist</a:t>
              </a:r>
              <a:endParaRPr lang="en-US" altLang="zh-CN" sz="14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4</a:t>
              </a:r>
              <a:endParaRPr lang="en-US" altLang="zh-CN" sz="4000" b="1">
                <a:solidFill>
                  <a:schemeClr val="bg1"/>
                </a:solidFill>
                <a:latin typeface="微软雅黑" panose="020B0503020204020204" charset="-122"/>
                <a:ea typeface="微软雅黑" panose="020B0503020204020204" charset="-122"/>
              </a:endParaRPr>
            </a:p>
          </p:txBody>
        </p:sp>
      </p:grpSp>
      <p:pic>
        <p:nvPicPr>
          <p:cNvPr id="8" name="图片 7" descr="logo"/>
          <p:cNvPicPr>
            <a:picLocks noChangeAspect="1"/>
          </p:cNvPicPr>
          <p:nvPr/>
        </p:nvPicPr>
        <p:blipFill>
          <a:blip r:embed="rId1"/>
          <a:stretch>
            <a:fillRect/>
          </a:stretch>
        </p:blipFill>
        <p:spPr>
          <a:xfrm>
            <a:off x="8810625" y="33655"/>
            <a:ext cx="3314700" cy="673100"/>
          </a:xfrm>
          <a:prstGeom prst="rect">
            <a:avLst/>
          </a:prstGeom>
        </p:spPr>
      </p:pic>
      <p:grpSp>
        <p:nvGrpSpPr>
          <p:cNvPr id="6" name="组合 5"/>
          <p:cNvGrpSpPr/>
          <p:nvPr/>
        </p:nvGrpSpPr>
        <p:grpSpPr>
          <a:xfrm>
            <a:off x="414020" y="955040"/>
            <a:ext cx="11104245" cy="5536565"/>
            <a:chOff x="652" y="1504"/>
            <a:chExt cx="17487" cy="8719"/>
          </a:xfrm>
        </p:grpSpPr>
        <p:sp>
          <p:nvSpPr>
            <p:cNvPr id="27" name="圆角矩形 26"/>
            <p:cNvSpPr/>
            <p:nvPr/>
          </p:nvSpPr>
          <p:spPr>
            <a:xfrm>
              <a:off x="2021" y="1504"/>
              <a:ext cx="14784" cy="988"/>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en-US" altLang="zh-CN" sz="2000" b="1">
                  <a:solidFill>
                    <a:schemeClr val="accent6">
                      <a:lumMod val="50000"/>
                    </a:schemeClr>
                  </a:solidFill>
                  <a:latin typeface="微软雅黑" panose="020B0503020204020204" charset="-122"/>
                  <a:ea typeface="微软雅黑" panose="020B0503020204020204" charset="-122"/>
                </a:rPr>
                <a:t>THE DEEPSCIENTIST FRAMEWORK</a:t>
              </a:r>
              <a:endParaRPr lang="en-US" altLang="zh-CN" sz="2000" b="1">
                <a:solidFill>
                  <a:schemeClr val="accent6">
                    <a:lumMod val="50000"/>
                  </a:schemeClr>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2"/>
            <a:srcRect l="65835" r="1309"/>
            <a:stretch>
              <a:fillRect/>
            </a:stretch>
          </p:blipFill>
          <p:spPr>
            <a:xfrm>
              <a:off x="652" y="2693"/>
              <a:ext cx="4620" cy="7531"/>
            </a:xfrm>
            <a:prstGeom prst="rect">
              <a:avLst/>
            </a:prstGeom>
            <a:effectLst>
              <a:softEdge rad="127000"/>
            </a:effectLst>
          </p:spPr>
        </p:pic>
        <p:grpSp>
          <p:nvGrpSpPr>
            <p:cNvPr id="11" name="组合 10"/>
            <p:cNvGrpSpPr/>
            <p:nvPr/>
          </p:nvGrpSpPr>
          <p:grpSpPr>
            <a:xfrm>
              <a:off x="5621" y="2821"/>
              <a:ext cx="12518" cy="7353"/>
              <a:chOff x="419" y="1928"/>
              <a:chExt cx="5180" cy="8147"/>
            </a:xfrm>
          </p:grpSpPr>
          <p:sp>
            <p:nvSpPr>
              <p:cNvPr id="18" name="圆角矩形 17"/>
              <p:cNvSpPr/>
              <p:nvPr/>
            </p:nvSpPr>
            <p:spPr>
              <a:xfrm>
                <a:off x="419" y="2469"/>
                <a:ext cx="5181" cy="7606"/>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t" anchorCtr="0"/>
              <a:p>
                <a:pPr marL="285750" indent="-285750" algn="l" fontAlgn="auto">
                  <a:lnSpc>
                    <a:spcPct val="150000"/>
                  </a:lnSpc>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rPr>
                  <a:t>发现记忆库的最后也是最具筛选性的阶段，仅在验证成功时才会触发。</a:t>
                </a:r>
                <a:r>
                  <a:rPr lang="zh-CN" altLang="en-US" b="1">
                    <a:solidFill>
                      <a:schemeClr val="accent6">
                        <a:lumMod val="50000"/>
                      </a:schemeClr>
                    </a:solidFill>
                    <a:latin typeface="微软雅黑" panose="020B0503020204020204" charset="-122"/>
                    <a:ea typeface="微软雅黑" panose="020B0503020204020204" charset="-122"/>
                  </a:rPr>
                  <a:t>当一项</a:t>
                </a:r>
                <a:r>
                  <a:rPr lang="en-US" altLang="zh-CN" b="1">
                    <a:solidFill>
                      <a:schemeClr val="accent6">
                        <a:lumMod val="50000"/>
                      </a:schemeClr>
                    </a:solidFill>
                    <a:latin typeface="微软雅黑" panose="020B0503020204020204" charset="-122"/>
                    <a:ea typeface="微软雅黑" panose="020B0503020204020204" charset="-122"/>
                  </a:rPr>
                  <a:t> “</a:t>
                </a:r>
                <a:r>
                  <a:rPr lang="zh-CN" altLang="en-US" b="1">
                    <a:solidFill>
                      <a:schemeClr val="accent6">
                        <a:lumMod val="50000"/>
                      </a:schemeClr>
                    </a:solidFill>
                    <a:latin typeface="微软雅黑" panose="020B0503020204020204" charset="-122"/>
                    <a:ea typeface="微软雅黑" panose="020B0503020204020204" charset="-122"/>
                  </a:rPr>
                  <a:t>实施发现</a:t>
                </a:r>
                <a:r>
                  <a:rPr lang="en-US" altLang="zh-CN" b="1">
                    <a:solidFill>
                      <a:schemeClr val="accent6">
                        <a:lumMod val="50000"/>
                      </a:schemeClr>
                    </a:solidFill>
                    <a:latin typeface="微软雅黑" panose="020B0503020204020204" charset="-122"/>
                    <a:ea typeface="微软雅黑" panose="020B0503020204020204" charset="-122"/>
                  </a:rPr>
                  <a:t>” </a:t>
                </a:r>
                <a:r>
                  <a:rPr lang="zh-CN" altLang="en-US" b="1">
                    <a:solidFill>
                      <a:schemeClr val="accent6">
                        <a:lumMod val="50000"/>
                      </a:schemeClr>
                    </a:solidFill>
                    <a:latin typeface="微软雅黑" panose="020B0503020204020204" charset="-122"/>
                    <a:ea typeface="微软雅黑" panose="020B0503020204020204" charset="-122"/>
                  </a:rPr>
                  <a:t>成功超越基准线时，其记录会被提升为</a:t>
                </a:r>
                <a:r>
                  <a:rPr lang="en-US" altLang="zh-CN" b="1">
                    <a:solidFill>
                      <a:schemeClr val="accent6">
                        <a:lumMod val="50000"/>
                      </a:schemeClr>
                    </a:solidFill>
                    <a:latin typeface="微软雅黑" panose="020B0503020204020204" charset="-122"/>
                    <a:ea typeface="微软雅黑" panose="020B0503020204020204" charset="-122"/>
                  </a:rPr>
                  <a:t> “</a:t>
                </a:r>
                <a:r>
                  <a:rPr lang="zh-CN" altLang="en-US" b="1">
                    <a:solidFill>
                      <a:schemeClr val="accent6">
                        <a:lumMod val="50000"/>
                      </a:schemeClr>
                    </a:solidFill>
                    <a:latin typeface="微软雅黑" panose="020B0503020204020204" charset="-122"/>
                    <a:ea typeface="微软雅黑" panose="020B0503020204020204" charset="-122"/>
                  </a:rPr>
                  <a:t>进展发现</a:t>
                </a:r>
                <a:r>
                  <a:rPr lang="en-US" altLang="zh-CN" b="1">
                    <a:solidFill>
                      <a:schemeClr val="accent6">
                        <a:lumMod val="50000"/>
                      </a:schemeClr>
                    </a:solidFill>
                    <a:latin typeface="微软雅黑" panose="020B0503020204020204" charset="-122"/>
                    <a:ea typeface="微软雅黑" panose="020B0503020204020204" charset="-122"/>
                  </a:rPr>
                  <a:t>”</a:t>
                </a:r>
                <a:r>
                  <a:rPr lang="zh-CN" altLang="en-US" b="1">
                    <a:solidFill>
                      <a:schemeClr val="accent6">
                        <a:lumMod val="50000"/>
                      </a:schemeClr>
                    </a:solidFill>
                    <a:latin typeface="微软雅黑" panose="020B0503020204020204" charset="-122"/>
                    <a:ea typeface="微软雅黑" panose="020B0503020204020204" charset="-122"/>
                  </a:rPr>
                  <a:t>。</a:t>
                </a:r>
                <a:endParaRPr lang="zh-CN" altLang="en-US">
                  <a:solidFill>
                    <a:schemeClr val="tx1"/>
                  </a:solidFill>
                  <a:latin typeface="微软雅黑" panose="020B0503020204020204" charset="-122"/>
                  <a:ea typeface="微软雅黑" panose="020B0503020204020204" charset="-122"/>
                </a:endParaRPr>
              </a:p>
              <a:p>
                <a:pPr marL="285750" indent="-285750" algn="l" fontAlgn="auto">
                  <a:lnSpc>
                    <a:spcPct val="150000"/>
                  </a:lnSpc>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rPr>
                  <a:t>这种转变由一系列具备使用</a:t>
                </a:r>
                <a:r>
                  <a:rPr lang="en-US" altLang="zh-CN">
                    <a:solidFill>
                      <a:schemeClr val="tx1"/>
                    </a:solidFill>
                    <a:latin typeface="微软雅黑" panose="020B0503020204020204" charset="-122"/>
                    <a:ea typeface="微软雅黑" panose="020B0503020204020204" charset="-122"/>
                  </a:rPr>
                  <a:t> MCP</a:t>
                </a:r>
                <a:r>
                  <a:rPr lang="zh-CN" altLang="en-US">
                    <a:solidFill>
                      <a:schemeClr val="tx1"/>
                    </a:solidFill>
                    <a:latin typeface="微软雅黑" panose="020B0503020204020204" charset="-122"/>
                    <a:ea typeface="微软雅黑" panose="020B0503020204020204" charset="-122"/>
                  </a:rPr>
                  <a:t>工具套件能力的专用智能体来实现。这些智能体首先会</a:t>
                </a:r>
                <a:r>
                  <a:rPr lang="zh-CN" altLang="en-US" b="1">
                    <a:solidFill>
                      <a:schemeClr val="accent6">
                        <a:lumMod val="50000"/>
                      </a:schemeClr>
                    </a:solidFill>
                    <a:latin typeface="微软雅黑" panose="020B0503020204020204" charset="-122"/>
                    <a:ea typeface="微软雅黑" panose="020B0503020204020204" charset="-122"/>
                  </a:rPr>
                  <a:t>自主设计并执行一系列更深入的分析实验</a:t>
                </a:r>
                <a:r>
                  <a:rPr lang="zh-CN" altLang="en-US">
                    <a:solidFill>
                      <a:schemeClr val="tx1"/>
                    </a:solidFill>
                    <a:latin typeface="微软雅黑" panose="020B0503020204020204" charset="-122"/>
                    <a:ea typeface="微软雅黑" panose="020B0503020204020204" charset="-122"/>
                  </a:rPr>
                  <a:t>（例如，消融实验、在新数据集上的评估），利用</a:t>
                </a:r>
                <a:r>
                  <a:rPr lang="en-US" altLang="zh-CN">
                    <a:solidFill>
                      <a:schemeClr val="tx1"/>
                    </a:solidFill>
                    <a:latin typeface="微软雅黑" panose="020B0503020204020204" charset="-122"/>
                    <a:ea typeface="微软雅黑" panose="020B0503020204020204" charset="-122"/>
                  </a:rPr>
                  <a:t> MCP </a:t>
                </a:r>
                <a:r>
                  <a:rPr lang="zh-CN" altLang="en-US">
                    <a:solidFill>
                      <a:schemeClr val="tx1"/>
                    </a:solidFill>
                    <a:latin typeface="微软雅黑" panose="020B0503020204020204" charset="-122"/>
                    <a:ea typeface="微软雅黑" panose="020B0503020204020204" charset="-122"/>
                  </a:rPr>
                  <a:t>工具来</a:t>
                </a:r>
                <a:r>
                  <a:rPr lang="zh-CN" altLang="en-US" b="1">
                    <a:solidFill>
                      <a:schemeClr val="accent6">
                        <a:lumMod val="50000"/>
                      </a:schemeClr>
                    </a:solidFill>
                    <a:latin typeface="微软雅黑" panose="020B0503020204020204" charset="-122"/>
                    <a:ea typeface="微软雅黑" panose="020B0503020204020204" charset="-122"/>
                  </a:rPr>
                  <a:t>管理实验生命周期、数据收集和结果解析。</a:t>
                </a:r>
                <a:endParaRPr lang="zh-CN" altLang="en-US" b="1">
                  <a:solidFill>
                    <a:schemeClr val="accent6">
                      <a:lumMod val="50000"/>
                    </a:schemeClr>
                  </a:solidFill>
                  <a:latin typeface="微软雅黑" panose="020B0503020204020204" charset="-122"/>
                  <a:ea typeface="微软雅黑" panose="020B0503020204020204" charset="-122"/>
                </a:endParaRPr>
              </a:p>
              <a:p>
                <a:pPr marL="285750" indent="-285750" algn="l" fontAlgn="auto">
                  <a:lnSpc>
                    <a:spcPct val="150000"/>
                  </a:lnSpc>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rPr>
                  <a:t>随后，一个综合智能体使用同一套工具集，将所有实验结果、分析见解和生成的人工制品</a:t>
                </a:r>
                <a:r>
                  <a:rPr lang="zh-CN" altLang="en-US" b="1">
                    <a:solidFill>
                      <a:schemeClr val="accent6">
                        <a:lumMod val="50000"/>
                      </a:schemeClr>
                    </a:solidFill>
                    <a:latin typeface="微软雅黑" panose="020B0503020204020204" charset="-122"/>
                    <a:ea typeface="微软雅黑" panose="020B0503020204020204" charset="-122"/>
                  </a:rPr>
                  <a:t>整理成一篇连贯且可复现的研究论文</a:t>
                </a:r>
                <a:r>
                  <a:rPr lang="zh-CN" altLang="en-US">
                    <a:solidFill>
                      <a:schemeClr val="tx1"/>
                    </a:solidFill>
                    <a:latin typeface="微软雅黑" panose="020B0503020204020204" charset="-122"/>
                    <a:ea typeface="微软雅黑" panose="020B0503020204020204" charset="-122"/>
                  </a:rPr>
                  <a:t>。经过深度验证的记录会成为系统知识库中的</a:t>
                </a:r>
                <a:r>
                  <a:rPr lang="zh-CN" altLang="en-US" b="1">
                    <a:solidFill>
                      <a:schemeClr val="accent6">
                        <a:lumMod val="50000"/>
                      </a:schemeClr>
                    </a:solidFill>
                    <a:latin typeface="微软雅黑" panose="020B0503020204020204" charset="-122"/>
                    <a:ea typeface="微软雅黑" panose="020B0503020204020204" charset="-122"/>
                  </a:rPr>
                  <a:t>新记录</a:t>
                </a:r>
                <a:r>
                  <a:rPr lang="zh-CN" altLang="en-US">
                    <a:solidFill>
                      <a:schemeClr val="tx1"/>
                    </a:solidFill>
                    <a:latin typeface="微软雅黑" panose="020B0503020204020204" charset="-122"/>
                    <a:ea typeface="微软雅黑" panose="020B0503020204020204" charset="-122"/>
                  </a:rPr>
                  <a:t>，从而影响所有后续周期的决策过程。</a:t>
                </a:r>
                <a:endParaRPr lang="zh-CN" altLang="en-US">
                  <a:solidFill>
                    <a:schemeClr val="tx1"/>
                  </a:solidFill>
                  <a:latin typeface="微软雅黑" panose="020B0503020204020204" charset="-122"/>
                  <a:ea typeface="微软雅黑" panose="020B0503020204020204" charset="-122"/>
                </a:endParaRPr>
              </a:p>
              <a:p>
                <a:pPr indent="0" algn="l" fontAlgn="auto">
                  <a:lnSpc>
                    <a:spcPct val="150000"/>
                  </a:lnSpc>
                  <a:buFont typeface="Arial" panose="020B0604020202020204" pitchFamily="34" charset="0"/>
                  <a:buNone/>
                </a:pPr>
                <a:endParaRPr lang="zh-CN" altLang="en-US">
                  <a:solidFill>
                    <a:schemeClr val="tx1"/>
                  </a:solidFill>
                  <a:latin typeface="微软雅黑" panose="020B0503020204020204" charset="-122"/>
                  <a:ea typeface="微软雅黑" panose="020B0503020204020204" charset="-122"/>
                </a:endParaRPr>
              </a:p>
            </p:txBody>
          </p:sp>
          <p:sp>
            <p:nvSpPr>
              <p:cNvPr id="10" name="矩形 9"/>
              <p:cNvSpPr/>
              <p:nvPr/>
            </p:nvSpPr>
            <p:spPr>
              <a:xfrm>
                <a:off x="1138" y="1928"/>
                <a:ext cx="3744" cy="688"/>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b="1">
                    <a:latin typeface="微软雅黑" panose="020B0503020204020204" charset="-122"/>
                    <a:ea typeface="微软雅黑" panose="020B0503020204020204" charset="-122"/>
                    <a:cs typeface="微软雅黑" panose="020B0503020204020204" charset="-122"/>
                  </a:rPr>
                  <a:t>分析与报告</a:t>
                </a:r>
                <a:endParaRPr lang="zh-CN" altLang="en-US" sz="2000" b="1">
                  <a:latin typeface="微软雅黑" panose="020B0503020204020204" charset="-122"/>
                  <a:ea typeface="微软雅黑" panose="020B0503020204020204" charset="-122"/>
                  <a:cs typeface="微软雅黑" panose="020B0503020204020204"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trips(down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0" y="-635"/>
            <a:ext cx="12192000" cy="707390"/>
            <a:chOff x="0" y="0"/>
            <a:chExt cx="19200" cy="1114"/>
          </a:xfrm>
        </p:grpSpPr>
        <p:sp>
          <p:nvSpPr>
            <p:cNvPr id="3" name="矩形 2"/>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Experiment</a:t>
              </a: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s</a:t>
              </a:r>
              <a:endPar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5</a:t>
              </a:r>
              <a:endParaRPr lang="en-US" altLang="zh-CN" sz="4000" b="1">
                <a:solidFill>
                  <a:schemeClr val="bg1"/>
                </a:solidFill>
                <a:latin typeface="微软雅黑" panose="020B0503020204020204" charset="-122"/>
                <a:ea typeface="微软雅黑" panose="020B0503020204020204" charset="-122"/>
              </a:endParaRPr>
            </a:p>
          </p:txBody>
        </p:sp>
      </p:grpSp>
      <p:pic>
        <p:nvPicPr>
          <p:cNvPr id="8" name="图片 7" descr="logo"/>
          <p:cNvPicPr>
            <a:picLocks noChangeAspect="1"/>
          </p:cNvPicPr>
          <p:nvPr/>
        </p:nvPicPr>
        <p:blipFill>
          <a:blip r:embed="rId1"/>
          <a:stretch>
            <a:fillRect/>
          </a:stretch>
        </p:blipFill>
        <p:spPr>
          <a:xfrm>
            <a:off x="8810625" y="33655"/>
            <a:ext cx="3314700" cy="673100"/>
          </a:xfrm>
          <a:prstGeom prst="rect">
            <a:avLst/>
          </a:prstGeom>
        </p:spPr>
      </p:pic>
      <p:grpSp>
        <p:nvGrpSpPr>
          <p:cNvPr id="12" name="组合 11"/>
          <p:cNvGrpSpPr/>
          <p:nvPr/>
        </p:nvGrpSpPr>
        <p:grpSpPr>
          <a:xfrm>
            <a:off x="220345" y="1160145"/>
            <a:ext cx="11717020" cy="5262245"/>
            <a:chOff x="347" y="1827"/>
            <a:chExt cx="18452" cy="8287"/>
          </a:xfrm>
        </p:grpSpPr>
        <p:pic>
          <p:nvPicPr>
            <p:cNvPr id="6" name="图片 5"/>
            <p:cNvPicPr>
              <a:picLocks noChangeAspect="1"/>
            </p:cNvPicPr>
            <p:nvPr/>
          </p:nvPicPr>
          <p:blipFill>
            <a:blip r:embed="rId2"/>
            <a:stretch>
              <a:fillRect/>
            </a:stretch>
          </p:blipFill>
          <p:spPr>
            <a:xfrm>
              <a:off x="347" y="1827"/>
              <a:ext cx="14105" cy="7915"/>
            </a:xfrm>
            <a:prstGeom prst="rect">
              <a:avLst/>
            </a:prstGeom>
          </p:spPr>
        </p:pic>
        <p:sp>
          <p:nvSpPr>
            <p:cNvPr id="9" name="文本框 8"/>
            <p:cNvSpPr txBox="1"/>
            <p:nvPr/>
          </p:nvSpPr>
          <p:spPr>
            <a:xfrm>
              <a:off x="14647" y="1827"/>
              <a:ext cx="4152" cy="8287"/>
            </a:xfrm>
            <a:prstGeom prst="rect">
              <a:avLst/>
            </a:prstGeom>
          </p:spPr>
          <p:txBody>
            <a:bodyPr wrap="square">
              <a:spAutoFit/>
            </a:bodyPr>
            <a:p>
              <a:pPr marL="285750" indent="-285750">
                <a:buFont typeface="Arial" panose="020B0604020202020204" pitchFamily="34" charset="0"/>
                <a:buChar char="•"/>
              </a:pPr>
              <a:r>
                <a:rPr lang="zh-CN" altLang="en-US" sz="1600" i="0">
                  <a:solidFill>
                    <a:srgbClr val="000000"/>
                  </a:solidFill>
                  <a:latin typeface="微软雅黑" panose="020B0503020204020204" charset="-122"/>
                  <a:ea typeface="微软雅黑" panose="020B0503020204020204" charset="-122"/>
                  <a:cs typeface="微软雅黑" panose="020B0503020204020204" charset="-122"/>
                </a:rPr>
                <a:t>选择了三种不同的</a:t>
              </a:r>
              <a:r>
                <a:rPr lang="en-US" altLang="zh-CN" sz="1600" i="0">
                  <a:solidFill>
                    <a:srgbClr val="000000"/>
                  </a:solidFill>
                  <a:latin typeface="微软雅黑" panose="020B0503020204020204" charset="-122"/>
                  <a:ea typeface="微软雅黑" panose="020B0503020204020204" charset="-122"/>
                  <a:cs typeface="微软雅黑" panose="020B0503020204020204" charset="-122"/>
                </a:rPr>
                <a:t>SOTA</a:t>
              </a:r>
              <a:r>
                <a:rPr lang="zh-CN" altLang="en-US" sz="1600" i="0">
                  <a:solidFill>
                    <a:srgbClr val="000000"/>
                  </a:solidFill>
                  <a:latin typeface="微软雅黑" panose="020B0503020204020204" charset="-122"/>
                  <a:ea typeface="微软雅黑" panose="020B0503020204020204" charset="-122"/>
                  <a:cs typeface="微软雅黑" panose="020B0503020204020204" charset="-122"/>
                </a:rPr>
                <a:t>方法作为起点。每种</a:t>
              </a:r>
              <a:r>
                <a:rPr lang="en-US" altLang="zh-CN" sz="1600" i="0">
                  <a:solidFill>
                    <a:srgbClr val="000000"/>
                  </a:solidFill>
                  <a:latin typeface="微软雅黑" panose="020B0503020204020204" charset="-122"/>
                  <a:ea typeface="微软雅黑" panose="020B0503020204020204" charset="-122"/>
                  <a:cs typeface="微软雅黑" panose="020B0503020204020204" charset="-122"/>
                </a:rPr>
                <a:t>SOTA</a:t>
              </a:r>
              <a:r>
                <a:rPr lang="zh-CN" altLang="en-US" sz="1600" i="0">
                  <a:solidFill>
                    <a:srgbClr val="000000"/>
                  </a:solidFill>
                  <a:latin typeface="微软雅黑" panose="020B0503020204020204" charset="-122"/>
                  <a:ea typeface="微软雅黑" panose="020B0503020204020204" charset="-122"/>
                  <a:cs typeface="微软雅黑" panose="020B0503020204020204" charset="-122"/>
                </a:rPr>
                <a:t>方法都是手动复现的，</a:t>
              </a:r>
              <a:r>
                <a:rPr lang="zh-CN" altLang="en-US" sz="1600" i="0">
                  <a:solidFill>
                    <a:srgbClr val="000000"/>
                  </a:solidFill>
                  <a:latin typeface="微软雅黑" panose="020B0503020204020204" charset="-122"/>
                  <a:ea typeface="微软雅黑" panose="020B0503020204020204" charset="-122"/>
                  <a:cs typeface="微软雅黑" panose="020B0503020204020204" charset="-122"/>
                </a:rPr>
                <a:t>并保留了执行日志和测试脚本，以便</a:t>
              </a:r>
              <a:r>
                <a:rPr lang="en-US" altLang="zh-CN" sz="1600" i="0">
                  <a:solidFill>
                    <a:srgbClr val="000000"/>
                  </a:solidFill>
                  <a:latin typeface="微软雅黑" panose="020B0503020204020204" charset="-122"/>
                  <a:ea typeface="微软雅黑" panose="020B0503020204020204" charset="-122"/>
                  <a:cs typeface="微软雅黑" panose="020B0503020204020204" charset="-122"/>
                </a:rPr>
                <a:t>DeepScientist</a:t>
              </a:r>
              <a:r>
                <a:rPr lang="zh-CN" altLang="en-US" sz="1600" i="0">
                  <a:solidFill>
                    <a:srgbClr val="000000"/>
                  </a:solidFill>
                  <a:latin typeface="微软雅黑" panose="020B0503020204020204" charset="-122"/>
                  <a:ea typeface="微软雅黑" panose="020B0503020204020204" charset="-122"/>
                  <a:cs typeface="微软雅黑" panose="020B0503020204020204" charset="-122"/>
                </a:rPr>
                <a:t>专注于研究进展。</a:t>
              </a:r>
              <a:endParaRPr lang="zh-CN" altLang="en-US" sz="1600" i="0">
                <a:solidFill>
                  <a:srgbClr val="000000"/>
                </a:solidFill>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r>
                <a:rPr lang="en-US" altLang="zh-CN" sz="1600" i="0">
                  <a:solidFill>
                    <a:srgbClr val="000000"/>
                  </a:solidFill>
                  <a:latin typeface="微软雅黑" panose="020B0503020204020204" charset="-122"/>
                  <a:ea typeface="微软雅黑" panose="020B0503020204020204" charset="-122"/>
                  <a:cs typeface="微软雅黑" panose="020B0503020204020204" charset="-122"/>
                </a:rPr>
                <a:t>DeepScientist</a:t>
              </a:r>
              <a:r>
                <a:rPr lang="zh-CN" altLang="en-US" sz="1600" i="0">
                  <a:solidFill>
                    <a:srgbClr val="000000"/>
                  </a:solidFill>
                  <a:latin typeface="微软雅黑" panose="020B0503020204020204" charset="-122"/>
                  <a:ea typeface="微软雅黑" panose="020B0503020204020204" charset="-122"/>
                  <a:cs typeface="微软雅黑" panose="020B0503020204020204" charset="-122"/>
                </a:rPr>
                <a:t>配备了两台服务器，每台服务器配备了</a:t>
              </a:r>
              <a:r>
                <a:rPr lang="en-US" altLang="zh-CN" sz="1600" i="0">
                  <a:solidFill>
                    <a:srgbClr val="000000"/>
                  </a:solidFill>
                  <a:latin typeface="微软雅黑" panose="020B0503020204020204" charset="-122"/>
                  <a:ea typeface="微软雅黑" panose="020B0503020204020204" charset="-122"/>
                  <a:cs typeface="微软雅黑" panose="020B0503020204020204" charset="-122"/>
                </a:rPr>
                <a:t>8</a:t>
              </a:r>
              <a:r>
                <a:rPr lang="zh-CN" altLang="en-US" sz="1600" i="0">
                  <a:solidFill>
                    <a:srgbClr val="000000"/>
                  </a:solidFill>
                  <a:latin typeface="微软雅黑" panose="020B0503020204020204" charset="-122"/>
                  <a:ea typeface="微软雅黑" panose="020B0503020204020204" charset="-122"/>
                  <a:cs typeface="微软雅黑" panose="020B0503020204020204" charset="-122"/>
                </a:rPr>
                <a:t>个</a:t>
              </a:r>
              <a:r>
                <a:rPr lang="en-US" altLang="zh-CN" sz="1600" i="0">
                  <a:solidFill>
                    <a:srgbClr val="000000"/>
                  </a:solidFill>
                  <a:latin typeface="微软雅黑" panose="020B0503020204020204" charset="-122"/>
                  <a:ea typeface="微软雅黑" panose="020B0503020204020204" charset="-122"/>
                  <a:cs typeface="微软雅黑" panose="020B0503020204020204" charset="-122"/>
                </a:rPr>
                <a:t>Nvidia H800 GPU</a:t>
              </a:r>
              <a:r>
                <a:rPr lang="zh-CN" altLang="en-US" sz="1600" i="0">
                  <a:solidFill>
                    <a:srgbClr val="000000"/>
                  </a:solidFill>
                  <a:latin typeface="微软雅黑" panose="020B0503020204020204" charset="-122"/>
                  <a:ea typeface="微软雅黑" panose="020B0503020204020204" charset="-122"/>
                  <a:cs typeface="微软雅黑" panose="020B0503020204020204" charset="-122"/>
                </a:rPr>
                <a:t>。</a:t>
              </a:r>
              <a:endParaRPr lang="zh-CN" altLang="en-US" sz="1600" i="0">
                <a:solidFill>
                  <a:srgbClr val="000000"/>
                </a:solidFill>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r>
                <a:rPr lang="zh-CN" altLang="en-US" sz="1600" i="0">
                  <a:solidFill>
                    <a:srgbClr val="000000"/>
                  </a:solidFill>
                  <a:latin typeface="微软雅黑" panose="020B0503020204020204" charset="-122"/>
                  <a:ea typeface="微软雅黑" panose="020B0503020204020204" charset="-122"/>
                  <a:cs typeface="微软雅黑" panose="020B0503020204020204" charset="-122"/>
                </a:rPr>
                <a:t>为了最大限度地提高利用率，我们为每个</a:t>
              </a:r>
              <a:r>
                <a:rPr lang="en-US" altLang="zh-CN" sz="1600" i="0">
                  <a:solidFill>
                    <a:srgbClr val="000000"/>
                  </a:solidFill>
                  <a:latin typeface="微软雅黑" panose="020B0503020204020204" charset="-122"/>
                  <a:ea typeface="微软雅黑" panose="020B0503020204020204" charset="-122"/>
                  <a:cs typeface="微软雅黑" panose="020B0503020204020204" charset="-122"/>
                </a:rPr>
                <a:t>GPU</a:t>
              </a:r>
              <a:r>
                <a:rPr lang="zh-CN" altLang="en-US" sz="1600" i="0">
                  <a:solidFill>
                    <a:srgbClr val="000000"/>
                  </a:solidFill>
                  <a:latin typeface="微软雅黑" panose="020B0503020204020204" charset="-122"/>
                  <a:ea typeface="微软雅黑" panose="020B0503020204020204" charset="-122"/>
                  <a:cs typeface="微软雅黑" panose="020B0503020204020204" charset="-122"/>
                </a:rPr>
                <a:t>启动了一个单独的系统实例，采用</a:t>
              </a:r>
              <a:r>
                <a:rPr lang="en-US" altLang="zh-CN" sz="1600" b="1" i="0">
                  <a:solidFill>
                    <a:schemeClr val="accent6">
                      <a:lumMod val="50000"/>
                    </a:schemeClr>
                  </a:solidFill>
                  <a:latin typeface="微软雅黑" panose="020B0503020204020204" charset="-122"/>
                  <a:ea typeface="微软雅黑" panose="020B0503020204020204" charset="-122"/>
                  <a:cs typeface="微软雅黑" panose="020B0503020204020204" charset="-122"/>
                </a:rPr>
                <a:t>Gemini-2.5-Pro</a:t>
              </a:r>
              <a:r>
                <a:rPr lang="zh-CN" altLang="en-US" sz="1600" i="0">
                  <a:solidFill>
                    <a:srgbClr val="000000"/>
                  </a:solidFill>
                  <a:latin typeface="微软雅黑" panose="020B0503020204020204" charset="-122"/>
                  <a:ea typeface="微软雅黑" panose="020B0503020204020204" charset="-122"/>
                  <a:cs typeface="微软雅黑" panose="020B0503020204020204" charset="-122"/>
                </a:rPr>
                <a:t>模型作为核心逻辑，采用</a:t>
              </a:r>
              <a:r>
                <a:rPr lang="en-US" altLang="zh-CN" sz="1600" b="1" i="0">
                  <a:solidFill>
                    <a:schemeClr val="accent6">
                      <a:lumMod val="50000"/>
                    </a:schemeClr>
                  </a:solidFill>
                  <a:latin typeface="微软雅黑" panose="020B0503020204020204" charset="-122"/>
                  <a:ea typeface="微软雅黑" panose="020B0503020204020204" charset="-122"/>
                  <a:cs typeface="微软雅黑" panose="020B0503020204020204" charset="-122"/>
                </a:rPr>
                <a:t>Claude-4-Opus</a:t>
              </a:r>
              <a:r>
                <a:rPr lang="zh-CN" altLang="en-US" sz="1600" i="0">
                  <a:solidFill>
                    <a:srgbClr val="000000"/>
                  </a:solidFill>
                  <a:latin typeface="微软雅黑" panose="020B0503020204020204" charset="-122"/>
                  <a:ea typeface="微软雅黑" panose="020B0503020204020204" charset="-122"/>
                  <a:cs typeface="微软雅黑" panose="020B0503020204020204" charset="-122"/>
                </a:rPr>
                <a:t>模型作为强大的代码生成功能。三位人类专家监督这一过程，以验证输出并过滤掉幻觉。</a:t>
              </a:r>
              <a:endParaRPr lang="zh-CN" altLang="en-US" sz="1600" i="0">
                <a:solidFill>
                  <a:srgbClr val="000000"/>
                </a:solidFill>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strips(downLeft)">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0" y="-635"/>
            <a:ext cx="12192000" cy="707390"/>
            <a:chOff x="0" y="0"/>
            <a:chExt cx="19200" cy="1114"/>
          </a:xfrm>
        </p:grpSpPr>
        <p:sp>
          <p:nvSpPr>
            <p:cNvPr id="3" name="矩形 2"/>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Experiments</a:t>
              </a:r>
              <a:endParaRPr lang="en-US" altLang="zh-CN" sz="14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5</a:t>
              </a:r>
              <a:endParaRPr lang="en-US" altLang="zh-CN" sz="4000" b="1">
                <a:solidFill>
                  <a:schemeClr val="bg1"/>
                </a:solidFill>
                <a:latin typeface="微软雅黑" panose="020B0503020204020204" charset="-122"/>
                <a:ea typeface="微软雅黑" panose="020B0503020204020204" charset="-122"/>
              </a:endParaRPr>
            </a:p>
          </p:txBody>
        </p:sp>
      </p:grpSp>
      <p:pic>
        <p:nvPicPr>
          <p:cNvPr id="8" name="图片 7" descr="logo"/>
          <p:cNvPicPr>
            <a:picLocks noChangeAspect="1"/>
          </p:cNvPicPr>
          <p:nvPr/>
        </p:nvPicPr>
        <p:blipFill>
          <a:blip r:embed="rId1"/>
          <a:stretch>
            <a:fillRect/>
          </a:stretch>
        </p:blipFill>
        <p:spPr>
          <a:xfrm>
            <a:off x="8810625" y="33655"/>
            <a:ext cx="3314700" cy="673100"/>
          </a:xfrm>
          <a:prstGeom prst="rect">
            <a:avLst/>
          </a:prstGeom>
        </p:spPr>
      </p:pic>
      <p:grpSp>
        <p:nvGrpSpPr>
          <p:cNvPr id="9" name="组合 8"/>
          <p:cNvGrpSpPr/>
          <p:nvPr/>
        </p:nvGrpSpPr>
        <p:grpSpPr>
          <a:xfrm>
            <a:off x="346075" y="955040"/>
            <a:ext cx="11388090" cy="5610860"/>
            <a:chOff x="545" y="1504"/>
            <a:chExt cx="17934" cy="8836"/>
          </a:xfrm>
        </p:grpSpPr>
        <p:sp>
          <p:nvSpPr>
            <p:cNvPr id="27" name="圆角矩形 26"/>
            <p:cNvSpPr/>
            <p:nvPr/>
          </p:nvSpPr>
          <p:spPr>
            <a:xfrm>
              <a:off x="2021" y="1504"/>
              <a:ext cx="14784" cy="988"/>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en-US" altLang="zh-CN" sz="2000" b="1">
                  <a:solidFill>
                    <a:schemeClr val="accent6">
                      <a:lumMod val="50000"/>
                    </a:schemeClr>
                  </a:solidFill>
                  <a:latin typeface="微软雅黑" panose="020B0503020204020204" charset="-122"/>
                  <a:ea typeface="微软雅黑" panose="020B0503020204020204" charset="-122"/>
                </a:rPr>
                <a:t>DEEPSCIENTIST ACHIEVEMENTS ON THREE RESEARCH DOMAINS</a:t>
              </a:r>
              <a:endParaRPr lang="en-US" altLang="zh-CN" sz="2000" b="1">
                <a:solidFill>
                  <a:schemeClr val="accent6">
                    <a:lumMod val="50000"/>
                  </a:schemeClr>
                </a:solidFill>
                <a:latin typeface="微软雅黑" panose="020B0503020204020204" charset="-122"/>
                <a:ea typeface="微软雅黑" panose="020B0503020204020204" charset="-122"/>
              </a:endParaRPr>
            </a:p>
          </p:txBody>
        </p:sp>
        <p:grpSp>
          <p:nvGrpSpPr>
            <p:cNvPr id="11" name="组合 10"/>
            <p:cNvGrpSpPr/>
            <p:nvPr/>
          </p:nvGrpSpPr>
          <p:grpSpPr>
            <a:xfrm>
              <a:off x="10555" y="2650"/>
              <a:ext cx="7924" cy="7691"/>
              <a:chOff x="419" y="1928"/>
              <a:chExt cx="5412" cy="8521"/>
            </a:xfrm>
          </p:grpSpPr>
          <p:sp>
            <p:nvSpPr>
              <p:cNvPr id="18" name="圆角矩形 17"/>
              <p:cNvSpPr/>
              <p:nvPr/>
            </p:nvSpPr>
            <p:spPr>
              <a:xfrm>
                <a:off x="419" y="2469"/>
                <a:ext cx="5412" cy="7980"/>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t" anchorCtr="0"/>
              <a:p>
                <a:pPr marL="285750" indent="-285750" algn="l" fontAlgn="auto">
                  <a:lnSpc>
                    <a:spcPct val="150000"/>
                  </a:lnSpc>
                  <a:buFont typeface="Arial" panose="020B0604020202020204" pitchFamily="34" charset="0"/>
                  <a:buChar char="•"/>
                </a:pPr>
                <a:r>
                  <a:rPr lang="zh-CN" altLang="en-US" sz="1600" b="1">
                    <a:solidFill>
                      <a:schemeClr val="accent6">
                        <a:lumMod val="50000"/>
                      </a:schemeClr>
                    </a:solidFill>
                    <a:latin typeface="微软雅黑" panose="020B0503020204020204" charset="-122"/>
                    <a:ea typeface="微软雅黑" panose="020B0503020204020204" charset="-122"/>
                  </a:rPr>
                  <a:t>核心问题：</a:t>
                </a:r>
                <a:r>
                  <a:rPr lang="zh-CN" altLang="en-US" sz="1600">
                    <a:solidFill>
                      <a:schemeClr val="tx1"/>
                    </a:solidFill>
                    <a:latin typeface="微软雅黑" panose="020B0503020204020204" charset="-122"/>
                    <a:ea typeface="微软雅黑" panose="020B0503020204020204" charset="-122"/>
                  </a:rPr>
                  <a:t>在基于大语言模型（</a:t>
                </a:r>
                <a:r>
                  <a:rPr lang="en-US" altLang="zh-CN" sz="1600">
                    <a:solidFill>
                      <a:schemeClr val="tx1"/>
                    </a:solidFill>
                    <a:latin typeface="微软雅黑" panose="020B0503020204020204" charset="-122"/>
                    <a:ea typeface="微软雅黑" panose="020B0503020204020204" charset="-122"/>
                  </a:rPr>
                  <a:t>LLM</a:t>
                </a:r>
                <a:r>
                  <a:rPr lang="zh-CN" altLang="en-US" sz="1600">
                    <a:solidFill>
                      <a:schemeClr val="tx1"/>
                    </a:solidFill>
                    <a:latin typeface="微软雅黑" panose="020B0503020204020204" charset="-122"/>
                    <a:ea typeface="微软雅黑" panose="020B0503020204020204" charset="-122"/>
                  </a:rPr>
                  <a:t>）的多智能体系统中，是哪个智能体导致了任务失败，以及是在何时失败的？</a:t>
                </a:r>
                <a:endParaRPr lang="zh-CN" altLang="en-US" sz="1600">
                  <a:solidFill>
                    <a:schemeClr val="tx1"/>
                  </a:solidFill>
                  <a:latin typeface="微软雅黑" panose="020B0503020204020204" charset="-122"/>
                  <a:ea typeface="微软雅黑" panose="020B0503020204020204" charset="-122"/>
                </a:endParaRPr>
              </a:p>
              <a:p>
                <a:pPr marL="285750" indent="-285750" algn="l" fontAlgn="auto">
                  <a:lnSpc>
                    <a:spcPct val="150000"/>
                  </a:lnSpc>
                  <a:buFont typeface="Arial" panose="020B0604020202020204" pitchFamily="34" charset="0"/>
                  <a:buChar char="•"/>
                </a:pPr>
                <a:r>
                  <a:rPr lang="zh-CN" altLang="en-US" sz="1600">
                    <a:solidFill>
                      <a:schemeClr val="tx1"/>
                    </a:solidFill>
                    <a:latin typeface="微软雅黑" panose="020B0503020204020204" charset="-122"/>
                    <a:ea typeface="微软雅黑" panose="020B0503020204020204" charset="-122"/>
                  </a:rPr>
                  <a:t>从</a:t>
                </a:r>
                <a:r>
                  <a:rPr lang="zh-CN" altLang="en-US" sz="1600" b="1">
                    <a:solidFill>
                      <a:schemeClr val="accent6">
                        <a:lumMod val="50000"/>
                      </a:schemeClr>
                    </a:solidFill>
                    <a:latin typeface="微软雅黑" panose="020B0503020204020204" charset="-122"/>
                    <a:ea typeface="微软雅黑" panose="020B0503020204020204" charset="-122"/>
                  </a:rPr>
                  <a:t>基准方法</a:t>
                </a:r>
                <a:r>
                  <a:rPr lang="en-US" altLang="zh-CN" sz="1600">
                    <a:solidFill>
                      <a:schemeClr val="tx1"/>
                    </a:solidFill>
                    <a:latin typeface="微软雅黑" panose="020B0503020204020204" charset="-122"/>
                    <a:ea typeface="微软雅黑" panose="020B0503020204020204" charset="-122"/>
                  </a:rPr>
                  <a:t> “All at once”</a:t>
                </a:r>
                <a:r>
                  <a:rPr lang="zh-CN" altLang="en-US" sz="1600">
                    <a:solidFill>
                      <a:schemeClr val="tx1"/>
                    </a:solidFill>
                    <a:latin typeface="微软雅黑" panose="020B0503020204020204" charset="-122"/>
                    <a:ea typeface="微软雅黑" panose="020B0503020204020204" charset="-122"/>
                  </a:rPr>
                  <a:t>出发，</a:t>
                </a:r>
                <a:r>
                  <a:rPr lang="en-US" altLang="zh-CN" sz="1600">
                    <a:solidFill>
                      <a:schemeClr val="tx1"/>
                    </a:solidFill>
                    <a:latin typeface="微软雅黑" panose="020B0503020204020204" charset="-122"/>
                    <a:ea typeface="微软雅黑" panose="020B0503020204020204" charset="-122"/>
                  </a:rPr>
                  <a:t>DeepScientist</a:t>
                </a:r>
                <a:r>
                  <a:rPr lang="zh-CN" altLang="en-US" sz="1600">
                    <a:solidFill>
                      <a:schemeClr val="tx1"/>
                    </a:solidFill>
                    <a:latin typeface="微软雅黑" panose="020B0503020204020204" charset="-122"/>
                    <a:ea typeface="微软雅黑" panose="020B0503020204020204" charset="-122"/>
                  </a:rPr>
                  <a:t>发现当前方法缺乏故障归因所必需的反事实推理能力。</a:t>
                </a:r>
                <a:endParaRPr lang="zh-CN" altLang="en-US" sz="1600">
                  <a:solidFill>
                    <a:schemeClr val="tx1"/>
                  </a:solidFill>
                  <a:latin typeface="微软雅黑" panose="020B0503020204020204" charset="-122"/>
                  <a:ea typeface="微软雅黑" panose="020B0503020204020204" charset="-122"/>
                </a:endParaRPr>
              </a:p>
              <a:p>
                <a:pPr marL="285750" indent="-285750" algn="l" fontAlgn="auto">
                  <a:lnSpc>
                    <a:spcPct val="150000"/>
                  </a:lnSpc>
                  <a:buFont typeface="Arial" panose="020B0604020202020204" pitchFamily="34" charset="0"/>
                  <a:buChar char="•"/>
                </a:pPr>
                <a:r>
                  <a:rPr lang="zh-CN" altLang="en-US" sz="1600">
                    <a:solidFill>
                      <a:schemeClr val="tx1"/>
                    </a:solidFill>
                    <a:latin typeface="微软雅黑" panose="020B0503020204020204" charset="-122"/>
                    <a:ea typeface="微软雅黑" panose="020B0503020204020204" charset="-122"/>
                  </a:rPr>
                  <a:t>它最终提出了</a:t>
                </a:r>
                <a:r>
                  <a:rPr lang="zh-CN" altLang="en-US" sz="1600" b="1">
                    <a:solidFill>
                      <a:schemeClr val="accent6">
                        <a:lumMod val="50000"/>
                      </a:schemeClr>
                    </a:solidFill>
                    <a:latin typeface="微软雅黑" panose="020B0503020204020204" charset="-122"/>
                    <a:ea typeface="微软雅黑" panose="020B0503020204020204" charset="-122"/>
                  </a:rPr>
                  <a:t> A2P 方法</a:t>
                </a:r>
                <a:r>
                  <a:rPr lang="zh-CN" altLang="en-US" sz="1600">
                    <a:solidFill>
                      <a:schemeClr val="tx1"/>
                    </a:solidFill>
                    <a:latin typeface="微软雅黑" panose="020B0503020204020204" charset="-122"/>
                    <a:ea typeface="微软雅黑" panose="020B0503020204020204" charset="-122"/>
                  </a:rPr>
                  <a:t>。其核心创新点在于将故障归因从模式识别提升到因果推理层面，通过预测所提出的修复措施是否能带来成功，填补了反事实推理能力方面的关键缺口。</a:t>
                </a:r>
                <a:endParaRPr lang="zh-CN" altLang="en-US" sz="1600">
                  <a:solidFill>
                    <a:schemeClr val="tx1"/>
                  </a:solidFill>
                  <a:latin typeface="微软雅黑" panose="020B0503020204020204" charset="-122"/>
                  <a:ea typeface="微软雅黑" panose="020B0503020204020204" charset="-122"/>
                </a:endParaRPr>
              </a:p>
              <a:p>
                <a:pPr marL="285750" indent="-285750" algn="l" fontAlgn="auto">
                  <a:lnSpc>
                    <a:spcPct val="150000"/>
                  </a:lnSpc>
                  <a:buFont typeface="Arial" panose="020B0604020202020204" pitchFamily="34" charset="0"/>
                  <a:buChar char="•"/>
                </a:pPr>
                <a:r>
                  <a:rPr lang="zh-CN" altLang="en-US" sz="1600">
                    <a:solidFill>
                      <a:schemeClr val="tx1"/>
                    </a:solidFill>
                    <a:latin typeface="微软雅黑" panose="020B0503020204020204" charset="-122"/>
                    <a:ea typeface="微软雅黑" panose="020B0503020204020204" charset="-122"/>
                  </a:rPr>
                  <a:t>在基准测试中，</a:t>
                </a:r>
                <a:r>
                  <a:rPr lang="en-US" altLang="zh-CN" sz="1600">
                    <a:solidFill>
                      <a:schemeClr val="tx1"/>
                    </a:solidFill>
                    <a:latin typeface="微软雅黑" panose="020B0503020204020204" charset="-122"/>
                    <a:ea typeface="微软雅黑" panose="020B0503020204020204" charset="-122"/>
                  </a:rPr>
                  <a:t>A2P </a:t>
                </a:r>
                <a:r>
                  <a:rPr lang="zh-CN" altLang="en-US" sz="1600">
                    <a:solidFill>
                      <a:schemeClr val="tx1"/>
                    </a:solidFill>
                    <a:latin typeface="微软雅黑" panose="020B0503020204020204" charset="-122"/>
                    <a:ea typeface="微软雅黑" panose="020B0503020204020204" charset="-122"/>
                  </a:rPr>
                  <a:t>分别取得了</a:t>
                </a:r>
                <a:r>
                  <a:rPr lang="en-US" altLang="zh-CN" sz="1600">
                    <a:solidFill>
                      <a:schemeClr val="tx1"/>
                    </a:solidFill>
                    <a:latin typeface="微软雅黑" panose="020B0503020204020204" charset="-122"/>
                    <a:ea typeface="微软雅黑" panose="020B0503020204020204" charset="-122"/>
                  </a:rPr>
                  <a:t> 29.31 </a:t>
                </a:r>
                <a:r>
                  <a:rPr lang="zh-CN" altLang="en-US" sz="1600">
                    <a:solidFill>
                      <a:schemeClr val="tx1"/>
                    </a:solidFill>
                    <a:latin typeface="微软雅黑" panose="020B0503020204020204" charset="-122"/>
                    <a:ea typeface="微软雅黑" panose="020B0503020204020204" charset="-122"/>
                  </a:rPr>
                  <a:t>分和</a:t>
                </a:r>
                <a:r>
                  <a:rPr lang="en-US" altLang="zh-CN" sz="1600">
                    <a:solidFill>
                      <a:schemeClr val="tx1"/>
                    </a:solidFill>
                    <a:latin typeface="微软雅黑" panose="020B0503020204020204" charset="-122"/>
                    <a:ea typeface="微软雅黑" panose="020B0503020204020204" charset="-122"/>
                  </a:rPr>
                  <a:t> 47.46 </a:t>
                </a:r>
                <a:r>
                  <a:rPr lang="zh-CN" altLang="en-US" sz="1600">
                    <a:solidFill>
                      <a:schemeClr val="tx1"/>
                    </a:solidFill>
                    <a:latin typeface="微软雅黑" panose="020B0503020204020204" charset="-122"/>
                    <a:ea typeface="微软雅黑" panose="020B0503020204020204" charset="-122"/>
                  </a:rPr>
                  <a:t>分，创造了</a:t>
                </a:r>
                <a:r>
                  <a:rPr lang="zh-CN" altLang="en-US" sz="1600" b="1">
                    <a:solidFill>
                      <a:schemeClr val="accent6">
                        <a:lumMod val="50000"/>
                      </a:schemeClr>
                    </a:solidFill>
                    <a:latin typeface="微软雅黑" panose="020B0503020204020204" charset="-122"/>
                    <a:ea typeface="微软雅黑" panose="020B0503020204020204" charset="-122"/>
                  </a:rPr>
                  <a:t>新的最先进（</a:t>
                </a:r>
                <a:r>
                  <a:rPr lang="en-US" altLang="zh-CN" sz="1600" b="1">
                    <a:solidFill>
                      <a:schemeClr val="accent6">
                        <a:lumMod val="50000"/>
                      </a:schemeClr>
                    </a:solidFill>
                    <a:latin typeface="微软雅黑" panose="020B0503020204020204" charset="-122"/>
                    <a:ea typeface="微软雅黑" panose="020B0503020204020204" charset="-122"/>
                  </a:rPr>
                  <a:t>SOTA</a:t>
                </a:r>
                <a:r>
                  <a:rPr lang="zh-CN" altLang="en-US" sz="1600" b="1">
                    <a:solidFill>
                      <a:schemeClr val="accent6">
                        <a:lumMod val="50000"/>
                      </a:schemeClr>
                    </a:solidFill>
                    <a:latin typeface="微软雅黑" panose="020B0503020204020204" charset="-122"/>
                    <a:ea typeface="微软雅黑" panose="020B0503020204020204" charset="-122"/>
                  </a:rPr>
                  <a:t>）水平</a:t>
                </a:r>
                <a:r>
                  <a:rPr lang="zh-CN" altLang="en-US" sz="1600">
                    <a:solidFill>
                      <a:schemeClr val="tx1"/>
                    </a:solidFill>
                    <a:latin typeface="微软雅黑" panose="020B0503020204020204" charset="-122"/>
                    <a:ea typeface="微软雅黑" panose="020B0503020204020204" charset="-122"/>
                  </a:rPr>
                  <a:t>。</a:t>
                </a:r>
                <a:endParaRPr lang="zh-CN" altLang="en-US" sz="1600">
                  <a:solidFill>
                    <a:schemeClr val="tx1"/>
                  </a:solidFill>
                  <a:latin typeface="微软雅黑" panose="020B0503020204020204" charset="-122"/>
                  <a:ea typeface="微软雅黑" panose="020B0503020204020204" charset="-122"/>
                </a:endParaRPr>
              </a:p>
            </p:txBody>
          </p:sp>
          <p:sp>
            <p:nvSpPr>
              <p:cNvPr id="10" name="矩形 9"/>
              <p:cNvSpPr/>
              <p:nvPr/>
            </p:nvSpPr>
            <p:spPr>
              <a:xfrm>
                <a:off x="1138" y="1928"/>
                <a:ext cx="3744" cy="688"/>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b="1">
                    <a:latin typeface="微软雅黑" panose="020B0503020204020204" charset="-122"/>
                    <a:ea typeface="微软雅黑" panose="020B0503020204020204" charset="-122"/>
                    <a:cs typeface="微软雅黑" panose="020B0503020204020204" charset="-122"/>
                  </a:rPr>
                  <a:t>Agents Failure Attribution</a:t>
                </a:r>
                <a:endParaRPr lang="en-US" altLang="zh-CN" sz="1600" b="1">
                  <a:latin typeface="微软雅黑" panose="020B0503020204020204" charset="-122"/>
                  <a:ea typeface="微软雅黑" panose="020B0503020204020204" charset="-122"/>
                  <a:cs typeface="微软雅黑" panose="020B0503020204020204" charset="-122"/>
                </a:endParaRPr>
              </a:p>
            </p:txBody>
          </p:sp>
        </p:grpSp>
        <p:pic>
          <p:nvPicPr>
            <p:cNvPr id="6" name="图片 5"/>
            <p:cNvPicPr>
              <a:picLocks noChangeAspect="1"/>
            </p:cNvPicPr>
            <p:nvPr/>
          </p:nvPicPr>
          <p:blipFill>
            <a:blip r:embed="rId2"/>
            <a:stretch>
              <a:fillRect/>
            </a:stretch>
          </p:blipFill>
          <p:spPr>
            <a:xfrm>
              <a:off x="545" y="3231"/>
              <a:ext cx="9684" cy="6529"/>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strips(downLeft)">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0" y="-635"/>
            <a:ext cx="12192000" cy="707390"/>
            <a:chOff x="0" y="0"/>
            <a:chExt cx="19200" cy="1114"/>
          </a:xfrm>
        </p:grpSpPr>
        <p:sp>
          <p:nvSpPr>
            <p:cNvPr id="3" name="矩形 2"/>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Experiments</a:t>
              </a:r>
              <a:endParaRPr lang="en-US" altLang="zh-CN" sz="14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5</a:t>
              </a:r>
              <a:endParaRPr lang="en-US" altLang="zh-CN" sz="4000" b="1">
                <a:solidFill>
                  <a:schemeClr val="bg1"/>
                </a:solidFill>
                <a:latin typeface="微软雅黑" panose="020B0503020204020204" charset="-122"/>
                <a:ea typeface="微软雅黑" panose="020B0503020204020204" charset="-122"/>
              </a:endParaRPr>
            </a:p>
          </p:txBody>
        </p:sp>
      </p:grpSp>
      <p:pic>
        <p:nvPicPr>
          <p:cNvPr id="8" name="图片 7" descr="logo"/>
          <p:cNvPicPr>
            <a:picLocks noChangeAspect="1"/>
          </p:cNvPicPr>
          <p:nvPr/>
        </p:nvPicPr>
        <p:blipFill>
          <a:blip r:embed="rId1"/>
          <a:stretch>
            <a:fillRect/>
          </a:stretch>
        </p:blipFill>
        <p:spPr>
          <a:xfrm>
            <a:off x="8810625" y="33655"/>
            <a:ext cx="3314700" cy="673100"/>
          </a:xfrm>
          <a:prstGeom prst="rect">
            <a:avLst/>
          </a:prstGeom>
        </p:spPr>
      </p:pic>
      <p:grpSp>
        <p:nvGrpSpPr>
          <p:cNvPr id="12" name="组合 11"/>
          <p:cNvGrpSpPr/>
          <p:nvPr/>
        </p:nvGrpSpPr>
        <p:grpSpPr>
          <a:xfrm>
            <a:off x="820420" y="955040"/>
            <a:ext cx="10622915" cy="5137785"/>
            <a:chOff x="1292" y="1504"/>
            <a:chExt cx="16729" cy="8091"/>
          </a:xfrm>
        </p:grpSpPr>
        <p:sp>
          <p:nvSpPr>
            <p:cNvPr id="27" name="圆角矩形 26"/>
            <p:cNvSpPr/>
            <p:nvPr/>
          </p:nvSpPr>
          <p:spPr>
            <a:xfrm>
              <a:off x="2021" y="1504"/>
              <a:ext cx="14784" cy="988"/>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en-US" altLang="zh-CN" sz="2000" b="1">
                  <a:solidFill>
                    <a:schemeClr val="accent6">
                      <a:lumMod val="50000"/>
                    </a:schemeClr>
                  </a:solidFill>
                  <a:latin typeface="微软雅黑" panose="020B0503020204020204" charset="-122"/>
                  <a:ea typeface="微软雅黑" panose="020B0503020204020204" charset="-122"/>
                </a:rPr>
                <a:t>DEEPSCIENTIST ACHIEVEMENTS ON THREE RESEARCH DOMAINS</a:t>
              </a:r>
              <a:endParaRPr lang="en-US" altLang="zh-CN" sz="2000" b="1">
                <a:solidFill>
                  <a:schemeClr val="accent6">
                    <a:lumMod val="50000"/>
                  </a:schemeClr>
                </a:solidFill>
                <a:latin typeface="微软雅黑" panose="020B0503020204020204" charset="-122"/>
                <a:ea typeface="微软雅黑" panose="020B0503020204020204" charset="-122"/>
              </a:endParaRPr>
            </a:p>
          </p:txBody>
        </p:sp>
        <p:grpSp>
          <p:nvGrpSpPr>
            <p:cNvPr id="11" name="组合 10"/>
            <p:cNvGrpSpPr/>
            <p:nvPr/>
          </p:nvGrpSpPr>
          <p:grpSpPr>
            <a:xfrm>
              <a:off x="7569" y="2883"/>
              <a:ext cx="10453" cy="6712"/>
              <a:chOff x="-35" y="1928"/>
              <a:chExt cx="6973" cy="7436"/>
            </a:xfrm>
          </p:grpSpPr>
          <p:sp>
            <p:nvSpPr>
              <p:cNvPr id="18" name="圆角矩形 17"/>
              <p:cNvSpPr/>
              <p:nvPr/>
            </p:nvSpPr>
            <p:spPr>
              <a:xfrm>
                <a:off x="-35" y="2469"/>
                <a:ext cx="6973" cy="6895"/>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t" anchorCtr="0"/>
              <a:p>
                <a:pPr marL="285750" indent="-285750" algn="l" fontAlgn="auto">
                  <a:lnSpc>
                    <a:spcPct val="150000"/>
                  </a:lnSpc>
                  <a:buFont typeface="Arial" panose="020B0604020202020204" pitchFamily="34" charset="0"/>
                  <a:buChar char="•"/>
                </a:pPr>
                <a:r>
                  <a:rPr lang="zh-CN" altLang="en-US" sz="1600" b="1">
                    <a:solidFill>
                      <a:schemeClr val="accent6">
                        <a:lumMod val="50000"/>
                      </a:schemeClr>
                    </a:solidFill>
                    <a:latin typeface="微软雅黑" panose="020B0503020204020204" charset="-122"/>
                    <a:ea typeface="微软雅黑" panose="020B0503020204020204" charset="-122"/>
                  </a:rPr>
                  <a:t>核心问题：</a:t>
                </a:r>
                <a:r>
                  <a:rPr lang="zh-CN" altLang="en-US" sz="1600">
                    <a:solidFill>
                      <a:schemeClr val="tx1"/>
                    </a:solidFill>
                    <a:latin typeface="微软雅黑" panose="020B0503020204020204" charset="-122"/>
                    <a:ea typeface="微软雅黑" panose="020B0503020204020204" charset="-122"/>
                  </a:rPr>
                  <a:t>大语言模型（</a:t>
                </a:r>
                <a:r>
                  <a:rPr lang="en-US" altLang="zh-CN" sz="1600">
                    <a:solidFill>
                      <a:schemeClr val="tx1"/>
                    </a:solidFill>
                    <a:latin typeface="微软雅黑" panose="020B0503020204020204" charset="-122"/>
                    <a:ea typeface="微软雅黑" panose="020B0503020204020204" charset="-122"/>
                  </a:rPr>
                  <a:t>LLM</a:t>
                </a:r>
                <a:r>
                  <a:rPr lang="zh-CN" altLang="en-US" sz="1600">
                    <a:solidFill>
                      <a:schemeClr val="tx1"/>
                    </a:solidFill>
                    <a:latin typeface="微软雅黑" panose="020B0503020204020204" charset="-122"/>
                    <a:ea typeface="微软雅黑" panose="020B0503020204020204" charset="-122"/>
                  </a:rPr>
                  <a:t>）推理加速是一个高度优化的领域，旨在最大化大语言模型推理过程中的吞吐量并降低延迟。</a:t>
                </a:r>
                <a:endParaRPr lang="zh-CN" altLang="en-US" sz="1600">
                  <a:solidFill>
                    <a:schemeClr val="tx1"/>
                  </a:solidFill>
                  <a:latin typeface="微软雅黑" panose="020B0503020204020204" charset="-122"/>
                  <a:ea typeface="微软雅黑" panose="020B0503020204020204" charset="-122"/>
                </a:endParaRPr>
              </a:p>
              <a:p>
                <a:pPr marL="285750" indent="-285750" algn="l" fontAlgn="auto">
                  <a:lnSpc>
                    <a:spcPct val="150000"/>
                  </a:lnSpc>
                  <a:buFont typeface="Arial" panose="020B0604020202020204" pitchFamily="34" charset="0"/>
                  <a:buChar char="•"/>
                </a:pPr>
                <a:r>
                  <a:rPr lang="en-US" altLang="zh-CN" sz="1600">
                    <a:solidFill>
                      <a:schemeClr val="tx1"/>
                    </a:solidFill>
                    <a:latin typeface="微软雅黑" panose="020B0503020204020204" charset="-122"/>
                    <a:ea typeface="微软雅黑" panose="020B0503020204020204" charset="-122"/>
                  </a:rPr>
                  <a:t>DeepScientist</a:t>
                </a:r>
                <a:r>
                  <a:rPr lang="zh-CN" altLang="en-US" sz="1600">
                    <a:solidFill>
                      <a:schemeClr val="tx1"/>
                    </a:solidFill>
                    <a:latin typeface="微软雅黑" panose="020B0503020204020204" charset="-122"/>
                    <a:ea typeface="微软雅黑" panose="020B0503020204020204" charset="-122"/>
                  </a:rPr>
                  <a:t>生成的</a:t>
                </a:r>
                <a:r>
                  <a:rPr lang="zh-CN" altLang="en-US" sz="1600" b="1">
                    <a:solidFill>
                      <a:schemeClr val="accent6">
                        <a:lumMod val="50000"/>
                      </a:schemeClr>
                    </a:solidFill>
                    <a:latin typeface="微软雅黑" panose="020B0503020204020204" charset="-122"/>
                    <a:ea typeface="微软雅黑" panose="020B0503020204020204" charset="-122"/>
                  </a:rPr>
                  <a:t> ACRA 方法</a:t>
                </a:r>
                <a:r>
                  <a:rPr lang="zh-CN" altLang="en-US" sz="1600">
                    <a:solidFill>
                      <a:schemeClr val="tx1"/>
                    </a:solidFill>
                    <a:latin typeface="微软雅黑" panose="020B0503020204020204" charset="-122"/>
                    <a:ea typeface="微软雅黑" panose="020B0503020204020204" charset="-122"/>
                  </a:rPr>
                  <a:t>最终通过识别稳定的后缀模式，将</a:t>
                </a:r>
                <a:r>
                  <a:rPr lang="en-US" altLang="zh-CN" sz="1600">
                    <a:solidFill>
                      <a:schemeClr val="tx1"/>
                    </a:solidFill>
                    <a:latin typeface="微软雅黑" panose="020B0503020204020204" charset="-122"/>
                    <a:ea typeface="微软雅黑" panose="020B0503020204020204" charset="-122"/>
                  </a:rPr>
                  <a:t> MPBB</a:t>
                </a:r>
                <a:r>
                  <a:rPr lang="zh-CN" altLang="en-US" sz="1600">
                    <a:solidFill>
                      <a:schemeClr val="tx1"/>
                    </a:solidFill>
                    <a:latin typeface="微软雅黑" panose="020B0503020204020204" charset="-122"/>
                    <a:ea typeface="微软雅黑" panose="020B0503020204020204" charset="-122"/>
                  </a:rPr>
                  <a:t>的人类最先进（</a:t>
                </a:r>
                <a:r>
                  <a:rPr lang="en-US" altLang="zh-CN" sz="1600">
                    <a:solidFill>
                      <a:schemeClr val="tx1"/>
                    </a:solidFill>
                    <a:latin typeface="微软雅黑" panose="020B0503020204020204" charset="-122"/>
                    <a:ea typeface="微软雅黑" panose="020B0503020204020204" charset="-122"/>
                  </a:rPr>
                  <a:t>SOTA</a:t>
                </a:r>
                <a:r>
                  <a:rPr lang="zh-CN" altLang="en-US" sz="1600">
                    <a:solidFill>
                      <a:schemeClr val="tx1"/>
                    </a:solidFill>
                    <a:latin typeface="微软雅黑" panose="020B0503020204020204" charset="-122"/>
                    <a:ea typeface="微软雅黑" panose="020B0503020204020204" charset="-122"/>
                  </a:rPr>
                  <a:t>）水平从每秒</a:t>
                </a:r>
                <a:r>
                  <a:rPr lang="en-US" altLang="zh-CN" sz="1600">
                    <a:solidFill>
                      <a:schemeClr val="tx1"/>
                    </a:solidFill>
                    <a:latin typeface="微软雅黑" panose="020B0503020204020204" charset="-122"/>
                    <a:ea typeface="微软雅黑" panose="020B0503020204020204" charset="-122"/>
                  </a:rPr>
                  <a:t> 190.25 </a:t>
                </a:r>
                <a:r>
                  <a:rPr lang="zh-CN" altLang="en-US" sz="1600">
                    <a:solidFill>
                      <a:schemeClr val="tx1"/>
                    </a:solidFill>
                    <a:latin typeface="微软雅黑" panose="020B0503020204020204" charset="-122"/>
                    <a:ea typeface="微软雅黑" panose="020B0503020204020204" charset="-122"/>
                  </a:rPr>
                  <a:t>个</a:t>
                </a:r>
                <a:r>
                  <a:rPr lang="en-US" altLang="zh-CN" sz="1600">
                    <a:solidFill>
                      <a:schemeClr val="tx1"/>
                    </a:solidFill>
                    <a:latin typeface="微软雅黑" panose="020B0503020204020204" charset="-122"/>
                    <a:ea typeface="微软雅黑" panose="020B0503020204020204" charset="-122"/>
                  </a:rPr>
                  <a:t> token </a:t>
                </a:r>
                <a:r>
                  <a:rPr lang="zh-CN" altLang="en-US" sz="1600">
                    <a:solidFill>
                      <a:schemeClr val="tx1"/>
                    </a:solidFill>
                    <a:latin typeface="微软雅黑" panose="020B0503020204020204" charset="-122"/>
                    <a:ea typeface="微软雅黑" panose="020B0503020204020204" charset="-122"/>
                  </a:rPr>
                  <a:t>提升到了每秒</a:t>
                </a:r>
                <a:r>
                  <a:rPr lang="en-US" altLang="zh-CN" sz="1600">
                    <a:solidFill>
                      <a:schemeClr val="tx1"/>
                    </a:solidFill>
                    <a:latin typeface="微软雅黑" panose="020B0503020204020204" charset="-122"/>
                    <a:ea typeface="微软雅黑" panose="020B0503020204020204" charset="-122"/>
                  </a:rPr>
                  <a:t> 193.90 </a:t>
                </a:r>
                <a:r>
                  <a:rPr lang="zh-CN" altLang="en-US" sz="1600">
                    <a:solidFill>
                      <a:schemeClr val="tx1"/>
                    </a:solidFill>
                    <a:latin typeface="微软雅黑" panose="020B0503020204020204" charset="-122"/>
                    <a:ea typeface="微软雅黑" panose="020B0503020204020204" charset="-122"/>
                  </a:rPr>
                  <a:t>个</a:t>
                </a:r>
                <a:r>
                  <a:rPr lang="en-US" altLang="zh-CN" sz="1600">
                    <a:solidFill>
                      <a:schemeClr val="tx1"/>
                    </a:solidFill>
                    <a:latin typeface="微软雅黑" panose="020B0503020204020204" charset="-122"/>
                    <a:ea typeface="微软雅黑" panose="020B0503020204020204" charset="-122"/>
                  </a:rPr>
                  <a:t> token</a:t>
                </a:r>
                <a:r>
                  <a:rPr lang="zh-CN" altLang="en-US" sz="1600">
                    <a:solidFill>
                      <a:schemeClr val="tx1"/>
                    </a:solidFill>
                    <a:latin typeface="微软雅黑" panose="020B0503020204020204" charset="-122"/>
                    <a:ea typeface="微软雅黑" panose="020B0503020204020204" charset="-122"/>
                  </a:rPr>
                  <a:t>。</a:t>
                </a:r>
                <a:endParaRPr lang="zh-CN" altLang="en-US" sz="1600">
                  <a:solidFill>
                    <a:schemeClr val="tx1"/>
                  </a:solidFill>
                  <a:latin typeface="微软雅黑" panose="020B0503020204020204" charset="-122"/>
                  <a:ea typeface="微软雅黑" panose="020B0503020204020204" charset="-122"/>
                </a:endParaRPr>
              </a:p>
              <a:p>
                <a:pPr marL="285750" indent="-285750" algn="l" fontAlgn="auto">
                  <a:lnSpc>
                    <a:spcPct val="150000"/>
                  </a:lnSpc>
                  <a:buFont typeface="Arial" panose="020B0604020202020204" pitchFamily="34" charset="0"/>
                  <a:buChar char="•"/>
                </a:pPr>
                <a:r>
                  <a:rPr lang="zh-CN" altLang="en-US" sz="1600">
                    <a:solidFill>
                      <a:schemeClr val="tx1"/>
                    </a:solidFill>
                    <a:latin typeface="微软雅黑" panose="020B0503020204020204" charset="-122"/>
                    <a:ea typeface="微软雅黑" panose="020B0503020204020204" charset="-122"/>
                  </a:rPr>
                  <a:t>从</a:t>
                </a:r>
                <a:r>
                  <a:rPr lang="zh-CN" altLang="en-US" sz="1600" b="1">
                    <a:solidFill>
                      <a:schemeClr val="accent6">
                        <a:lumMod val="50000"/>
                      </a:schemeClr>
                    </a:solidFill>
                    <a:latin typeface="微软雅黑" panose="020B0503020204020204" charset="-122"/>
                    <a:ea typeface="微软雅黑" panose="020B0503020204020204" charset="-122"/>
                  </a:rPr>
                  <a:t>科学角度</a:t>
                </a:r>
                <a:r>
                  <a:rPr lang="zh-CN" altLang="en-US" sz="1600">
                    <a:solidFill>
                      <a:schemeClr val="tx1"/>
                    </a:solidFill>
                    <a:latin typeface="微软雅黑" panose="020B0503020204020204" charset="-122"/>
                    <a:ea typeface="微软雅黑" panose="020B0503020204020204" charset="-122"/>
                  </a:rPr>
                  <a:t>来看，这项创新意义重大，因为它利用这些额外的上下文信息来动态调整解码猜测，有效地为该过程植入了长期记忆，并打破了标准解码器的上下文坍缩问题。</a:t>
                </a:r>
                <a:endParaRPr lang="zh-CN" altLang="en-US" sz="1600">
                  <a:solidFill>
                    <a:schemeClr val="tx1"/>
                  </a:solidFill>
                  <a:latin typeface="微软雅黑" panose="020B0503020204020204" charset="-122"/>
                  <a:ea typeface="微软雅黑" panose="020B0503020204020204" charset="-122"/>
                </a:endParaRPr>
              </a:p>
              <a:p>
                <a:pPr marL="285750" indent="-285750" algn="l" fontAlgn="auto">
                  <a:lnSpc>
                    <a:spcPct val="150000"/>
                  </a:lnSpc>
                  <a:buFont typeface="Arial" panose="020B0604020202020204" pitchFamily="34" charset="0"/>
                  <a:buChar char="•"/>
                </a:pPr>
                <a:r>
                  <a:rPr lang="zh-CN" altLang="en-US" sz="1600" b="1">
                    <a:solidFill>
                      <a:schemeClr val="accent6">
                        <a:lumMod val="50000"/>
                      </a:schemeClr>
                    </a:solidFill>
                    <a:latin typeface="微软雅黑" panose="020B0503020204020204" charset="-122"/>
                    <a:ea typeface="微软雅黑" panose="020B0503020204020204" charset="-122"/>
                  </a:rPr>
                  <a:t>这一发现凸显了</a:t>
                </a:r>
                <a:r>
                  <a:rPr lang="zh-CN" altLang="en-US" sz="1600" b="1">
                    <a:solidFill>
                      <a:schemeClr val="accent6">
                        <a:lumMod val="50000"/>
                      </a:schemeClr>
                    </a:solidFill>
                    <a:latin typeface="微软雅黑" panose="020B0503020204020204" charset="-122"/>
                    <a:ea typeface="微软雅黑" panose="020B0503020204020204" charset="-122"/>
                    <a:sym typeface="+mn-ea"/>
                  </a:rPr>
                  <a:t>DeepScientist</a:t>
                </a:r>
                <a:r>
                  <a:rPr lang="zh-CN" altLang="en-US" sz="1600" b="1">
                    <a:solidFill>
                      <a:schemeClr val="accent6">
                        <a:lumMod val="50000"/>
                      </a:schemeClr>
                    </a:solidFill>
                    <a:latin typeface="微软雅黑" panose="020B0503020204020204" charset="-122"/>
                    <a:ea typeface="微软雅黑" panose="020B0503020204020204" charset="-122"/>
                  </a:rPr>
                  <a:t>的首要目标：创造人类未知的新知识，而非仅仅进行工程优化。</a:t>
                </a:r>
                <a:endParaRPr lang="zh-CN" altLang="en-US" sz="1600" b="1">
                  <a:solidFill>
                    <a:schemeClr val="accent6">
                      <a:lumMod val="50000"/>
                    </a:schemeClr>
                  </a:solidFill>
                  <a:latin typeface="微软雅黑" panose="020B0503020204020204" charset="-122"/>
                  <a:ea typeface="微软雅黑" panose="020B0503020204020204" charset="-122"/>
                </a:endParaRPr>
              </a:p>
            </p:txBody>
          </p:sp>
          <p:sp>
            <p:nvSpPr>
              <p:cNvPr id="10" name="矩形 9"/>
              <p:cNvSpPr/>
              <p:nvPr/>
            </p:nvSpPr>
            <p:spPr>
              <a:xfrm>
                <a:off x="1580" y="1928"/>
                <a:ext cx="3744" cy="688"/>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b="1">
                    <a:latin typeface="微软雅黑" panose="020B0503020204020204" charset="-122"/>
                    <a:ea typeface="微软雅黑" panose="020B0503020204020204" charset="-122"/>
                    <a:cs typeface="微软雅黑" panose="020B0503020204020204" charset="-122"/>
                  </a:rPr>
                  <a:t>LLM Inference Acceleration</a:t>
                </a:r>
                <a:endParaRPr lang="en-US" altLang="zh-CN" sz="1600" b="1">
                  <a:latin typeface="微软雅黑" panose="020B0503020204020204" charset="-122"/>
                  <a:ea typeface="微软雅黑" panose="020B0503020204020204" charset="-122"/>
                  <a:cs typeface="微软雅黑" panose="020B0503020204020204" charset="-122"/>
                </a:endParaRPr>
              </a:p>
            </p:txBody>
          </p:sp>
        </p:grpSp>
        <p:pic>
          <p:nvPicPr>
            <p:cNvPr id="5" name="图片 4"/>
            <p:cNvPicPr>
              <a:picLocks noChangeAspect="1"/>
            </p:cNvPicPr>
            <p:nvPr/>
          </p:nvPicPr>
          <p:blipFill>
            <a:blip r:embed="rId2"/>
            <a:stretch>
              <a:fillRect/>
            </a:stretch>
          </p:blipFill>
          <p:spPr>
            <a:xfrm>
              <a:off x="1292" y="4076"/>
              <a:ext cx="5865" cy="3720"/>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strips(downLeft)">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0" y="-635"/>
            <a:ext cx="12192000" cy="707390"/>
            <a:chOff x="0" y="0"/>
            <a:chExt cx="19200" cy="1114"/>
          </a:xfrm>
        </p:grpSpPr>
        <p:sp>
          <p:nvSpPr>
            <p:cNvPr id="3" name="矩形 2"/>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Experiments</a:t>
              </a:r>
              <a:endParaRPr lang="en-US" altLang="zh-CN" sz="14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5</a:t>
              </a:r>
              <a:endParaRPr lang="en-US" altLang="zh-CN" sz="4000" b="1">
                <a:solidFill>
                  <a:schemeClr val="bg1"/>
                </a:solidFill>
                <a:latin typeface="微软雅黑" panose="020B0503020204020204" charset="-122"/>
                <a:ea typeface="微软雅黑" panose="020B0503020204020204" charset="-122"/>
              </a:endParaRPr>
            </a:p>
          </p:txBody>
        </p:sp>
      </p:grpSp>
      <p:pic>
        <p:nvPicPr>
          <p:cNvPr id="8" name="图片 7" descr="logo"/>
          <p:cNvPicPr>
            <a:picLocks noChangeAspect="1"/>
          </p:cNvPicPr>
          <p:nvPr/>
        </p:nvPicPr>
        <p:blipFill>
          <a:blip r:embed="rId1"/>
          <a:stretch>
            <a:fillRect/>
          </a:stretch>
        </p:blipFill>
        <p:spPr>
          <a:xfrm>
            <a:off x="8810625" y="33655"/>
            <a:ext cx="3314700" cy="673100"/>
          </a:xfrm>
          <a:prstGeom prst="rect">
            <a:avLst/>
          </a:prstGeom>
        </p:spPr>
      </p:pic>
      <p:grpSp>
        <p:nvGrpSpPr>
          <p:cNvPr id="9" name="组合 8"/>
          <p:cNvGrpSpPr/>
          <p:nvPr/>
        </p:nvGrpSpPr>
        <p:grpSpPr>
          <a:xfrm>
            <a:off x="405130" y="955040"/>
            <a:ext cx="11038205" cy="5434330"/>
            <a:chOff x="638" y="1504"/>
            <a:chExt cx="17383" cy="8558"/>
          </a:xfrm>
        </p:grpSpPr>
        <p:grpSp>
          <p:nvGrpSpPr>
            <p:cNvPr id="12" name="组合 11"/>
            <p:cNvGrpSpPr/>
            <p:nvPr/>
          </p:nvGrpSpPr>
          <p:grpSpPr>
            <a:xfrm>
              <a:off x="2021" y="1504"/>
              <a:ext cx="16001" cy="8558"/>
              <a:chOff x="2021" y="1504"/>
              <a:chExt cx="16001" cy="8558"/>
            </a:xfrm>
          </p:grpSpPr>
          <p:sp>
            <p:nvSpPr>
              <p:cNvPr id="27" name="圆角矩形 26"/>
              <p:cNvSpPr/>
              <p:nvPr/>
            </p:nvSpPr>
            <p:spPr>
              <a:xfrm>
                <a:off x="2021" y="1504"/>
                <a:ext cx="14784" cy="988"/>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en-US" altLang="zh-CN" sz="2000" b="1">
                    <a:solidFill>
                      <a:schemeClr val="accent6">
                        <a:lumMod val="50000"/>
                      </a:schemeClr>
                    </a:solidFill>
                    <a:latin typeface="微软雅黑" panose="020B0503020204020204" charset="-122"/>
                    <a:ea typeface="微软雅黑" panose="020B0503020204020204" charset="-122"/>
                  </a:rPr>
                  <a:t>DEEPSCIENTIST ACHIEVEMENTS ON THREE RESEARCH DOMAINS</a:t>
                </a:r>
                <a:endParaRPr lang="en-US" altLang="zh-CN" sz="2000" b="1">
                  <a:solidFill>
                    <a:schemeClr val="accent6">
                      <a:lumMod val="50000"/>
                    </a:schemeClr>
                  </a:solidFill>
                  <a:latin typeface="微软雅黑" panose="020B0503020204020204" charset="-122"/>
                  <a:ea typeface="微软雅黑" panose="020B0503020204020204" charset="-122"/>
                </a:endParaRPr>
              </a:p>
            </p:txBody>
          </p:sp>
          <p:grpSp>
            <p:nvGrpSpPr>
              <p:cNvPr id="11" name="组合 10"/>
              <p:cNvGrpSpPr/>
              <p:nvPr/>
            </p:nvGrpSpPr>
            <p:grpSpPr>
              <a:xfrm>
                <a:off x="7569" y="2883"/>
                <a:ext cx="10453" cy="7179"/>
                <a:chOff x="-35" y="1928"/>
                <a:chExt cx="6973" cy="7953"/>
              </a:xfrm>
            </p:grpSpPr>
            <p:sp>
              <p:nvSpPr>
                <p:cNvPr id="18" name="圆角矩形 17"/>
                <p:cNvSpPr/>
                <p:nvPr/>
              </p:nvSpPr>
              <p:spPr>
                <a:xfrm>
                  <a:off x="-35" y="2469"/>
                  <a:ext cx="6973" cy="7412"/>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t" anchorCtr="0"/>
                <a:p>
                  <a:pPr marL="285750" indent="-285750" algn="l" fontAlgn="auto">
                    <a:lnSpc>
                      <a:spcPct val="150000"/>
                    </a:lnSpc>
                    <a:buFont typeface="Arial" panose="020B0604020202020204" pitchFamily="34" charset="0"/>
                    <a:buChar char="•"/>
                  </a:pPr>
                  <a:r>
                    <a:rPr lang="zh-CN" altLang="en-US" sz="1600" b="1">
                      <a:solidFill>
                        <a:schemeClr val="accent6">
                          <a:lumMod val="50000"/>
                        </a:schemeClr>
                      </a:solidFill>
                      <a:latin typeface="微软雅黑" panose="020B0503020204020204" charset="-122"/>
                      <a:ea typeface="微软雅黑" panose="020B0503020204020204" charset="-122"/>
                    </a:rPr>
                    <a:t>核心问题：</a:t>
                  </a:r>
                  <a:r>
                    <a:rPr lang="zh-CN" altLang="en-US" sz="1600">
                      <a:solidFill>
                        <a:schemeClr val="tx1"/>
                      </a:solidFill>
                      <a:latin typeface="微软雅黑" panose="020B0503020204020204" charset="-122"/>
                      <a:ea typeface="微软雅黑" panose="020B0503020204020204" charset="-122"/>
                    </a:rPr>
                    <a:t>对于一段可能包含大语言模型（</a:t>
                  </a:r>
                  <a:r>
                    <a:rPr lang="en-US" altLang="zh-CN" sz="1600">
                      <a:solidFill>
                        <a:schemeClr val="tx1"/>
                      </a:solidFill>
                      <a:latin typeface="微软雅黑" panose="020B0503020204020204" charset="-122"/>
                      <a:ea typeface="微软雅黑" panose="020B0503020204020204" charset="-122"/>
                    </a:rPr>
                    <a:t>LLM</a:t>
                  </a:r>
                  <a:r>
                    <a:rPr lang="zh-CN" altLang="en-US" sz="1600">
                      <a:solidFill>
                        <a:schemeClr val="tx1"/>
                      </a:solidFill>
                      <a:latin typeface="微软雅黑" panose="020B0503020204020204" charset="-122"/>
                      <a:ea typeface="微软雅黑" panose="020B0503020204020204" charset="-122"/>
                    </a:rPr>
                    <a:t>）生成内容（也可能包含额外噪声）的文本，判断它是由人类还是大语言模型生成</a:t>
                  </a:r>
                  <a:r>
                    <a:rPr lang="zh-CN" altLang="en-US" sz="1600">
                      <a:solidFill>
                        <a:schemeClr val="tx1"/>
                      </a:solidFill>
                      <a:latin typeface="微软雅黑" panose="020B0503020204020204" charset="-122"/>
                      <a:ea typeface="微软雅黑" panose="020B0503020204020204" charset="-122"/>
                    </a:rPr>
                    <a:t>的。</a:t>
                  </a:r>
                  <a:endParaRPr lang="zh-CN" altLang="en-US" sz="1600">
                    <a:solidFill>
                      <a:schemeClr val="tx1"/>
                    </a:solidFill>
                    <a:latin typeface="微软雅黑" panose="020B0503020204020204" charset="-122"/>
                    <a:ea typeface="微软雅黑" panose="020B0503020204020204" charset="-122"/>
                  </a:endParaRPr>
                </a:p>
                <a:p>
                  <a:pPr marL="285750" indent="-285750" algn="l" fontAlgn="auto">
                    <a:lnSpc>
                      <a:spcPct val="150000"/>
                    </a:lnSpc>
                    <a:buFont typeface="Arial" panose="020B0604020202020204" pitchFamily="34" charset="0"/>
                    <a:buChar char="•"/>
                  </a:pPr>
                  <a:r>
                    <a:rPr lang="zh-CN" altLang="en-US" sz="1600">
                      <a:solidFill>
                        <a:schemeClr val="tx1"/>
                      </a:solidFill>
                      <a:latin typeface="微软雅黑" panose="020B0503020204020204" charset="-122"/>
                      <a:ea typeface="微软雅黑" panose="020B0503020204020204" charset="-122"/>
                    </a:rPr>
                    <a:t>为了验证其持续进步的能力，</a:t>
                  </a:r>
                  <a:r>
                    <a:rPr lang="en-US" altLang="zh-CN" sz="1600">
                      <a:solidFill>
                        <a:schemeClr val="tx1"/>
                      </a:solidFill>
                      <a:latin typeface="微软雅黑" panose="020B0503020204020204" charset="-122"/>
                      <a:ea typeface="微软雅黑" panose="020B0503020204020204" charset="-122"/>
                    </a:rPr>
                    <a:t>DeepScientist </a:t>
                  </a:r>
                  <a:r>
                    <a:rPr lang="zh-CN" altLang="en-US" sz="1600">
                      <a:solidFill>
                        <a:schemeClr val="tx1"/>
                      </a:solidFill>
                      <a:latin typeface="微软雅黑" panose="020B0503020204020204" charset="-122"/>
                      <a:ea typeface="微软雅黑" panose="020B0503020204020204" charset="-122"/>
                    </a:rPr>
                    <a:t>进行了大量尝试，在短短两周的快速演进中，系统产生了三种截然不同且逐步更优的方法</a:t>
                  </a:r>
                  <a:r>
                    <a:rPr lang="zh-CN" altLang="en-US" sz="1600" b="1">
                      <a:solidFill>
                        <a:schemeClr val="accent6">
                          <a:lumMod val="50000"/>
                        </a:schemeClr>
                      </a:solidFill>
                      <a:latin typeface="微软雅黑" panose="020B0503020204020204" charset="-122"/>
                      <a:ea typeface="微软雅黑" panose="020B0503020204020204" charset="-122"/>
                    </a:rPr>
                    <a:t>（</a:t>
                  </a:r>
                  <a:r>
                    <a:rPr lang="en-US" altLang="zh-CN" sz="1600" b="1">
                      <a:solidFill>
                        <a:schemeClr val="accent6">
                          <a:lumMod val="50000"/>
                        </a:schemeClr>
                      </a:solidFill>
                      <a:latin typeface="微软雅黑" panose="020B0503020204020204" charset="-122"/>
                      <a:ea typeface="微软雅黑" panose="020B0503020204020204" charset="-122"/>
                    </a:rPr>
                    <a:t>T - Detect</a:t>
                  </a:r>
                  <a:r>
                    <a:rPr lang="zh-CN" altLang="en-US" sz="1600" b="1">
                      <a:solidFill>
                        <a:schemeClr val="accent6">
                          <a:lumMod val="50000"/>
                        </a:schemeClr>
                      </a:solidFill>
                      <a:latin typeface="微软雅黑" panose="020B0503020204020204" charset="-122"/>
                      <a:ea typeface="微软雅黑" panose="020B0503020204020204" charset="-122"/>
                    </a:rPr>
                    <a:t>、</a:t>
                  </a:r>
                  <a:r>
                    <a:rPr lang="en-US" altLang="zh-CN" sz="1600" b="1">
                      <a:solidFill>
                        <a:schemeClr val="accent6">
                          <a:lumMod val="50000"/>
                        </a:schemeClr>
                      </a:solidFill>
                      <a:latin typeface="微软雅黑" panose="020B0503020204020204" charset="-122"/>
                      <a:ea typeface="微软雅黑" panose="020B0503020204020204" charset="-122"/>
                    </a:rPr>
                    <a:t>TDT </a:t>
                  </a:r>
                  <a:r>
                    <a:rPr lang="zh-CN" altLang="en-US" sz="1600" b="1">
                      <a:solidFill>
                        <a:schemeClr val="accent6">
                          <a:lumMod val="50000"/>
                        </a:schemeClr>
                      </a:solidFill>
                      <a:latin typeface="微软雅黑" panose="020B0503020204020204" charset="-122"/>
                      <a:ea typeface="微软雅黑" panose="020B0503020204020204" charset="-122"/>
                    </a:rPr>
                    <a:t>和</a:t>
                  </a:r>
                  <a:r>
                    <a:rPr lang="en-US" altLang="zh-CN" sz="1600" b="1">
                      <a:solidFill>
                        <a:schemeClr val="accent6">
                          <a:lumMod val="50000"/>
                        </a:schemeClr>
                      </a:solidFill>
                      <a:latin typeface="微软雅黑" panose="020B0503020204020204" charset="-122"/>
                      <a:ea typeface="微软雅黑" panose="020B0503020204020204" charset="-122"/>
                    </a:rPr>
                    <a:t> PA - Detect</a:t>
                  </a:r>
                  <a:r>
                    <a:rPr lang="zh-CN" altLang="en-US" sz="1600" b="1">
                      <a:solidFill>
                        <a:schemeClr val="accent6">
                          <a:lumMod val="50000"/>
                        </a:schemeClr>
                      </a:solidFill>
                      <a:latin typeface="微软雅黑" panose="020B0503020204020204" charset="-122"/>
                      <a:ea typeface="微软雅黑" panose="020B0503020204020204" charset="-122"/>
                    </a:rPr>
                    <a:t>）</a:t>
                  </a:r>
                  <a:r>
                    <a:rPr lang="zh-CN" altLang="en-US" sz="1600">
                      <a:solidFill>
                        <a:schemeClr val="tx1"/>
                      </a:solidFill>
                      <a:latin typeface="微软雅黑" panose="020B0503020204020204" charset="-122"/>
                      <a:ea typeface="微软雅黑" panose="020B0503020204020204" charset="-122"/>
                    </a:rPr>
                    <a:t>。</a:t>
                  </a:r>
                  <a:endParaRPr lang="zh-CN" altLang="en-US" sz="1600">
                    <a:solidFill>
                      <a:schemeClr val="tx1"/>
                    </a:solidFill>
                    <a:latin typeface="微软雅黑" panose="020B0503020204020204" charset="-122"/>
                    <a:ea typeface="微软雅黑" panose="020B0503020204020204" charset="-122"/>
                  </a:endParaRPr>
                </a:p>
                <a:p>
                  <a:pPr marL="285750" indent="-285750" algn="l" fontAlgn="auto">
                    <a:lnSpc>
                      <a:spcPct val="150000"/>
                    </a:lnSpc>
                    <a:buFont typeface="Arial" panose="020B0604020202020204" pitchFamily="34" charset="0"/>
                    <a:buChar char="•"/>
                  </a:pPr>
                  <a:r>
                    <a:rPr lang="zh-CN" altLang="en-US" sz="1600">
                      <a:solidFill>
                        <a:schemeClr val="tx1"/>
                      </a:solidFill>
                      <a:latin typeface="微软雅黑" panose="020B0503020204020204" charset="-122"/>
                      <a:ea typeface="微软雅黑" panose="020B0503020204020204" charset="-122"/>
                    </a:rPr>
                    <a:t>从科学角度来看，</a:t>
                  </a:r>
                  <a:r>
                    <a:rPr lang="zh-CN" altLang="en-US" sz="1600" b="1">
                      <a:solidFill>
                        <a:schemeClr val="accent6">
                          <a:lumMod val="50000"/>
                        </a:schemeClr>
                      </a:solidFill>
                      <a:latin typeface="微软雅黑" panose="020B0503020204020204" charset="-122"/>
                      <a:ea typeface="微软雅黑" panose="020B0503020204020204" charset="-122"/>
                    </a:rPr>
                    <a:t>这种转变揭示了人工智能生成文本的 “非平稳性”</a:t>
                  </a:r>
                  <a:r>
                    <a:rPr lang="zh-CN" altLang="en-US" sz="1600">
                      <a:solidFill>
                        <a:schemeClr val="tx1"/>
                      </a:solidFill>
                      <a:latin typeface="微软雅黑" panose="020B0503020204020204" charset="-122"/>
                      <a:ea typeface="微软雅黑" panose="020B0503020204020204" charset="-122"/>
                    </a:rPr>
                    <a:t>，缓解了以往范式中因对局部证据进行平均化处理而产生的信息瓶颈问题。</a:t>
                  </a:r>
                  <a:endParaRPr lang="zh-CN" altLang="en-US" sz="1600">
                    <a:solidFill>
                      <a:schemeClr val="tx1"/>
                    </a:solidFill>
                    <a:latin typeface="微软雅黑" panose="020B0503020204020204" charset="-122"/>
                    <a:ea typeface="微软雅黑" panose="020B0503020204020204" charset="-122"/>
                  </a:endParaRPr>
                </a:p>
                <a:p>
                  <a:pPr marL="285750" indent="-285750" algn="l" fontAlgn="auto">
                    <a:lnSpc>
                      <a:spcPct val="150000"/>
                    </a:lnSpc>
                    <a:buFont typeface="Arial" panose="020B0604020202020204" pitchFamily="34" charset="0"/>
                    <a:buChar char="•"/>
                  </a:pPr>
                  <a:r>
                    <a:rPr lang="zh-CN" altLang="en-US" sz="1600" b="1">
                      <a:solidFill>
                        <a:schemeClr val="accent6">
                          <a:lumMod val="50000"/>
                        </a:schemeClr>
                      </a:solidFill>
                      <a:latin typeface="微软雅黑" panose="020B0503020204020204" charset="-122"/>
                      <a:ea typeface="微软雅黑" panose="020B0503020204020204" charset="-122"/>
                    </a:rPr>
                    <a:t>这一整个发现轨迹展示了 DeepScientist 逐步推进前沿科学发现的能力</a:t>
                  </a:r>
                  <a:r>
                    <a:rPr lang="zh-CN" altLang="en-US" sz="1600">
                      <a:solidFill>
                        <a:schemeClr val="tx1"/>
                      </a:solidFill>
                      <a:latin typeface="微软雅黑" panose="020B0503020204020204" charset="-122"/>
                      <a:ea typeface="微软雅黑" panose="020B0503020204020204" charset="-122"/>
                    </a:rPr>
                    <a:t>，在将</a:t>
                  </a:r>
                  <a:r>
                    <a:rPr lang="en-US" altLang="zh-CN" sz="1600">
                      <a:solidFill>
                        <a:schemeClr val="tx1"/>
                      </a:solidFill>
                      <a:latin typeface="微软雅黑" panose="020B0503020204020204" charset="-122"/>
                      <a:ea typeface="微软雅黑" panose="020B0503020204020204" charset="-122"/>
                    </a:rPr>
                    <a:t> AUROC</a:t>
                  </a:r>
                  <a:r>
                    <a:rPr lang="zh-CN" altLang="en-US" sz="1600">
                      <a:solidFill>
                        <a:schemeClr val="tx1"/>
                      </a:solidFill>
                      <a:latin typeface="微软雅黑" panose="020B0503020204020204" charset="-122"/>
                      <a:ea typeface="微软雅黑" panose="020B0503020204020204" charset="-122"/>
                    </a:rPr>
                    <a:t>（曲线下面积）提高</a:t>
                  </a:r>
                  <a:r>
                    <a:rPr lang="en-US" altLang="zh-CN" sz="1600">
                      <a:solidFill>
                        <a:schemeClr val="tx1"/>
                      </a:solidFill>
                      <a:latin typeface="微软雅黑" panose="020B0503020204020204" charset="-122"/>
                      <a:ea typeface="微软雅黑" panose="020B0503020204020204" charset="-122"/>
                    </a:rPr>
                    <a:t> 7.9% </a:t>
                  </a:r>
                  <a:r>
                    <a:rPr lang="zh-CN" altLang="en-US" sz="1600">
                      <a:solidFill>
                        <a:schemeClr val="tx1"/>
                      </a:solidFill>
                      <a:latin typeface="微软雅黑" panose="020B0503020204020204" charset="-122"/>
                      <a:ea typeface="微软雅黑" panose="020B0503020204020204" charset="-122"/>
                    </a:rPr>
                    <a:t>的同时，推理速度也提高了一倍，从而建立了新的最先进（</a:t>
                  </a:r>
                  <a:r>
                    <a:rPr lang="en-US" altLang="zh-CN" sz="1600">
                      <a:solidFill>
                        <a:schemeClr val="tx1"/>
                      </a:solidFill>
                      <a:latin typeface="微软雅黑" panose="020B0503020204020204" charset="-122"/>
                      <a:ea typeface="微软雅黑" panose="020B0503020204020204" charset="-122"/>
                    </a:rPr>
                    <a:t>SOTA</a:t>
                  </a:r>
                  <a:r>
                    <a:rPr lang="zh-CN" altLang="en-US" sz="1600">
                      <a:solidFill>
                        <a:schemeClr val="tx1"/>
                      </a:solidFill>
                      <a:latin typeface="微软雅黑" panose="020B0503020204020204" charset="-122"/>
                      <a:ea typeface="微软雅黑" panose="020B0503020204020204" charset="-122"/>
                    </a:rPr>
                    <a:t>）水平。</a:t>
                  </a:r>
                  <a:endParaRPr lang="zh-CN" altLang="en-US" sz="1600">
                    <a:solidFill>
                      <a:schemeClr val="tx1"/>
                    </a:solidFill>
                    <a:latin typeface="微软雅黑" panose="020B0503020204020204" charset="-122"/>
                    <a:ea typeface="微软雅黑" panose="020B0503020204020204" charset="-122"/>
                  </a:endParaRPr>
                </a:p>
              </p:txBody>
            </p:sp>
            <p:sp>
              <p:nvSpPr>
                <p:cNvPr id="10" name="矩形 9"/>
                <p:cNvSpPr/>
                <p:nvPr/>
              </p:nvSpPr>
              <p:spPr>
                <a:xfrm>
                  <a:off x="1580" y="1928"/>
                  <a:ext cx="3744" cy="688"/>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b="1">
                      <a:latin typeface="微软雅黑" panose="020B0503020204020204" charset="-122"/>
                      <a:ea typeface="微软雅黑" panose="020B0503020204020204" charset="-122"/>
                      <a:cs typeface="微软雅黑" panose="020B0503020204020204" charset="-122"/>
                    </a:rPr>
                    <a:t>AI Text D</a:t>
                  </a:r>
                  <a:r>
                    <a:rPr lang="en-US" altLang="zh-CN" sz="1600" b="1">
                      <a:latin typeface="微软雅黑" panose="020B0503020204020204" charset="-122"/>
                      <a:ea typeface="微软雅黑" panose="020B0503020204020204" charset="-122"/>
                      <a:cs typeface="微软雅黑" panose="020B0503020204020204" charset="-122"/>
                    </a:rPr>
                    <a:t>etection</a:t>
                  </a:r>
                  <a:endParaRPr lang="en-US" altLang="zh-CN" sz="1600" b="1">
                    <a:latin typeface="微软雅黑" panose="020B0503020204020204" charset="-122"/>
                    <a:ea typeface="微软雅黑" panose="020B0503020204020204" charset="-122"/>
                    <a:cs typeface="微软雅黑" panose="020B0503020204020204" charset="-122"/>
                  </a:endParaRPr>
                </a:p>
              </p:txBody>
            </p:sp>
          </p:grpSp>
        </p:grpSp>
        <p:pic>
          <p:nvPicPr>
            <p:cNvPr id="6" name="图片 5"/>
            <p:cNvPicPr>
              <a:picLocks noChangeAspect="1"/>
            </p:cNvPicPr>
            <p:nvPr/>
          </p:nvPicPr>
          <p:blipFill>
            <a:blip r:embed="rId2"/>
            <a:stretch>
              <a:fillRect/>
            </a:stretch>
          </p:blipFill>
          <p:spPr>
            <a:xfrm>
              <a:off x="638" y="4333"/>
              <a:ext cx="6443" cy="3844"/>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strips(downLeft)">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0" y="-635"/>
            <a:ext cx="12192000" cy="707390"/>
            <a:chOff x="0" y="0"/>
            <a:chExt cx="19200" cy="1114"/>
          </a:xfrm>
        </p:grpSpPr>
        <p:sp>
          <p:nvSpPr>
            <p:cNvPr id="3" name="矩形 2"/>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Experiments</a:t>
              </a:r>
              <a:endParaRPr lang="en-US" altLang="zh-CN" sz="14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5</a:t>
              </a:r>
              <a:endParaRPr lang="en-US" altLang="zh-CN" sz="4000" b="1">
                <a:solidFill>
                  <a:schemeClr val="bg1"/>
                </a:solidFill>
                <a:latin typeface="微软雅黑" panose="020B0503020204020204" charset="-122"/>
                <a:ea typeface="微软雅黑" panose="020B0503020204020204" charset="-122"/>
              </a:endParaRPr>
            </a:p>
          </p:txBody>
        </p:sp>
      </p:grpSp>
      <p:pic>
        <p:nvPicPr>
          <p:cNvPr id="8" name="图片 7" descr="logo"/>
          <p:cNvPicPr>
            <a:picLocks noChangeAspect="1"/>
          </p:cNvPicPr>
          <p:nvPr/>
        </p:nvPicPr>
        <p:blipFill>
          <a:blip r:embed="rId1"/>
          <a:stretch>
            <a:fillRect/>
          </a:stretch>
        </p:blipFill>
        <p:spPr>
          <a:xfrm>
            <a:off x="8810625" y="33655"/>
            <a:ext cx="3314700" cy="673100"/>
          </a:xfrm>
          <a:prstGeom prst="rect">
            <a:avLst/>
          </a:prstGeom>
        </p:spPr>
      </p:pic>
      <p:grpSp>
        <p:nvGrpSpPr>
          <p:cNvPr id="16" name="组合 15"/>
          <p:cNvGrpSpPr/>
          <p:nvPr/>
        </p:nvGrpSpPr>
        <p:grpSpPr>
          <a:xfrm>
            <a:off x="339090" y="955040"/>
            <a:ext cx="11711305" cy="5467985"/>
            <a:chOff x="534" y="1504"/>
            <a:chExt cx="18443" cy="8611"/>
          </a:xfrm>
        </p:grpSpPr>
        <p:sp>
          <p:nvSpPr>
            <p:cNvPr id="27" name="圆角矩形 26"/>
            <p:cNvSpPr/>
            <p:nvPr/>
          </p:nvSpPr>
          <p:spPr>
            <a:xfrm>
              <a:off x="2021" y="1504"/>
              <a:ext cx="14784" cy="988"/>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en-US" altLang="zh-CN" sz="2000" b="1">
                  <a:solidFill>
                    <a:schemeClr val="accent6">
                      <a:lumMod val="50000"/>
                    </a:schemeClr>
                  </a:solidFill>
                  <a:latin typeface="微软雅黑" panose="020B0503020204020204" charset="-122"/>
                  <a:ea typeface="微软雅黑" panose="020B0503020204020204" charset="-122"/>
                </a:rPr>
                <a:t>ASSESSING THE QUALITY OF AI-GENERATED RESEARCH PAPER</a:t>
              </a:r>
              <a:endParaRPr lang="en-US" altLang="zh-CN" sz="2000" b="1">
                <a:solidFill>
                  <a:schemeClr val="accent6">
                    <a:lumMod val="50000"/>
                  </a:schemeClr>
                </a:solidFill>
                <a:latin typeface="微软雅黑" panose="020B0503020204020204" charset="-122"/>
                <a:ea typeface="微软雅黑" panose="020B0503020204020204" charset="-122"/>
              </a:endParaRPr>
            </a:p>
          </p:txBody>
        </p:sp>
        <p:sp>
          <p:nvSpPr>
            <p:cNvPr id="9" name="文本框 8"/>
            <p:cNvSpPr txBox="1"/>
            <p:nvPr/>
          </p:nvSpPr>
          <p:spPr>
            <a:xfrm>
              <a:off x="534" y="2883"/>
              <a:ext cx="7918" cy="7232"/>
            </a:xfrm>
            <a:prstGeom prst="rect">
              <a:avLst/>
            </a:prstGeom>
          </p:spPr>
          <p:txBody>
            <a:bodyPr wrap="square">
              <a:spAutoFit/>
            </a:bodyPr>
            <a:p>
              <a:pPr indent="0" fontAlgn="auto">
                <a:lnSpc>
                  <a:spcPct val="125000"/>
                </a:lnSpc>
              </a:pPr>
              <a:r>
                <a:rPr lang="zh-CN" altLang="en-US" b="0" i="0">
                  <a:latin typeface="微软雅黑" panose="020B0503020204020204" charset="-122"/>
                  <a:ea typeface="微软雅黑" panose="020B0503020204020204" charset="-122"/>
                  <a:cs typeface="微软雅黑" panose="020B0503020204020204" charset="-122"/>
                </a:rPr>
                <a:t>为评估最终产出的质量，我们对 </a:t>
              </a:r>
              <a:r>
                <a:rPr lang="en-US" altLang="zh-CN" b="0" i="0">
                  <a:latin typeface="微软雅黑" panose="020B0503020204020204" charset="-122"/>
                  <a:ea typeface="微软雅黑" panose="020B0503020204020204" charset="-122"/>
                  <a:cs typeface="微软雅黑" panose="020B0503020204020204" charset="-122"/>
                </a:rPr>
                <a:t>DeepScientist </a:t>
              </a:r>
              <a:r>
                <a:rPr lang="zh-CN" altLang="en-US" b="0" i="0">
                  <a:latin typeface="微软雅黑" panose="020B0503020204020204" charset="-122"/>
                  <a:ea typeface="微软雅黑" panose="020B0503020204020204" charset="-122"/>
                  <a:cs typeface="微软雅黑" panose="020B0503020204020204" charset="-122"/>
                </a:rPr>
                <a:t>端到端流程自主生成的五篇研究论文进行评估。我们的评估方案分为两部分。</a:t>
              </a:r>
              <a:endParaRPr lang="zh-CN" altLang="en-US" b="0" i="0">
                <a:latin typeface="微软雅黑" panose="020B0503020204020204" charset="-122"/>
                <a:ea typeface="微软雅黑" panose="020B0503020204020204" charset="-122"/>
                <a:cs typeface="微软雅黑" panose="020B0503020204020204" charset="-122"/>
              </a:endParaRPr>
            </a:p>
            <a:p>
              <a:pPr marL="285750" indent="-285750" fontAlgn="auto">
                <a:lnSpc>
                  <a:spcPct val="125000"/>
                </a:lnSpc>
                <a:buFont typeface="Arial" panose="020B0604020202020204" pitchFamily="34" charset="0"/>
                <a:buChar char="•"/>
              </a:pPr>
              <a:r>
                <a:rPr lang="zh-CN" altLang="en-US" b="0" i="0">
                  <a:latin typeface="微软雅黑" panose="020B0503020204020204" charset="-122"/>
                  <a:ea typeface="微软雅黑" panose="020B0503020204020204" charset="-122"/>
                  <a:cs typeface="微软雅黑" panose="020B0503020204020204" charset="-122"/>
                </a:rPr>
                <a:t>首先，为了与现有工作进行基准对比，我们使用 </a:t>
              </a:r>
              <a:r>
                <a:rPr lang="en-US" altLang="zh-CN" b="1" i="0">
                  <a:solidFill>
                    <a:schemeClr val="accent6">
                      <a:lumMod val="50000"/>
                    </a:schemeClr>
                  </a:solidFill>
                  <a:latin typeface="微软雅黑" panose="020B0503020204020204" charset="-122"/>
                  <a:ea typeface="微软雅黑" panose="020B0503020204020204" charset="-122"/>
                  <a:cs typeface="微软雅黑" panose="020B0503020204020204" charset="-122"/>
                </a:rPr>
                <a:t>DeepReviewer</a:t>
              </a:r>
              <a:r>
                <a:rPr lang="zh-CN" altLang="en-US" b="0" i="0">
                  <a:latin typeface="微软雅黑" panose="020B0503020204020204" charset="-122"/>
                  <a:ea typeface="微软雅黑" panose="020B0503020204020204" charset="-122"/>
                  <a:cs typeface="微软雅黑" panose="020B0503020204020204" charset="-122"/>
                </a:rPr>
                <a:t>，这是一个具备外部搜索能力、能模拟人类同行评审过程的人工智能代理，将 </a:t>
              </a:r>
              <a:r>
                <a:rPr lang="en-US" altLang="zh-CN" b="0" i="0">
                  <a:latin typeface="微软雅黑" panose="020B0503020204020204" charset="-122"/>
                  <a:ea typeface="微软雅黑" panose="020B0503020204020204" charset="-122"/>
                  <a:cs typeface="微软雅黑" panose="020B0503020204020204" charset="-122"/>
                </a:rPr>
                <a:t>DeepScientist </a:t>
              </a:r>
              <a:r>
                <a:rPr lang="zh-CN" altLang="en-US" b="0" i="0">
                  <a:latin typeface="微软雅黑" panose="020B0503020204020204" charset="-122"/>
                  <a:ea typeface="微软雅黑" panose="020B0503020204020204" charset="-122"/>
                  <a:cs typeface="微软雅黑" panose="020B0503020204020204" charset="-122"/>
                </a:rPr>
                <a:t>的产出与其他人工智能科学家系统的 </a:t>
              </a:r>
              <a:r>
                <a:rPr lang="en-US" altLang="zh-CN" b="0" i="0">
                  <a:latin typeface="微软雅黑" panose="020B0503020204020204" charset="-122"/>
                  <a:ea typeface="微软雅黑" panose="020B0503020204020204" charset="-122"/>
                  <a:cs typeface="微软雅黑" panose="020B0503020204020204" charset="-122"/>
                </a:rPr>
                <a:t>28 </a:t>
              </a:r>
              <a:r>
                <a:rPr lang="zh-CN" altLang="en-US" b="0" i="0">
                  <a:latin typeface="微软雅黑" panose="020B0503020204020204" charset="-122"/>
                  <a:ea typeface="微软雅黑" panose="020B0503020204020204" charset="-122"/>
                  <a:cs typeface="微软雅黑" panose="020B0503020204020204" charset="-122"/>
                </a:rPr>
                <a:t>篇公开论文进行对比。</a:t>
              </a:r>
              <a:endParaRPr lang="zh-CN" altLang="en-US" b="0" i="0">
                <a:latin typeface="微软雅黑" panose="020B0503020204020204" charset="-122"/>
                <a:ea typeface="微软雅黑" panose="020B0503020204020204" charset="-122"/>
                <a:cs typeface="微软雅黑" panose="020B0503020204020204" charset="-122"/>
              </a:endParaRPr>
            </a:p>
            <a:p>
              <a:pPr marL="285750" indent="-285750" fontAlgn="auto">
                <a:lnSpc>
                  <a:spcPct val="125000"/>
                </a:lnSpc>
                <a:buFont typeface="Arial" panose="020B0604020202020204" pitchFamily="34" charset="0"/>
                <a:buChar char="•"/>
              </a:pPr>
              <a:r>
                <a:rPr lang="zh-CN" altLang="en-US" b="0" i="0">
                  <a:latin typeface="微软雅黑" panose="020B0503020204020204" charset="-122"/>
                  <a:ea typeface="微软雅黑" panose="020B0503020204020204" charset="-122"/>
                  <a:cs typeface="微软雅黑" panose="020B0503020204020204" charset="-122"/>
                </a:rPr>
                <a:t>其次，为了进行更严谨的评估，我们召集了</a:t>
              </a:r>
              <a:r>
                <a:rPr lang="en-US" altLang="zh-CN" b="1" i="0">
                  <a:solidFill>
                    <a:schemeClr val="accent6">
                      <a:lumMod val="50000"/>
                    </a:schemeClr>
                  </a:solidFill>
                  <a:latin typeface="微软雅黑" panose="020B0503020204020204" charset="-122"/>
                  <a:ea typeface="微软雅黑" panose="020B0503020204020204" charset="-122"/>
                  <a:cs typeface="微软雅黑" panose="020B0503020204020204" charset="-122"/>
                </a:rPr>
                <a:t>一个专门的程序委员会，由三位活跃的大语言模型研究人员组成</a:t>
              </a:r>
              <a:r>
                <a:rPr lang="zh-CN" altLang="en-US" b="0" i="0">
                  <a:latin typeface="微软雅黑" panose="020B0503020204020204" charset="-122"/>
                  <a:ea typeface="微软雅黑" panose="020B0503020204020204" charset="-122"/>
                  <a:cs typeface="微软雅黑" panose="020B0503020204020204" charset="-122"/>
                </a:rPr>
                <a:t>：两位曾担任 </a:t>
              </a:r>
              <a:r>
                <a:rPr lang="en-US" altLang="zh-CN" b="0" i="0">
                  <a:latin typeface="微软雅黑" panose="020B0503020204020204" charset="-122"/>
                  <a:ea typeface="微软雅黑" panose="020B0503020204020204" charset="-122"/>
                  <a:cs typeface="微软雅黑" panose="020B0503020204020204" charset="-122"/>
                </a:rPr>
                <a:t>ICLR </a:t>
              </a:r>
              <a:r>
                <a:rPr lang="zh-CN" altLang="en-US" b="0" i="0">
                  <a:latin typeface="微软雅黑" panose="020B0503020204020204" charset="-122"/>
                  <a:ea typeface="微软雅黑" panose="020B0503020204020204" charset="-122"/>
                  <a:cs typeface="微软雅黑" panose="020B0503020204020204" charset="-122"/>
                </a:rPr>
                <a:t>评审的志愿者，以及一位受邀担任 </a:t>
              </a:r>
              <a:r>
                <a:rPr lang="en-US" altLang="zh-CN" b="0" i="0">
                  <a:latin typeface="微软雅黑" panose="020B0503020204020204" charset="-122"/>
                  <a:ea typeface="微软雅黑" panose="020B0503020204020204" charset="-122"/>
                  <a:cs typeface="微软雅黑" panose="020B0503020204020204" charset="-122"/>
                </a:rPr>
                <a:t>ICLR </a:t>
              </a:r>
              <a:r>
                <a:rPr lang="zh-CN" altLang="en-US" b="0" i="0">
                  <a:latin typeface="微软雅黑" panose="020B0503020204020204" charset="-122"/>
                  <a:ea typeface="微软雅黑" panose="020B0503020204020204" charset="-122"/>
                  <a:cs typeface="微软雅黑" panose="020B0503020204020204" charset="-122"/>
                </a:rPr>
                <a:t>领域主席的资深志愿者。</a:t>
              </a:r>
              <a:endParaRPr lang="zh-CN" altLang="en-US" b="0" i="0">
                <a:latin typeface="微软雅黑" panose="020B0503020204020204" charset="-122"/>
                <a:ea typeface="微软雅黑" panose="020B0503020204020204" charset="-122"/>
                <a:cs typeface="微软雅黑" panose="020B0503020204020204" charset="-122"/>
              </a:endParaRPr>
            </a:p>
          </p:txBody>
        </p:sp>
        <p:pic>
          <p:nvPicPr>
            <p:cNvPr id="12" name="图片 11"/>
            <p:cNvPicPr>
              <a:picLocks noChangeAspect="1"/>
            </p:cNvPicPr>
            <p:nvPr/>
          </p:nvPicPr>
          <p:blipFill>
            <a:blip r:embed="rId2"/>
            <a:stretch>
              <a:fillRect/>
            </a:stretch>
          </p:blipFill>
          <p:spPr>
            <a:xfrm>
              <a:off x="8711" y="2770"/>
              <a:ext cx="10266" cy="2339"/>
            </a:xfrm>
            <a:prstGeom prst="rect">
              <a:avLst/>
            </a:prstGeom>
          </p:spPr>
        </p:pic>
        <p:pic>
          <p:nvPicPr>
            <p:cNvPr id="13" name="图片 12"/>
            <p:cNvPicPr>
              <a:picLocks noChangeAspect="1"/>
            </p:cNvPicPr>
            <p:nvPr/>
          </p:nvPicPr>
          <p:blipFill>
            <a:blip r:embed="rId3"/>
            <a:stretch>
              <a:fillRect/>
            </a:stretch>
          </p:blipFill>
          <p:spPr>
            <a:xfrm>
              <a:off x="8794" y="6342"/>
              <a:ext cx="10101" cy="2772"/>
            </a:xfrm>
            <a:prstGeom prst="rect">
              <a:avLst/>
            </a:prstGeom>
          </p:spPr>
        </p:pic>
        <p:sp>
          <p:nvSpPr>
            <p:cNvPr id="14" name="文本框 13"/>
            <p:cNvSpPr txBox="1"/>
            <p:nvPr/>
          </p:nvSpPr>
          <p:spPr>
            <a:xfrm>
              <a:off x="8957" y="4941"/>
              <a:ext cx="9480" cy="919"/>
            </a:xfrm>
            <a:prstGeom prst="rect">
              <a:avLst/>
            </a:prstGeom>
          </p:spPr>
          <p:txBody>
            <a:bodyPr wrap="square">
              <a:spAutoFit/>
            </a:bodyPr>
            <a:p>
              <a:pPr marL="285750" indent="-285750" algn="just">
                <a:buFont typeface="Wingdings" panose="05000000000000000000" charset="0"/>
                <a:buChar char="Ø"/>
              </a:pPr>
              <a:r>
                <a:rPr lang="en-US" altLang="zh-CN" sz="1600" b="0" i="0">
                  <a:solidFill>
                    <a:srgbClr val="000000"/>
                  </a:solidFill>
                  <a:latin typeface="微软雅黑" panose="020B0503020204020204" charset="-122"/>
                  <a:ea typeface="微软雅黑" panose="020B0503020204020204" charset="-122"/>
                </a:rPr>
                <a:t>DeepScientist</a:t>
              </a:r>
              <a:r>
                <a:rPr lang="zh-CN" altLang="en-US" sz="1600" b="0" i="0">
                  <a:solidFill>
                    <a:srgbClr val="000000"/>
                  </a:solidFill>
                  <a:latin typeface="微软雅黑" panose="020B0503020204020204" charset="-122"/>
                  <a:ea typeface="微软雅黑" panose="020B0503020204020204" charset="-122"/>
                </a:rPr>
                <a:t>是唯一一个</a:t>
              </a:r>
              <a:r>
                <a:rPr lang="zh-CN" altLang="en-US" sz="1600">
                  <a:solidFill>
                    <a:srgbClr val="000000"/>
                  </a:solidFill>
                  <a:latin typeface="微软雅黑" panose="020B0503020204020204" charset="-122"/>
                  <a:ea typeface="微软雅黑" panose="020B0503020204020204" charset="-122"/>
                  <a:sym typeface="+mn-ea"/>
                </a:rPr>
                <a:t>论文接受率达到</a:t>
              </a:r>
              <a:r>
                <a:rPr lang="en-US" altLang="zh-CN" sz="1600">
                  <a:solidFill>
                    <a:srgbClr val="000000"/>
                  </a:solidFill>
                  <a:latin typeface="微软雅黑" panose="020B0503020204020204" charset="-122"/>
                  <a:ea typeface="微软雅黑" panose="020B0503020204020204" charset="-122"/>
                  <a:sym typeface="+mn-ea"/>
                </a:rPr>
                <a:t>60%</a:t>
              </a:r>
              <a:r>
                <a:rPr lang="zh-CN" altLang="en-US" sz="1600" b="0" i="0">
                  <a:solidFill>
                    <a:srgbClr val="000000"/>
                  </a:solidFill>
                  <a:latin typeface="微软雅黑" panose="020B0503020204020204" charset="-122"/>
                  <a:ea typeface="微软雅黑" panose="020B0503020204020204" charset="-122"/>
                </a:rPr>
                <a:t>的人工智能科学家系统。</a:t>
              </a:r>
              <a:endParaRPr lang="zh-CN" altLang="en-US" sz="1600" b="0" i="0">
                <a:solidFill>
                  <a:srgbClr val="000000"/>
                </a:solidFill>
                <a:latin typeface="微软雅黑" panose="020B0503020204020204" charset="-122"/>
                <a:ea typeface="微软雅黑" panose="020B0503020204020204" charset="-122"/>
              </a:endParaRPr>
            </a:p>
          </p:txBody>
        </p:sp>
        <p:sp>
          <p:nvSpPr>
            <p:cNvPr id="15" name="文本框 14"/>
            <p:cNvSpPr txBox="1"/>
            <p:nvPr/>
          </p:nvSpPr>
          <p:spPr>
            <a:xfrm>
              <a:off x="8711" y="9114"/>
              <a:ext cx="10183" cy="919"/>
            </a:xfrm>
            <a:prstGeom prst="rect">
              <a:avLst/>
            </a:prstGeom>
          </p:spPr>
          <p:txBody>
            <a:bodyPr wrap="square">
              <a:spAutoFit/>
            </a:bodyPr>
            <a:p>
              <a:pPr marL="285750" indent="-285750" algn="just">
                <a:buFont typeface="Wingdings" panose="05000000000000000000" charset="0"/>
                <a:buChar char="Ø"/>
              </a:pPr>
              <a:r>
                <a:rPr lang="en-US" altLang="zh-CN" sz="1600" b="0" i="0">
                  <a:solidFill>
                    <a:srgbClr val="000000"/>
                  </a:solidFill>
                  <a:latin typeface="微软雅黑" panose="020B0503020204020204" charset="-122"/>
                  <a:ea typeface="微软雅黑" panose="020B0503020204020204" charset="-122"/>
                </a:rPr>
                <a:t>DeepScientist</a:t>
              </a:r>
              <a:r>
                <a:rPr lang="zh-CN" altLang="en-US" sz="1600" b="0" i="0">
                  <a:solidFill>
                    <a:srgbClr val="000000"/>
                  </a:solidFill>
                  <a:latin typeface="微软雅黑" panose="020B0503020204020204" charset="-122"/>
                  <a:ea typeface="微软雅黑" panose="020B0503020204020204" charset="-122"/>
                </a:rPr>
                <a:t>的平均评分（</a:t>
              </a:r>
              <a:r>
                <a:rPr lang="en-US" altLang="zh-CN" sz="1600" b="0" i="0">
                  <a:solidFill>
                    <a:srgbClr val="000000"/>
                  </a:solidFill>
                  <a:latin typeface="微软雅黑" panose="020B0503020204020204" charset="-122"/>
                  <a:ea typeface="微软雅黑" panose="020B0503020204020204" charset="-122"/>
                </a:rPr>
                <a:t>5.00</a:t>
              </a:r>
              <a:r>
                <a:rPr lang="zh-CN" altLang="en-US" sz="1600" b="0" i="0">
                  <a:solidFill>
                    <a:srgbClr val="000000"/>
                  </a:solidFill>
                  <a:latin typeface="微软雅黑" panose="020B0503020204020204" charset="-122"/>
                  <a:ea typeface="微软雅黑" panose="020B0503020204020204" charset="-122"/>
                </a:rPr>
                <a:t>）与所有</a:t>
              </a:r>
              <a:r>
                <a:rPr lang="en-US" altLang="zh-CN" sz="1600" b="0" i="0">
                  <a:solidFill>
                    <a:srgbClr val="000000"/>
                  </a:solidFill>
                  <a:latin typeface="微软雅黑" panose="020B0503020204020204" charset="-122"/>
                  <a:ea typeface="微软雅黑" panose="020B0503020204020204" charset="-122"/>
                </a:rPr>
                <a:t>ICLR 2025</a:t>
              </a:r>
              <a:r>
                <a:rPr lang="zh-CN" altLang="en-US" sz="1600" b="0" i="0">
                  <a:solidFill>
                    <a:srgbClr val="000000"/>
                  </a:solidFill>
                  <a:latin typeface="微软雅黑" panose="020B0503020204020204" charset="-122"/>
                  <a:ea typeface="微软雅黑" panose="020B0503020204020204" charset="-122"/>
                </a:rPr>
                <a:t>提交的平均评</a:t>
              </a:r>
              <a:r>
                <a:rPr lang="zh-CN" altLang="en-US" sz="1600" b="0" i="0">
                  <a:solidFill>
                    <a:srgbClr val="000000"/>
                  </a:solidFill>
                  <a:latin typeface="微软雅黑" panose="020B0503020204020204" charset="-122"/>
                  <a:ea typeface="微软雅黑" panose="020B0503020204020204" charset="-122"/>
                </a:rPr>
                <a:t>十分接近（</a:t>
              </a:r>
              <a:r>
                <a:rPr lang="en-US" altLang="zh-CN" sz="1600" b="0" i="0">
                  <a:solidFill>
                    <a:srgbClr val="000000"/>
                  </a:solidFill>
                  <a:latin typeface="微软雅黑" panose="020B0503020204020204" charset="-122"/>
                  <a:ea typeface="微软雅黑" panose="020B0503020204020204" charset="-122"/>
                </a:rPr>
                <a:t>5.08</a:t>
              </a:r>
              <a:r>
                <a:rPr lang="zh-CN" altLang="en-US" sz="1600" b="0" i="0">
                  <a:solidFill>
                    <a:srgbClr val="000000"/>
                  </a:solidFill>
                  <a:latin typeface="微软雅黑" panose="020B0503020204020204" charset="-122"/>
                  <a:ea typeface="微软雅黑" panose="020B0503020204020204" charset="-122"/>
                </a:rPr>
                <a:t>），其中两篇论文明显超过了这一评分（</a:t>
              </a:r>
              <a:r>
                <a:rPr lang="en-US" altLang="zh-CN" sz="1600" b="0" i="0">
                  <a:solidFill>
                    <a:srgbClr val="000000"/>
                  </a:solidFill>
                  <a:latin typeface="微软雅黑" panose="020B0503020204020204" charset="-122"/>
                  <a:ea typeface="微软雅黑" panose="020B0503020204020204" charset="-122"/>
                </a:rPr>
                <a:t>5.67</a:t>
              </a:r>
              <a:r>
                <a:rPr lang="zh-CN" altLang="en-US" sz="1600" b="0" i="0">
                  <a:solidFill>
                    <a:srgbClr val="000000"/>
                  </a:solidFill>
                  <a:latin typeface="微软雅黑" panose="020B0503020204020204" charset="-122"/>
                  <a:ea typeface="微软雅黑" panose="020B0503020204020204" charset="-122"/>
                </a:rPr>
                <a:t>）。</a:t>
              </a:r>
              <a:endParaRPr lang="zh-CN" altLang="en-US" sz="1600" b="0" i="0">
                <a:solidFill>
                  <a:srgbClr val="000000"/>
                </a:solidFill>
                <a:latin typeface="微软雅黑" panose="020B0503020204020204" charset="-122"/>
                <a:ea typeface="微软雅黑" panose="020B050302020402020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strips(downLeft)">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0" y="-635"/>
            <a:ext cx="12192000" cy="707390"/>
            <a:chOff x="0" y="0"/>
            <a:chExt cx="19200" cy="1114"/>
          </a:xfrm>
        </p:grpSpPr>
        <p:sp>
          <p:nvSpPr>
            <p:cNvPr id="3" name="矩形 2"/>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Other Insights</a:t>
              </a:r>
              <a:endParaRPr lang="en-US" altLang="zh-CN" sz="14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6</a:t>
              </a:r>
              <a:endParaRPr lang="en-US" altLang="zh-CN" sz="4000" b="1">
                <a:solidFill>
                  <a:schemeClr val="bg1"/>
                </a:solidFill>
                <a:latin typeface="微软雅黑" panose="020B0503020204020204" charset="-122"/>
                <a:ea typeface="微软雅黑" panose="020B0503020204020204" charset="-122"/>
              </a:endParaRPr>
            </a:p>
          </p:txBody>
        </p:sp>
      </p:grpSp>
      <p:pic>
        <p:nvPicPr>
          <p:cNvPr id="8" name="图片 7" descr="logo"/>
          <p:cNvPicPr>
            <a:picLocks noChangeAspect="1"/>
          </p:cNvPicPr>
          <p:nvPr/>
        </p:nvPicPr>
        <p:blipFill>
          <a:blip r:embed="rId1"/>
          <a:stretch>
            <a:fillRect/>
          </a:stretch>
        </p:blipFill>
        <p:spPr>
          <a:xfrm>
            <a:off x="8810625" y="33655"/>
            <a:ext cx="3314700" cy="673100"/>
          </a:xfrm>
          <a:prstGeom prst="rect">
            <a:avLst/>
          </a:prstGeom>
        </p:spPr>
      </p:pic>
      <p:grpSp>
        <p:nvGrpSpPr>
          <p:cNvPr id="10" name="组合 9"/>
          <p:cNvGrpSpPr/>
          <p:nvPr/>
        </p:nvGrpSpPr>
        <p:grpSpPr>
          <a:xfrm>
            <a:off x="325755" y="955040"/>
            <a:ext cx="11303000" cy="5752465"/>
            <a:chOff x="513" y="1504"/>
            <a:chExt cx="17800" cy="9059"/>
          </a:xfrm>
        </p:grpSpPr>
        <p:sp>
          <p:nvSpPr>
            <p:cNvPr id="27" name="圆角矩形 26"/>
            <p:cNvSpPr/>
            <p:nvPr/>
          </p:nvSpPr>
          <p:spPr>
            <a:xfrm>
              <a:off x="2021" y="1504"/>
              <a:ext cx="14784" cy="988"/>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en-US" altLang="zh-CN" b="1">
                  <a:solidFill>
                    <a:schemeClr val="accent6">
                      <a:lumMod val="50000"/>
                    </a:schemeClr>
                  </a:solidFill>
                  <a:latin typeface="微软雅黑" panose="020B0503020204020204" charset="-122"/>
                  <a:ea typeface="微软雅黑" panose="020B0503020204020204" charset="-122"/>
                </a:rPr>
                <a:t>ANALYSIS OF THE ITERATIVE TRAJECTORY OF AUTONOMOUS EXPLORATION</a:t>
              </a:r>
              <a:endParaRPr lang="en-US" altLang="zh-CN" b="1">
                <a:solidFill>
                  <a:schemeClr val="accent6">
                    <a:lumMod val="50000"/>
                  </a:schemeClr>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2"/>
            <a:stretch>
              <a:fillRect/>
            </a:stretch>
          </p:blipFill>
          <p:spPr>
            <a:xfrm>
              <a:off x="3063" y="2654"/>
              <a:ext cx="12700" cy="3971"/>
            </a:xfrm>
            <a:prstGeom prst="rect">
              <a:avLst/>
            </a:prstGeom>
          </p:spPr>
        </p:pic>
        <p:sp>
          <p:nvSpPr>
            <p:cNvPr id="6" name="文本框 5"/>
            <p:cNvSpPr txBox="1"/>
            <p:nvPr/>
          </p:nvSpPr>
          <p:spPr>
            <a:xfrm>
              <a:off x="513" y="6543"/>
              <a:ext cx="17800" cy="4021"/>
            </a:xfrm>
            <a:prstGeom prst="rect">
              <a:avLst/>
            </a:prstGeom>
          </p:spPr>
          <p:txBody>
            <a:bodyPr wrap="square">
              <a:spAutoFit/>
            </a:bodyPr>
            <a:p>
              <a:pPr marL="285750" indent="-285750" algn="just" fontAlgn="auto">
                <a:lnSpc>
                  <a:spcPct val="125000"/>
                </a:lnSpc>
                <a:buFont typeface="Wingdings" panose="05000000000000000000" charset="0"/>
                <a:buChar char="Ø"/>
              </a:pPr>
              <a:r>
                <a:rPr lang="zh-CN" altLang="en-US" sz="1600" b="0" i="0">
                  <a:solidFill>
                    <a:srgbClr val="000000"/>
                  </a:solidFill>
                  <a:latin typeface="微软雅黑" panose="020B0503020204020204" charset="-122"/>
                  <a:ea typeface="微软雅黑" panose="020B0503020204020204" charset="-122"/>
                </a:rPr>
                <a:t>我们对</a:t>
              </a:r>
              <a:r>
                <a:rPr lang="en-US" altLang="zh-CN" sz="1600" b="0" i="0">
                  <a:solidFill>
                    <a:srgbClr val="000000"/>
                  </a:solidFill>
                  <a:latin typeface="微软雅黑" panose="020B0503020204020204" charset="-122"/>
                  <a:ea typeface="微软雅黑" panose="020B0503020204020204" charset="-122"/>
                </a:rPr>
                <a:t> DeepScientist </a:t>
              </a:r>
              <a:r>
                <a:rPr lang="zh-CN" altLang="en-US" sz="1600" b="0" i="0">
                  <a:solidFill>
                    <a:srgbClr val="000000"/>
                  </a:solidFill>
                  <a:latin typeface="微软雅黑" panose="020B0503020204020204" charset="-122"/>
                  <a:ea typeface="微软雅黑" panose="020B0503020204020204" charset="-122"/>
                </a:rPr>
                <a:t>实验日志的分析揭示了</a:t>
              </a:r>
              <a:r>
                <a:rPr lang="zh-CN" altLang="en-US" sz="1600" b="1" i="0">
                  <a:solidFill>
                    <a:schemeClr val="accent6">
                      <a:lumMod val="50000"/>
                    </a:schemeClr>
                  </a:solidFill>
                  <a:latin typeface="微软雅黑" panose="020B0503020204020204" charset="-122"/>
                  <a:ea typeface="微软雅黑" panose="020B0503020204020204" charset="-122"/>
                </a:rPr>
                <a:t>自主科学发现中固有的试错过程的巨大规模。</a:t>
              </a:r>
              <a:endParaRPr lang="zh-CN" altLang="en-US" sz="1600" b="1" i="0">
                <a:solidFill>
                  <a:schemeClr val="accent6">
                    <a:lumMod val="50000"/>
                  </a:schemeClr>
                </a:solidFill>
                <a:latin typeface="微软雅黑" panose="020B0503020204020204" charset="-122"/>
                <a:ea typeface="微软雅黑" panose="020B0503020204020204" charset="-122"/>
              </a:endParaRPr>
            </a:p>
            <a:p>
              <a:pPr marL="285750" indent="-285750" algn="just" fontAlgn="auto">
                <a:lnSpc>
                  <a:spcPct val="125000"/>
                </a:lnSpc>
                <a:buFont typeface="Wingdings" panose="05000000000000000000" charset="0"/>
                <a:buChar char="Ø"/>
              </a:pPr>
              <a:r>
                <a:rPr lang="zh-CN" altLang="en-US" sz="1600" b="0" i="0">
                  <a:solidFill>
                    <a:srgbClr val="000000"/>
                  </a:solidFill>
                  <a:latin typeface="微软雅黑" panose="020B0503020204020204" charset="-122"/>
                  <a:ea typeface="微软雅黑" panose="020B0503020204020204" charset="-122"/>
                </a:rPr>
                <a:t>执行时间分布表明，当前自主科学存在</a:t>
              </a:r>
              <a:r>
                <a:rPr lang="zh-CN" altLang="en-US" sz="1600" b="1" i="0">
                  <a:solidFill>
                    <a:schemeClr val="accent6">
                      <a:lumMod val="50000"/>
                    </a:schemeClr>
                  </a:solidFill>
                  <a:latin typeface="微软雅黑" panose="020B0503020204020204" charset="-122"/>
                  <a:ea typeface="微软雅黑" panose="020B0503020204020204" charset="-122"/>
                </a:rPr>
                <a:t>明确的应用边界：</a:t>
              </a:r>
              <a:r>
                <a:rPr lang="zh-CN" altLang="en-US" sz="1600" b="0" i="0">
                  <a:solidFill>
                    <a:srgbClr val="000000"/>
                  </a:solidFill>
                  <a:latin typeface="微软雅黑" panose="020B0503020204020204" charset="-122"/>
                  <a:ea typeface="微软雅黑" panose="020B0503020204020204" charset="-122"/>
                </a:rPr>
                <a:t>对于具有快速反馈循环的任务，将大规模实验委托给人工智能是一种强有力的策略。然而，对于像预训练基础模型或药物合成这样的高成本工作，低成功率使得这种方法目前不切实际，必须继续依赖人类主导的构思</a:t>
              </a:r>
              <a:endParaRPr lang="zh-CN" altLang="en-US" sz="1600" b="0" i="0">
                <a:solidFill>
                  <a:srgbClr val="000000"/>
                </a:solidFill>
                <a:latin typeface="微软雅黑" panose="020B0503020204020204" charset="-122"/>
                <a:ea typeface="微软雅黑" panose="020B0503020204020204" charset="-122"/>
              </a:endParaRPr>
            </a:p>
            <a:p>
              <a:pPr marL="285750" indent="-285750" algn="just" fontAlgn="auto">
                <a:lnSpc>
                  <a:spcPct val="125000"/>
                </a:lnSpc>
                <a:buFont typeface="Wingdings" panose="05000000000000000000" charset="0"/>
                <a:buChar char="Ø"/>
              </a:pPr>
              <a:r>
                <a:rPr lang="zh-CN" altLang="en-US" sz="1600" b="1" i="0">
                  <a:solidFill>
                    <a:schemeClr val="accent6">
                      <a:lumMod val="50000"/>
                    </a:schemeClr>
                  </a:solidFill>
                  <a:latin typeface="微软雅黑" panose="020B0503020204020204" charset="-122"/>
                  <a:ea typeface="微软雅黑" panose="020B0503020204020204" charset="-122"/>
                </a:rPr>
                <a:t>选择过程的关键性：</a:t>
              </a:r>
              <a:r>
                <a:rPr lang="zh-CN" altLang="en-US" sz="1600" b="0" i="0">
                  <a:solidFill>
                    <a:srgbClr val="000000"/>
                  </a:solidFill>
                  <a:latin typeface="微软雅黑" panose="020B0503020204020204" charset="-122"/>
                  <a:ea typeface="微软雅黑" panose="020B0503020204020204" charset="-122"/>
                </a:rPr>
                <a:t>如果没有它，为每个任务随机抽取</a:t>
              </a:r>
              <a:r>
                <a:rPr lang="en-US" altLang="zh-CN" sz="1600" b="0" i="0">
                  <a:solidFill>
                    <a:srgbClr val="000000"/>
                  </a:solidFill>
                  <a:latin typeface="微软雅黑" panose="020B0503020204020204" charset="-122"/>
                  <a:ea typeface="微软雅黑" panose="020B0503020204020204" charset="-122"/>
                </a:rPr>
                <a:t> 100 </a:t>
              </a:r>
              <a:r>
                <a:rPr lang="zh-CN" altLang="en-US" sz="1600" b="0" i="0">
                  <a:solidFill>
                    <a:srgbClr val="000000"/>
                  </a:solidFill>
                  <a:latin typeface="微软雅黑" panose="020B0503020204020204" charset="-122"/>
                  <a:ea typeface="微软雅黑" panose="020B0503020204020204" charset="-122"/>
                </a:rPr>
                <a:t>个想法并进行测试，成功率实际上为零。通过我们的选择策略，成功率上升到约</a:t>
              </a:r>
              <a:r>
                <a:rPr lang="en-US" altLang="zh-CN" sz="1600" b="0" i="0">
                  <a:solidFill>
                    <a:srgbClr val="000000"/>
                  </a:solidFill>
                  <a:latin typeface="微软雅黑" panose="020B0503020204020204" charset="-122"/>
                  <a:ea typeface="微软雅黑" panose="020B0503020204020204" charset="-122"/>
                </a:rPr>
                <a:t> 1 - 3%</a:t>
              </a:r>
              <a:r>
                <a:rPr lang="zh-CN" altLang="en-US" sz="1600" b="0" i="0">
                  <a:solidFill>
                    <a:srgbClr val="000000"/>
                  </a:solidFill>
                  <a:latin typeface="微软雅黑" panose="020B0503020204020204" charset="-122"/>
                  <a:ea typeface="微软雅黑" panose="020B0503020204020204" charset="-122"/>
                </a:rPr>
                <a:t>，这表明尽管仍然很低，但智能筛选至关重要。</a:t>
              </a:r>
              <a:endParaRPr lang="zh-CN" altLang="en-US" sz="1600" b="0" i="0">
                <a:solidFill>
                  <a:srgbClr val="000000"/>
                </a:solidFill>
                <a:latin typeface="微软雅黑" panose="020B0503020204020204" charset="-122"/>
                <a:ea typeface="微软雅黑" panose="020B0503020204020204" charset="-122"/>
              </a:endParaRPr>
            </a:p>
            <a:p>
              <a:pPr marL="285750" indent="-285750" algn="just" fontAlgn="auto">
                <a:lnSpc>
                  <a:spcPct val="125000"/>
                </a:lnSpc>
                <a:buFont typeface="Wingdings" panose="05000000000000000000" charset="0"/>
                <a:buChar char="Ø"/>
              </a:pPr>
              <a:r>
                <a:rPr lang="zh-CN" altLang="en-US" sz="1600" b="0" i="0">
                  <a:solidFill>
                    <a:srgbClr val="000000"/>
                  </a:solidFill>
                  <a:latin typeface="微软雅黑" panose="020B0503020204020204" charset="-122"/>
                  <a:ea typeface="微软雅黑" panose="020B0503020204020204" charset="-122"/>
                </a:rPr>
                <a:t>因此，</a:t>
              </a:r>
              <a:r>
                <a:rPr lang="zh-CN" altLang="en-US" sz="1600" b="1" i="0">
                  <a:solidFill>
                    <a:schemeClr val="accent6">
                      <a:lumMod val="50000"/>
                    </a:schemeClr>
                  </a:solidFill>
                  <a:latin typeface="微软雅黑" panose="020B0503020204020204" charset="-122"/>
                  <a:ea typeface="微软雅黑" panose="020B0503020204020204" charset="-122"/>
                </a:rPr>
                <a:t>这项工作的成功并非源于暴力计算，而是源于搜索效率</a:t>
              </a:r>
              <a:r>
                <a:rPr lang="zh-CN" altLang="en-US" sz="1600" b="0" i="0">
                  <a:solidFill>
                    <a:srgbClr val="000000"/>
                  </a:solidFill>
                  <a:latin typeface="微软雅黑" panose="020B0503020204020204" charset="-122"/>
                  <a:ea typeface="微软雅黑" panose="020B0503020204020204" charset="-122"/>
                </a:rPr>
                <a:t>。如果采用一种简单的方法，对所有</a:t>
              </a:r>
              <a:r>
                <a:rPr lang="en-US" altLang="zh-CN" sz="1600" b="0" i="0">
                  <a:solidFill>
                    <a:srgbClr val="000000"/>
                  </a:solidFill>
                  <a:latin typeface="微软雅黑" panose="020B0503020204020204" charset="-122"/>
                  <a:ea typeface="微软雅黑" panose="020B0503020204020204" charset="-122"/>
                </a:rPr>
                <a:t> 5000 </a:t>
              </a:r>
              <a:r>
                <a:rPr lang="zh-CN" altLang="en-US" sz="1600" b="0" i="0">
                  <a:solidFill>
                    <a:srgbClr val="000000"/>
                  </a:solidFill>
                  <a:latin typeface="微软雅黑" panose="020B0503020204020204" charset="-122"/>
                  <a:ea typeface="微软雅黑" panose="020B0503020204020204" charset="-122"/>
                </a:rPr>
                <a:t>个有希望的候选者进行全面测试，将需要超过</a:t>
              </a:r>
              <a:r>
                <a:rPr lang="en-US" altLang="zh-CN" sz="1600" b="0" i="0">
                  <a:solidFill>
                    <a:srgbClr val="000000"/>
                  </a:solidFill>
                  <a:latin typeface="微软雅黑" panose="020B0503020204020204" charset="-122"/>
                  <a:ea typeface="微软雅黑" panose="020B0503020204020204" charset="-122"/>
                </a:rPr>
                <a:t> 10 </a:t>
              </a:r>
              <a:r>
                <a:rPr lang="zh-CN" altLang="en-US" sz="1600" b="0" i="0">
                  <a:solidFill>
                    <a:srgbClr val="000000"/>
                  </a:solidFill>
                  <a:latin typeface="微软雅黑" panose="020B0503020204020204" charset="-122"/>
                  <a:ea typeface="微软雅黑" panose="020B0503020204020204" charset="-122"/>
                </a:rPr>
                <a:t>万</a:t>
              </a:r>
              <a:r>
                <a:rPr lang="en-US" altLang="zh-CN" sz="1600" b="0" i="0">
                  <a:solidFill>
                    <a:srgbClr val="000000"/>
                  </a:solidFill>
                  <a:latin typeface="微软雅黑" panose="020B0503020204020204" charset="-122"/>
                  <a:ea typeface="微软雅黑" panose="020B0503020204020204" charset="-122"/>
                </a:rPr>
                <a:t> GPU </a:t>
              </a:r>
              <a:r>
                <a:rPr lang="zh-CN" altLang="en-US" sz="1600" b="0" i="0">
                  <a:solidFill>
                    <a:srgbClr val="000000"/>
                  </a:solidFill>
                  <a:latin typeface="微软雅黑" panose="020B0503020204020204" charset="-122"/>
                  <a:ea typeface="微软雅黑" panose="020B0503020204020204" charset="-122"/>
                </a:rPr>
                <a:t>小时，而我们的定向探索仅用</a:t>
              </a:r>
              <a:r>
                <a:rPr lang="en-US" altLang="zh-CN" sz="1600" b="0" i="0">
                  <a:solidFill>
                    <a:srgbClr val="000000"/>
                  </a:solidFill>
                  <a:latin typeface="微软雅黑" panose="020B0503020204020204" charset="-122"/>
                  <a:ea typeface="微软雅黑" panose="020B0503020204020204" charset="-122"/>
                </a:rPr>
                <a:t> 2 </a:t>
              </a:r>
              <a:r>
                <a:rPr lang="zh-CN" altLang="en-US" sz="1600" b="0" i="0">
                  <a:solidFill>
                    <a:srgbClr val="000000"/>
                  </a:solidFill>
                  <a:latin typeface="微软雅黑" panose="020B0503020204020204" charset="-122"/>
                  <a:ea typeface="微软雅黑" panose="020B0503020204020204" charset="-122"/>
                </a:rPr>
                <a:t>万</a:t>
              </a:r>
              <a:r>
                <a:rPr lang="en-US" altLang="zh-CN" sz="1600" b="0" i="0">
                  <a:solidFill>
                    <a:srgbClr val="000000"/>
                  </a:solidFill>
                  <a:latin typeface="微软雅黑" panose="020B0503020204020204" charset="-122"/>
                  <a:ea typeface="微软雅黑" panose="020B0503020204020204" charset="-122"/>
                </a:rPr>
                <a:t> GPU </a:t>
              </a:r>
              <a:r>
                <a:rPr lang="zh-CN" altLang="en-US" sz="1600" b="0" i="0">
                  <a:solidFill>
                    <a:srgbClr val="000000"/>
                  </a:solidFill>
                  <a:latin typeface="微软雅黑" panose="020B0503020204020204" charset="-122"/>
                  <a:ea typeface="微软雅黑" panose="020B0503020204020204" charset="-122"/>
                </a:rPr>
                <a:t>小时就取得了突破。</a:t>
              </a:r>
              <a:endParaRPr lang="zh-CN" altLang="en-US" sz="1600" b="0" i="0">
                <a:solidFill>
                  <a:srgbClr val="000000"/>
                </a:solidFill>
                <a:latin typeface="微软雅黑" panose="020B0503020204020204" charset="-122"/>
                <a:ea typeface="微软雅黑" panose="020B050302020402020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strips(downLeft)">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0" y="-635"/>
            <a:ext cx="12192000" cy="707390"/>
            <a:chOff x="0" y="0"/>
            <a:chExt cx="19200" cy="1114"/>
          </a:xfrm>
        </p:grpSpPr>
        <p:sp>
          <p:nvSpPr>
            <p:cNvPr id="3" name="矩形 2"/>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Other Insights</a:t>
              </a:r>
              <a:endParaRPr lang="en-US" altLang="zh-CN" sz="14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6</a:t>
              </a:r>
              <a:endParaRPr lang="en-US" altLang="zh-CN" sz="4000" b="1">
                <a:solidFill>
                  <a:schemeClr val="bg1"/>
                </a:solidFill>
                <a:latin typeface="微软雅黑" panose="020B0503020204020204" charset="-122"/>
                <a:ea typeface="微软雅黑" panose="020B0503020204020204" charset="-122"/>
              </a:endParaRPr>
            </a:p>
          </p:txBody>
        </p:sp>
      </p:grpSp>
      <p:pic>
        <p:nvPicPr>
          <p:cNvPr id="8" name="图片 7" descr="logo"/>
          <p:cNvPicPr>
            <a:picLocks noChangeAspect="1"/>
          </p:cNvPicPr>
          <p:nvPr/>
        </p:nvPicPr>
        <p:blipFill>
          <a:blip r:embed="rId1"/>
          <a:stretch>
            <a:fillRect/>
          </a:stretch>
        </p:blipFill>
        <p:spPr>
          <a:xfrm>
            <a:off x="8810625" y="33655"/>
            <a:ext cx="3314700" cy="673100"/>
          </a:xfrm>
          <a:prstGeom prst="rect">
            <a:avLst/>
          </a:prstGeom>
        </p:spPr>
      </p:pic>
      <p:grpSp>
        <p:nvGrpSpPr>
          <p:cNvPr id="10" name="组合 9"/>
          <p:cNvGrpSpPr/>
          <p:nvPr/>
        </p:nvGrpSpPr>
        <p:grpSpPr>
          <a:xfrm>
            <a:off x="325755" y="955040"/>
            <a:ext cx="11303000" cy="5730240"/>
            <a:chOff x="513" y="1504"/>
            <a:chExt cx="17800" cy="9024"/>
          </a:xfrm>
        </p:grpSpPr>
        <p:sp>
          <p:nvSpPr>
            <p:cNvPr id="27" name="圆角矩形 26"/>
            <p:cNvSpPr/>
            <p:nvPr/>
          </p:nvSpPr>
          <p:spPr>
            <a:xfrm>
              <a:off x="2021" y="1504"/>
              <a:ext cx="14784" cy="988"/>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en-US" altLang="zh-CN" b="1">
                  <a:solidFill>
                    <a:schemeClr val="accent6">
                      <a:lumMod val="50000"/>
                    </a:schemeClr>
                  </a:solidFill>
                  <a:latin typeface="微软雅黑" panose="020B0503020204020204" charset="-122"/>
                  <a:ea typeface="微软雅黑" panose="020B0503020204020204" charset="-122"/>
                </a:rPr>
                <a:t>ANALYSIS OF THE ITERATIVE TRAJECTORY OF AUTONOMOUS EXPLORATION</a:t>
              </a:r>
              <a:endParaRPr lang="en-US" altLang="zh-CN" b="1">
                <a:solidFill>
                  <a:schemeClr val="accent6">
                    <a:lumMod val="50000"/>
                  </a:schemeClr>
                </a:solidFill>
                <a:latin typeface="微软雅黑" panose="020B0503020204020204" charset="-122"/>
                <a:ea typeface="微软雅黑" panose="020B0503020204020204" charset="-122"/>
              </a:endParaRPr>
            </a:p>
          </p:txBody>
        </p:sp>
        <p:sp>
          <p:nvSpPr>
            <p:cNvPr id="6" name="文本框 5"/>
            <p:cNvSpPr txBox="1"/>
            <p:nvPr/>
          </p:nvSpPr>
          <p:spPr>
            <a:xfrm>
              <a:off x="513" y="7476"/>
              <a:ext cx="17800" cy="3052"/>
            </a:xfrm>
            <a:prstGeom prst="rect">
              <a:avLst/>
            </a:prstGeom>
          </p:spPr>
          <p:txBody>
            <a:bodyPr wrap="square">
              <a:spAutoFit/>
            </a:bodyPr>
            <a:p>
              <a:pPr marL="285750" indent="-285750" algn="just" fontAlgn="auto">
                <a:lnSpc>
                  <a:spcPct val="125000"/>
                </a:lnSpc>
                <a:buFont typeface="Wingdings" panose="05000000000000000000" charset="0"/>
                <a:buChar char="Ø"/>
              </a:pPr>
              <a:r>
                <a:rPr lang="en-US" altLang="zh-CN" sz="1600" b="0" i="0">
                  <a:solidFill>
                    <a:srgbClr val="000000"/>
                  </a:solidFill>
                  <a:latin typeface="微软雅黑" panose="020B0503020204020204" charset="-122"/>
                  <a:ea typeface="微软雅黑" panose="020B0503020204020204" charset="-122"/>
                </a:rPr>
                <a:t>DeepScientist </a:t>
              </a:r>
              <a:r>
                <a:rPr lang="zh-CN" altLang="en-US" sz="1600" b="0" i="0">
                  <a:solidFill>
                    <a:srgbClr val="000000"/>
                  </a:solidFill>
                  <a:latin typeface="微软雅黑" panose="020B0503020204020204" charset="-122"/>
                  <a:ea typeface="微软雅黑" panose="020B0503020204020204" charset="-122"/>
                </a:rPr>
                <a:t>的</a:t>
              </a:r>
              <a:r>
                <a:rPr lang="zh-CN" altLang="en-US" sz="1600" b="1" i="0">
                  <a:solidFill>
                    <a:schemeClr val="accent6">
                      <a:lumMod val="50000"/>
                    </a:schemeClr>
                  </a:solidFill>
                  <a:latin typeface="微软雅黑" panose="020B0503020204020204" charset="-122"/>
                  <a:ea typeface="微软雅黑" panose="020B0503020204020204" charset="-122"/>
                </a:rPr>
                <a:t>发现过程遵循一个有目的且逐步推进的轨迹：</a:t>
              </a:r>
              <a:r>
                <a:rPr lang="zh-CN" altLang="en-US" sz="1600" b="0" i="0">
                  <a:solidFill>
                    <a:srgbClr val="000000"/>
                  </a:solidFill>
                  <a:latin typeface="微软雅黑" panose="020B0503020204020204" charset="-122"/>
                  <a:ea typeface="微软雅黑" panose="020B0503020204020204" charset="-122"/>
                </a:rPr>
                <a:t>尽管系统在广阔的概念范围内生成了数千个不同的想法，但它通往成功的路径并非随机，而是一系列有重点、符合逻辑的进展。</a:t>
              </a:r>
              <a:endParaRPr lang="zh-CN" altLang="en-US" sz="1600" b="0" i="0">
                <a:solidFill>
                  <a:srgbClr val="000000"/>
                </a:solidFill>
                <a:latin typeface="微软雅黑" panose="020B0503020204020204" charset="-122"/>
                <a:ea typeface="微软雅黑" panose="020B0503020204020204" charset="-122"/>
              </a:endParaRPr>
            </a:p>
            <a:p>
              <a:pPr marL="285750" indent="-285750" algn="just" fontAlgn="auto">
                <a:lnSpc>
                  <a:spcPct val="125000"/>
                </a:lnSpc>
                <a:buFont typeface="Wingdings" panose="05000000000000000000" charset="0"/>
                <a:buChar char="Ø"/>
              </a:pPr>
              <a:r>
                <a:rPr lang="zh-CN" altLang="en-US" sz="1600" b="0" i="0">
                  <a:solidFill>
                    <a:srgbClr val="000000"/>
                  </a:solidFill>
                  <a:latin typeface="微软雅黑" panose="020B0503020204020204" charset="-122"/>
                  <a:ea typeface="微软雅黑" panose="020B0503020204020204" charset="-122"/>
                </a:rPr>
                <a:t>这表明</a:t>
              </a:r>
              <a:r>
                <a:rPr lang="zh-CN" altLang="en-US" sz="1600" b="1" i="0">
                  <a:solidFill>
                    <a:schemeClr val="accent6">
                      <a:lumMod val="50000"/>
                    </a:schemeClr>
                  </a:solidFill>
                  <a:latin typeface="微软雅黑" panose="020B0503020204020204" charset="-122"/>
                  <a:ea typeface="微软雅黑" panose="020B0503020204020204" charset="-122"/>
                </a:rPr>
                <a:t>它具备逐步深化理解的能力：</a:t>
              </a:r>
              <a:r>
                <a:rPr lang="zh-CN" altLang="en-US" sz="1600" b="0" i="0">
                  <a:solidFill>
                    <a:srgbClr val="000000"/>
                  </a:solidFill>
                  <a:latin typeface="微软雅黑" panose="020B0503020204020204" charset="-122"/>
                  <a:ea typeface="微软雅黑" panose="020B0503020204020204" charset="-122"/>
                </a:rPr>
                <a:t>在通过</a:t>
              </a:r>
              <a:r>
                <a:rPr lang="en-US" altLang="zh-CN" sz="1600" b="0" i="0">
                  <a:solidFill>
                    <a:srgbClr val="000000"/>
                  </a:solidFill>
                  <a:latin typeface="微软雅黑" panose="020B0503020204020204" charset="-122"/>
                  <a:ea typeface="微软雅黑" panose="020B0503020204020204" charset="-122"/>
                </a:rPr>
                <a:t> T - Detect </a:t>
              </a:r>
              <a:r>
                <a:rPr lang="zh-CN" altLang="en-US" sz="1600" b="0" i="0">
                  <a:solidFill>
                    <a:srgbClr val="000000"/>
                  </a:solidFill>
                  <a:latin typeface="微软雅黑" panose="020B0503020204020204" charset="-122"/>
                  <a:ea typeface="微软雅黑" panose="020B0503020204020204" charset="-122"/>
                </a:rPr>
                <a:t>取得初步突破后，系统有效地确立了最先进水平（</a:t>
              </a:r>
              <a:r>
                <a:rPr lang="en-US" altLang="zh-CN" sz="1600" b="0" i="0">
                  <a:solidFill>
                    <a:srgbClr val="000000"/>
                  </a:solidFill>
                  <a:latin typeface="微软雅黑" panose="020B0503020204020204" charset="-122"/>
                  <a:ea typeface="微软雅黑" panose="020B0503020204020204" charset="-122"/>
                </a:rPr>
                <a:t>SoTA</a:t>
              </a:r>
              <a:r>
                <a:rPr lang="zh-CN" altLang="en-US" sz="1600" b="0" i="0">
                  <a:solidFill>
                    <a:srgbClr val="000000"/>
                  </a:solidFill>
                  <a:latin typeface="微软雅黑" panose="020B0503020204020204" charset="-122"/>
                  <a:ea typeface="微软雅黑" panose="020B0503020204020204" charset="-122"/>
                </a:rPr>
                <a:t>），识别出其后续的局限性，并将搜索重新定向到新的目标。这种动态探索体现在向</a:t>
              </a:r>
              <a:r>
                <a:rPr lang="en-US" altLang="zh-CN" sz="1600" b="0" i="0">
                  <a:solidFill>
                    <a:srgbClr val="000000"/>
                  </a:solidFill>
                  <a:latin typeface="微软雅黑" panose="020B0503020204020204" charset="-122"/>
                  <a:ea typeface="微软雅黑" panose="020B0503020204020204" charset="-122"/>
                </a:rPr>
                <a:t> TDT </a:t>
              </a:r>
              <a:r>
                <a:rPr lang="zh-CN" altLang="en-US" sz="1600" b="0" i="0">
                  <a:solidFill>
                    <a:srgbClr val="000000"/>
                  </a:solidFill>
                  <a:latin typeface="微软雅黑" panose="020B0503020204020204" charset="-122"/>
                  <a:ea typeface="微软雅黑" panose="020B0503020204020204" charset="-122"/>
                </a:rPr>
                <a:t>和</a:t>
              </a:r>
              <a:r>
                <a:rPr lang="en-US" altLang="zh-CN" sz="1600" b="0" i="0">
                  <a:solidFill>
                    <a:srgbClr val="000000"/>
                  </a:solidFill>
                  <a:latin typeface="微软雅黑" panose="020B0503020204020204" charset="-122"/>
                  <a:ea typeface="微软雅黑" panose="020B0503020204020204" charset="-122"/>
                </a:rPr>
                <a:t> PA - Detect </a:t>
              </a:r>
              <a:r>
                <a:rPr lang="zh-CN" altLang="en-US" sz="1600" b="0" i="0">
                  <a:solidFill>
                    <a:srgbClr val="000000"/>
                  </a:solidFill>
                  <a:latin typeface="微软雅黑" panose="020B0503020204020204" charset="-122"/>
                  <a:ea typeface="微软雅黑" panose="020B0503020204020204" charset="-122"/>
                </a:rPr>
                <a:t>的概念转变上，它们利用新的位置和时间信息，在之前成功的基础上进一步发展。</a:t>
              </a:r>
              <a:endParaRPr lang="zh-CN" altLang="en-US" sz="1600" b="0" i="0">
                <a:solidFill>
                  <a:srgbClr val="000000"/>
                </a:solidFill>
                <a:latin typeface="微软雅黑" panose="020B0503020204020204" charset="-122"/>
                <a:ea typeface="微软雅黑" panose="020B0503020204020204" charset="-122"/>
              </a:endParaRPr>
            </a:p>
            <a:p>
              <a:pPr marL="285750" indent="-285750" algn="just" fontAlgn="auto">
                <a:lnSpc>
                  <a:spcPct val="125000"/>
                </a:lnSpc>
                <a:buFont typeface="Wingdings" panose="05000000000000000000" charset="0"/>
                <a:buChar char="Ø"/>
              </a:pPr>
              <a:r>
                <a:rPr lang="zh-CN" altLang="en-US" sz="1600" b="1" i="0">
                  <a:solidFill>
                    <a:schemeClr val="accent6">
                      <a:lumMod val="50000"/>
                    </a:schemeClr>
                  </a:solidFill>
                  <a:latin typeface="微软雅黑" panose="020B0503020204020204" charset="-122"/>
                  <a:ea typeface="微软雅黑" panose="020B0503020204020204" charset="-122"/>
                </a:rPr>
                <a:t>这种基于自身发现、将每一项成功发现转化为识别和解决下一组局限性的新起点的能力，展示了强大的科学探索能力。</a:t>
              </a:r>
              <a:endParaRPr lang="zh-CN" altLang="en-US" sz="1600" b="1" i="0">
                <a:solidFill>
                  <a:schemeClr val="accent6">
                    <a:lumMod val="50000"/>
                  </a:schemeClr>
                </a:solidFill>
                <a:latin typeface="微软雅黑" panose="020B0503020204020204" charset="-122"/>
                <a:ea typeface="微软雅黑" panose="020B0503020204020204" charset="-122"/>
              </a:endParaRPr>
            </a:p>
          </p:txBody>
        </p:sp>
        <p:pic>
          <p:nvPicPr>
            <p:cNvPr id="9" name="图片 8"/>
            <p:cNvPicPr>
              <a:picLocks noChangeAspect="1"/>
            </p:cNvPicPr>
            <p:nvPr/>
          </p:nvPicPr>
          <p:blipFill>
            <a:blip r:embed="rId2"/>
            <a:stretch>
              <a:fillRect/>
            </a:stretch>
          </p:blipFill>
          <p:spPr>
            <a:xfrm>
              <a:off x="3645" y="2636"/>
              <a:ext cx="11910" cy="4840"/>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strips(downLeft)">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0" y="-635"/>
            <a:ext cx="12192000" cy="707390"/>
            <a:chOff x="0" y="0"/>
            <a:chExt cx="19200" cy="1114"/>
          </a:xfrm>
        </p:grpSpPr>
        <p:sp>
          <p:nvSpPr>
            <p:cNvPr id="3" name="矩形 2"/>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Other Insights</a:t>
              </a:r>
              <a:endParaRPr lang="en-US" altLang="zh-CN" sz="14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6</a:t>
              </a:r>
              <a:endParaRPr lang="en-US" altLang="zh-CN" sz="4000" b="1">
                <a:solidFill>
                  <a:schemeClr val="bg1"/>
                </a:solidFill>
                <a:latin typeface="微软雅黑" panose="020B0503020204020204" charset="-122"/>
                <a:ea typeface="微软雅黑" panose="020B0503020204020204" charset="-122"/>
              </a:endParaRPr>
            </a:p>
          </p:txBody>
        </p:sp>
      </p:grpSp>
      <p:pic>
        <p:nvPicPr>
          <p:cNvPr id="8" name="图片 7" descr="logo"/>
          <p:cNvPicPr>
            <a:picLocks noChangeAspect="1"/>
          </p:cNvPicPr>
          <p:nvPr/>
        </p:nvPicPr>
        <p:blipFill>
          <a:blip r:embed="rId1"/>
          <a:stretch>
            <a:fillRect/>
          </a:stretch>
        </p:blipFill>
        <p:spPr>
          <a:xfrm>
            <a:off x="8810625" y="33655"/>
            <a:ext cx="3314700" cy="673100"/>
          </a:xfrm>
          <a:prstGeom prst="rect">
            <a:avLst/>
          </a:prstGeom>
        </p:spPr>
      </p:pic>
      <p:grpSp>
        <p:nvGrpSpPr>
          <p:cNvPr id="10" name="组合 9"/>
          <p:cNvGrpSpPr/>
          <p:nvPr/>
        </p:nvGrpSpPr>
        <p:grpSpPr>
          <a:xfrm>
            <a:off x="443865" y="955040"/>
            <a:ext cx="11303000" cy="5731510"/>
            <a:chOff x="699" y="1504"/>
            <a:chExt cx="17800" cy="9026"/>
          </a:xfrm>
        </p:grpSpPr>
        <p:sp>
          <p:nvSpPr>
            <p:cNvPr id="27" name="圆角矩形 26"/>
            <p:cNvSpPr/>
            <p:nvPr/>
          </p:nvSpPr>
          <p:spPr>
            <a:xfrm>
              <a:off x="2021" y="1504"/>
              <a:ext cx="14784" cy="988"/>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en-US" altLang="zh-CN" b="1">
                  <a:solidFill>
                    <a:schemeClr val="accent6">
                      <a:lumMod val="50000"/>
                    </a:schemeClr>
                  </a:solidFill>
                  <a:latin typeface="微软雅黑" panose="020B0503020204020204" charset="-122"/>
                  <a:ea typeface="微软雅黑" panose="020B0503020204020204" charset="-122"/>
                </a:rPr>
                <a:t>ANALYSIS OF THE ITERATIVE TRAJECTORY OF AUTONOMOUS EXPLORATION</a:t>
              </a:r>
              <a:endParaRPr lang="en-US" altLang="zh-CN" b="1">
                <a:solidFill>
                  <a:schemeClr val="accent6">
                    <a:lumMod val="50000"/>
                  </a:schemeClr>
                </a:solidFill>
                <a:latin typeface="微软雅黑" panose="020B0503020204020204" charset="-122"/>
                <a:ea typeface="微软雅黑" panose="020B0503020204020204" charset="-122"/>
              </a:endParaRPr>
            </a:p>
          </p:txBody>
        </p:sp>
        <p:sp>
          <p:nvSpPr>
            <p:cNvPr id="6" name="文本框 5"/>
            <p:cNvSpPr txBox="1"/>
            <p:nvPr/>
          </p:nvSpPr>
          <p:spPr>
            <a:xfrm>
              <a:off x="699" y="6468"/>
              <a:ext cx="17800" cy="4063"/>
            </a:xfrm>
            <a:prstGeom prst="rect">
              <a:avLst/>
            </a:prstGeom>
          </p:spPr>
          <p:txBody>
            <a:bodyPr wrap="square">
              <a:noAutofit/>
            </a:bodyPr>
            <a:p>
              <a:pPr marL="285750" indent="-285750" algn="just" fontAlgn="auto">
                <a:lnSpc>
                  <a:spcPct val="125000"/>
                </a:lnSpc>
                <a:buFont typeface="Wingdings" panose="05000000000000000000" charset="0"/>
                <a:buChar char="Ø"/>
              </a:pPr>
              <a:r>
                <a:rPr lang="zh-CN" altLang="en-US" sz="1600" i="0">
                  <a:solidFill>
                    <a:schemeClr val="tx1"/>
                  </a:solidFill>
                  <a:latin typeface="微软雅黑" panose="020B0503020204020204" charset="-122"/>
                  <a:ea typeface="微软雅黑" panose="020B0503020204020204" charset="-122"/>
                </a:rPr>
                <a:t>为了研究</a:t>
              </a:r>
              <a:r>
                <a:rPr lang="zh-CN" altLang="en-US" sz="1600" b="1" i="0">
                  <a:solidFill>
                    <a:schemeClr val="accent6">
                      <a:lumMod val="50000"/>
                    </a:schemeClr>
                  </a:solidFill>
                  <a:latin typeface="微软雅黑" panose="020B0503020204020204" charset="-122"/>
                  <a:ea typeface="微软雅黑" panose="020B0503020204020204" charset="-122"/>
                </a:rPr>
                <a:t>计算规模与科学进步速度之间的关系</a:t>
              </a:r>
              <a:r>
                <a:rPr lang="zh-CN" altLang="en-US" sz="1600" i="0">
                  <a:solidFill>
                    <a:schemeClr val="tx1"/>
                  </a:solidFill>
                  <a:latin typeface="微软雅黑" panose="020B0503020204020204" charset="-122"/>
                  <a:ea typeface="微软雅黑" panose="020B0503020204020204" charset="-122"/>
                </a:rPr>
                <a:t>，我们评估了</a:t>
              </a:r>
              <a:r>
                <a:rPr lang="en-US" altLang="zh-CN" sz="1600" i="0">
                  <a:solidFill>
                    <a:schemeClr val="tx1"/>
                  </a:solidFill>
                  <a:latin typeface="微软雅黑" panose="020B0503020204020204" charset="-122"/>
                  <a:ea typeface="微软雅黑" panose="020B0503020204020204" charset="-122"/>
                </a:rPr>
                <a:t> DeepScientist </a:t>
              </a:r>
              <a:r>
                <a:rPr lang="zh-CN" altLang="en-US" sz="1600" i="0">
                  <a:solidFill>
                    <a:schemeClr val="tx1"/>
                  </a:solidFill>
                  <a:latin typeface="微软雅黑" panose="020B0503020204020204" charset="-122"/>
                  <a:ea typeface="微软雅黑" panose="020B0503020204020204" charset="-122"/>
                </a:rPr>
                <a:t>在固定的一周时间内，生成的</a:t>
              </a:r>
              <a:r>
                <a:rPr lang="en-US" altLang="zh-CN" sz="1600" i="0">
                  <a:solidFill>
                    <a:schemeClr val="tx1"/>
                  </a:solidFill>
                  <a:latin typeface="微软雅黑" panose="020B0503020204020204" charset="-122"/>
                  <a:ea typeface="微软雅黑" panose="020B0503020204020204" charset="-122"/>
                </a:rPr>
                <a:t> “</a:t>
              </a:r>
              <a:r>
                <a:rPr lang="zh-CN" altLang="en-US" sz="1600" i="0">
                  <a:solidFill>
                    <a:schemeClr val="tx1"/>
                  </a:solidFill>
                  <a:latin typeface="微软雅黑" panose="020B0503020204020204" charset="-122"/>
                  <a:ea typeface="微软雅黑" panose="020B0503020204020204" charset="-122"/>
                </a:rPr>
                <a:t>进展发现</a:t>
              </a:r>
              <a:r>
                <a:rPr lang="en-US" altLang="zh-CN" sz="1600" i="0">
                  <a:solidFill>
                    <a:schemeClr val="tx1"/>
                  </a:solidFill>
                  <a:latin typeface="微软雅黑" panose="020B0503020204020204" charset="-122"/>
                  <a:ea typeface="微软雅黑" panose="020B0503020204020204" charset="-122"/>
                </a:rPr>
                <a:t>” </a:t>
              </a:r>
              <a:r>
                <a:rPr lang="zh-CN" altLang="en-US" sz="1600" i="0">
                  <a:solidFill>
                    <a:schemeClr val="tx1"/>
                  </a:solidFill>
                  <a:latin typeface="微软雅黑" panose="020B0503020204020204" charset="-122"/>
                  <a:ea typeface="微软雅黑" panose="020B0503020204020204" charset="-122"/>
                </a:rPr>
                <a:t>数量与可用并行资源的函数关系。</a:t>
              </a:r>
              <a:endParaRPr lang="zh-CN" altLang="en-US" sz="1600" i="0">
                <a:solidFill>
                  <a:schemeClr val="tx1"/>
                </a:solidFill>
                <a:latin typeface="微软雅黑" panose="020B0503020204020204" charset="-122"/>
                <a:ea typeface="微软雅黑" panose="020B0503020204020204" charset="-122"/>
              </a:endParaRPr>
            </a:p>
            <a:p>
              <a:pPr marL="285750" indent="-285750" algn="just" fontAlgn="auto">
                <a:lnSpc>
                  <a:spcPct val="125000"/>
                </a:lnSpc>
                <a:buFont typeface="Wingdings" panose="05000000000000000000" charset="0"/>
                <a:buChar char="Ø"/>
              </a:pPr>
              <a:r>
                <a:rPr lang="zh-CN" altLang="en-US" sz="1600" i="0">
                  <a:solidFill>
                    <a:schemeClr val="tx1"/>
                  </a:solidFill>
                  <a:latin typeface="微软雅黑" panose="020B0503020204020204" charset="-122"/>
                  <a:ea typeface="微软雅黑" panose="020B0503020204020204" charset="-122"/>
                </a:rPr>
                <a:t>在这个设置中，系统首先识别出基准方法中的一系列局限性，每条并行探索路径都被赋予解决一个不同局限性的任务，所有路径会定期将其结果同步到共享的发现记忆库中。结果表明：</a:t>
              </a:r>
              <a:r>
                <a:rPr lang="zh-CN" altLang="en-US" sz="1600" b="1" i="0">
                  <a:solidFill>
                    <a:schemeClr val="accent6">
                      <a:lumMod val="50000"/>
                    </a:schemeClr>
                  </a:solidFill>
                  <a:latin typeface="微软雅黑" panose="020B0503020204020204" charset="-122"/>
                  <a:ea typeface="微软雅黑" panose="020B0503020204020204" charset="-122"/>
                </a:rPr>
                <a:t>分配的资源与有价值的科学发现产出之间近乎线性的关系。</a:t>
              </a:r>
              <a:endParaRPr lang="zh-CN" altLang="en-US" sz="1600" i="0">
                <a:solidFill>
                  <a:schemeClr val="tx1"/>
                </a:solidFill>
                <a:latin typeface="微软雅黑" panose="020B0503020204020204" charset="-122"/>
                <a:ea typeface="微软雅黑" panose="020B0503020204020204" charset="-122"/>
              </a:endParaRPr>
            </a:p>
            <a:p>
              <a:pPr marL="285750" indent="-285750" algn="just" fontAlgn="auto">
                <a:lnSpc>
                  <a:spcPct val="125000"/>
                </a:lnSpc>
                <a:buFont typeface="Wingdings" panose="05000000000000000000" charset="0"/>
                <a:buChar char="Ø"/>
              </a:pPr>
              <a:r>
                <a:rPr lang="zh-CN" altLang="en-US" sz="1600" i="0">
                  <a:solidFill>
                    <a:schemeClr val="tx1"/>
                  </a:solidFill>
                  <a:latin typeface="微软雅黑" panose="020B0503020204020204" charset="-122"/>
                  <a:ea typeface="微软雅黑" panose="020B0503020204020204" charset="-122"/>
                </a:rPr>
                <a:t>这种结果不仅仅源于并行的试错，而是共享知识架构的直接结果。当每条并行路径进行探索时，它会丰富共享的发现记忆库。这会产生一种协同效应，使系统的集体智慧得以增长，让每条独立路径都能从其他路径的成功，以及同样重要的失败中受益。</a:t>
              </a:r>
              <a:r>
                <a:rPr lang="zh-CN" altLang="en-US" sz="1600" b="1" i="0">
                  <a:solidFill>
                    <a:schemeClr val="accent6">
                      <a:lumMod val="50000"/>
                    </a:schemeClr>
                  </a:solidFill>
                  <a:latin typeface="微软雅黑" panose="020B0503020204020204" charset="-122"/>
                  <a:ea typeface="微软雅黑" panose="020B0503020204020204" charset="-122"/>
                </a:rPr>
                <a:t>这表明，有效扩展自主科学不仅仅是增加暴力计算的问题，而是要培育一个更丰富、相互关联的知识库，从而在所有并发工作中加速发现。</a:t>
              </a:r>
              <a:endParaRPr lang="zh-CN" altLang="en-US" sz="1600" b="1" i="0">
                <a:solidFill>
                  <a:schemeClr val="accent6">
                    <a:lumMod val="50000"/>
                  </a:schemeClr>
                </a:solidFill>
                <a:latin typeface="微软雅黑" panose="020B0503020204020204" charset="-122"/>
                <a:ea typeface="微软雅黑" panose="020B0503020204020204" charset="-122"/>
              </a:endParaRPr>
            </a:p>
            <a:p>
              <a:pPr marL="285750" indent="-285750" algn="just" fontAlgn="auto">
                <a:lnSpc>
                  <a:spcPct val="125000"/>
                </a:lnSpc>
                <a:buFont typeface="Wingdings" panose="05000000000000000000" charset="0"/>
                <a:buChar char="Ø"/>
              </a:pPr>
              <a:endParaRPr lang="zh-CN" altLang="en-US" sz="1600" i="0">
                <a:solidFill>
                  <a:schemeClr val="tx1"/>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2"/>
            <a:stretch>
              <a:fillRect/>
            </a:stretch>
          </p:blipFill>
          <p:spPr>
            <a:xfrm>
              <a:off x="3276" y="2564"/>
              <a:ext cx="12647" cy="3904"/>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strips(downLeft)">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0" y="-635"/>
            <a:ext cx="12192000" cy="707390"/>
            <a:chOff x="0" y="0"/>
            <a:chExt cx="19200" cy="1114"/>
          </a:xfrm>
        </p:grpSpPr>
        <p:sp>
          <p:nvSpPr>
            <p:cNvPr id="3" name="矩形 2"/>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Other I</a:t>
              </a: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nsights</a:t>
              </a:r>
              <a:endPar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6</a:t>
              </a:r>
              <a:endParaRPr lang="en-US" altLang="zh-CN" sz="4000" b="1">
                <a:solidFill>
                  <a:schemeClr val="bg1"/>
                </a:solidFill>
                <a:latin typeface="微软雅黑" panose="020B0503020204020204" charset="-122"/>
                <a:ea typeface="微软雅黑" panose="020B0503020204020204" charset="-122"/>
              </a:endParaRPr>
            </a:p>
          </p:txBody>
        </p:sp>
      </p:grpSp>
      <p:pic>
        <p:nvPicPr>
          <p:cNvPr id="8" name="图片 7" descr="logo"/>
          <p:cNvPicPr>
            <a:picLocks noChangeAspect="1"/>
          </p:cNvPicPr>
          <p:nvPr/>
        </p:nvPicPr>
        <p:blipFill>
          <a:blip r:embed="rId1"/>
          <a:stretch>
            <a:fillRect/>
          </a:stretch>
        </p:blipFill>
        <p:spPr>
          <a:xfrm>
            <a:off x="8810625" y="33655"/>
            <a:ext cx="3314700" cy="673100"/>
          </a:xfrm>
          <a:prstGeom prst="rect">
            <a:avLst/>
          </a:prstGeom>
        </p:spPr>
      </p:pic>
      <p:grpSp>
        <p:nvGrpSpPr>
          <p:cNvPr id="9" name="组合 8"/>
          <p:cNvGrpSpPr/>
          <p:nvPr/>
        </p:nvGrpSpPr>
        <p:grpSpPr>
          <a:xfrm>
            <a:off x="443865" y="955040"/>
            <a:ext cx="11303000" cy="5045075"/>
            <a:chOff x="699" y="1504"/>
            <a:chExt cx="17800" cy="7945"/>
          </a:xfrm>
        </p:grpSpPr>
        <p:sp>
          <p:nvSpPr>
            <p:cNvPr id="27" name="圆角矩形 26"/>
            <p:cNvSpPr/>
            <p:nvPr/>
          </p:nvSpPr>
          <p:spPr>
            <a:xfrm>
              <a:off x="2021" y="1504"/>
              <a:ext cx="14784" cy="988"/>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en-US" altLang="zh-CN" b="1">
                  <a:solidFill>
                    <a:schemeClr val="accent6">
                      <a:lumMod val="50000"/>
                    </a:schemeClr>
                  </a:solidFill>
                  <a:latin typeface="微软雅黑" panose="020B0503020204020204" charset="-122"/>
                  <a:ea typeface="微软雅黑" panose="020B0503020204020204" charset="-122"/>
                </a:rPr>
                <a:t>HUMAN EXPERT REVIEW</a:t>
              </a:r>
              <a:endParaRPr lang="en-US" altLang="zh-CN" b="1">
                <a:solidFill>
                  <a:schemeClr val="accent6">
                    <a:lumMod val="50000"/>
                  </a:schemeClr>
                </a:solidFill>
                <a:latin typeface="微软雅黑" panose="020B0503020204020204" charset="-122"/>
                <a:ea typeface="微软雅黑" panose="020B0503020204020204" charset="-122"/>
              </a:endParaRPr>
            </a:p>
          </p:txBody>
        </p:sp>
        <p:sp>
          <p:nvSpPr>
            <p:cNvPr id="6" name="文本框 5"/>
            <p:cNvSpPr txBox="1"/>
            <p:nvPr/>
          </p:nvSpPr>
          <p:spPr>
            <a:xfrm>
              <a:off x="699" y="2669"/>
              <a:ext cx="17800" cy="6781"/>
            </a:xfrm>
            <a:prstGeom prst="rect">
              <a:avLst/>
            </a:prstGeom>
          </p:spPr>
          <p:txBody>
            <a:bodyPr wrap="square">
              <a:noAutofit/>
            </a:bodyPr>
            <a:p>
              <a:pPr indent="0" algn="just" fontAlgn="auto">
                <a:lnSpc>
                  <a:spcPct val="125000"/>
                </a:lnSpc>
                <a:buFont typeface="Wingdings" panose="05000000000000000000" charset="0"/>
                <a:buNone/>
              </a:pPr>
              <a:r>
                <a:rPr lang="zh-CN" altLang="en-US" sz="2000" b="1" i="0">
                  <a:solidFill>
                    <a:schemeClr val="accent6">
                      <a:lumMod val="50000"/>
                    </a:schemeClr>
                  </a:solidFill>
                  <a:latin typeface="微软雅黑" panose="020B0503020204020204" charset="-122"/>
                  <a:ea typeface="微软雅黑" panose="020B0503020204020204" charset="-122"/>
                </a:rPr>
                <a:t>在五篇生成的论文中，人类评审者达成了明确的共识：</a:t>
              </a:r>
              <a:endParaRPr lang="zh-CN" altLang="en-US" sz="2000" b="1" i="0">
                <a:solidFill>
                  <a:schemeClr val="accent6">
                    <a:lumMod val="50000"/>
                  </a:schemeClr>
                </a:solidFill>
                <a:latin typeface="微软雅黑" panose="020B0503020204020204" charset="-122"/>
                <a:ea typeface="微软雅黑" panose="020B0503020204020204" charset="-122"/>
              </a:endParaRPr>
            </a:p>
            <a:p>
              <a:pPr marL="285750" indent="-285750" algn="just" fontAlgn="auto">
                <a:lnSpc>
                  <a:spcPct val="125000"/>
                </a:lnSpc>
                <a:buFont typeface="Wingdings" panose="05000000000000000000" charset="0"/>
                <a:buChar char="Ø"/>
              </a:pPr>
              <a:r>
                <a:rPr lang="en-US" altLang="zh-CN" i="0">
                  <a:solidFill>
                    <a:schemeClr val="tx1"/>
                  </a:solidFill>
                  <a:latin typeface="微软雅黑" panose="020B0503020204020204" charset="-122"/>
                  <a:ea typeface="微软雅黑" panose="020B0503020204020204" charset="-122"/>
                </a:rPr>
                <a:t>DeepScientist </a:t>
              </a:r>
              <a:r>
                <a:rPr lang="zh-CN" altLang="en-US" i="0">
                  <a:solidFill>
                    <a:schemeClr val="tx1"/>
                  </a:solidFill>
                  <a:latin typeface="微软雅黑" panose="020B0503020204020204" charset="-122"/>
                  <a:ea typeface="微软雅黑" panose="020B0503020204020204" charset="-122"/>
                </a:rPr>
                <a:t>在</a:t>
              </a:r>
              <a:r>
                <a:rPr lang="zh-CN" altLang="en-US" b="1" i="0">
                  <a:solidFill>
                    <a:schemeClr val="accent6">
                      <a:lumMod val="50000"/>
                    </a:schemeClr>
                  </a:solidFill>
                  <a:latin typeface="微软雅黑" panose="020B0503020204020204" charset="-122"/>
                  <a:ea typeface="微软雅黑" panose="020B0503020204020204" charset="-122"/>
                </a:rPr>
                <a:t>研究的构思阶段始终表现出色</a:t>
              </a:r>
              <a:r>
                <a:rPr lang="zh-CN" altLang="en-US" i="0">
                  <a:solidFill>
                    <a:schemeClr val="tx1"/>
                  </a:solidFill>
                  <a:latin typeface="微软雅黑" panose="020B0503020204020204" charset="-122"/>
                  <a:ea typeface="微软雅黑" panose="020B0503020204020204" charset="-122"/>
                </a:rPr>
                <a:t>。这种反馈验证了该系统作为识别相关研究空白并生成创新性、有影响力解决方案的强大引擎的核心优势，确认了它能够成功构思出超越单纯渐进式改进的成果。</a:t>
              </a:r>
              <a:endParaRPr lang="zh-CN" altLang="en-US" i="0">
                <a:solidFill>
                  <a:schemeClr val="tx1"/>
                </a:solidFill>
                <a:latin typeface="微软雅黑" panose="020B0503020204020204" charset="-122"/>
                <a:ea typeface="微软雅黑" panose="020B0503020204020204" charset="-122"/>
              </a:endParaRPr>
            </a:p>
            <a:p>
              <a:pPr marL="285750" indent="-285750" algn="just" fontAlgn="auto">
                <a:lnSpc>
                  <a:spcPct val="125000"/>
                </a:lnSpc>
                <a:buFont typeface="Wingdings" panose="05000000000000000000" charset="0"/>
                <a:buChar char="Ø"/>
              </a:pPr>
              <a:r>
                <a:rPr lang="zh-CN" altLang="en-US" i="0">
                  <a:solidFill>
                    <a:schemeClr val="tx1"/>
                  </a:solidFill>
                  <a:latin typeface="微软雅黑" panose="020B0503020204020204" charset="-122"/>
                  <a:ea typeface="微软雅黑" panose="020B0503020204020204" charset="-122"/>
                </a:rPr>
                <a:t>然而，这种在构思方面的优势，</a:t>
              </a:r>
              <a:r>
                <a:rPr lang="zh-CN" altLang="en-US" b="1" i="0">
                  <a:solidFill>
                    <a:schemeClr val="accent6">
                      <a:lumMod val="50000"/>
                    </a:schemeClr>
                  </a:solidFill>
                  <a:latin typeface="微软雅黑" panose="020B0503020204020204" charset="-122"/>
                  <a:ea typeface="微软雅黑" panose="020B0503020204020204" charset="-122"/>
                </a:rPr>
                <a:t>因科学执行和严谨性方面反复出现的弱点而被系统性地削弱</a:t>
              </a:r>
              <a:r>
                <a:rPr lang="zh-CN" altLang="en-US" i="0">
                  <a:solidFill>
                    <a:schemeClr val="tx1"/>
                  </a:solidFill>
                  <a:latin typeface="微软雅黑" panose="020B0503020204020204" charset="-122"/>
                  <a:ea typeface="微软雅黑" panose="020B0503020204020204" charset="-122"/>
                </a:rPr>
                <a:t>。最关键且最频繁被提及的问题是实证可靠性不足，</a:t>
              </a:r>
              <a:r>
                <a:rPr lang="en-US" altLang="zh-CN" i="0">
                  <a:solidFill>
                    <a:schemeClr val="tx1"/>
                  </a:solidFill>
                  <a:latin typeface="微软雅黑" panose="020B0503020204020204" charset="-122"/>
                  <a:ea typeface="微软雅黑" panose="020B0503020204020204" charset="-122"/>
                </a:rPr>
                <a:t>DeepScientist </a:t>
              </a:r>
              <a:r>
                <a:rPr lang="zh-CN" altLang="en-US" i="0">
                  <a:solidFill>
                    <a:schemeClr val="tx1"/>
                  </a:solidFill>
                  <a:latin typeface="微软雅黑" panose="020B0503020204020204" charset="-122"/>
                  <a:ea typeface="微软雅黑" panose="020B0503020204020204" charset="-122"/>
                </a:rPr>
                <a:t>未能设计出全面的验证计划，它还存在未能恰当地将自身贡献置于相关背景中的问题，论文常常省略与重要基准的对比，或未能讨论密切相关的研究工作。</a:t>
              </a:r>
              <a:endParaRPr lang="zh-CN" altLang="en-US" i="0">
                <a:solidFill>
                  <a:schemeClr val="tx1"/>
                </a:solidFill>
                <a:latin typeface="微软雅黑" panose="020B0503020204020204" charset="-122"/>
                <a:ea typeface="微软雅黑" panose="020B0503020204020204" charset="-122"/>
              </a:endParaRPr>
            </a:p>
            <a:p>
              <a:pPr indent="0" algn="just" fontAlgn="auto">
                <a:lnSpc>
                  <a:spcPct val="125000"/>
                </a:lnSpc>
                <a:buFont typeface="Wingdings" panose="05000000000000000000" charset="0"/>
                <a:buNone/>
              </a:pPr>
              <a:endParaRPr lang="zh-CN" altLang="en-US" i="0">
                <a:solidFill>
                  <a:schemeClr val="tx1"/>
                </a:solidFill>
                <a:latin typeface="微软雅黑" panose="020B0503020204020204" charset="-122"/>
                <a:ea typeface="微软雅黑" panose="020B0503020204020204" charset="-122"/>
              </a:endParaRPr>
            </a:p>
            <a:p>
              <a:pPr indent="0" algn="just" fontAlgn="auto">
                <a:lnSpc>
                  <a:spcPct val="125000"/>
                </a:lnSpc>
                <a:buFont typeface="Wingdings" panose="05000000000000000000" charset="0"/>
                <a:buNone/>
              </a:pPr>
              <a:r>
                <a:rPr lang="zh-CN" altLang="en-US" sz="2000" b="1" i="0">
                  <a:solidFill>
                    <a:schemeClr val="accent6">
                      <a:lumMod val="50000"/>
                    </a:schemeClr>
                  </a:solidFill>
                  <a:latin typeface="微软雅黑" panose="020B0503020204020204" charset="-122"/>
                  <a:ea typeface="微软雅黑" panose="020B0503020204020204" charset="-122"/>
                </a:rPr>
                <a:t>这些反馈指出了当前自主系统的主要瓶颈：</a:t>
              </a:r>
              <a:r>
                <a:rPr lang="zh-CN" altLang="en-US" i="0">
                  <a:solidFill>
                    <a:schemeClr val="tx1"/>
                  </a:solidFill>
                  <a:latin typeface="微软雅黑" panose="020B0503020204020204" charset="-122"/>
                  <a:ea typeface="微软雅黑" panose="020B0503020204020204" charset="-122"/>
                </a:rPr>
                <a:t>在生成新颖概念的能力与进行严谨科学执行和阐述的能力之间存在巨大差距。该系统不仅未能正确实施这些想法，也未能令人信服地对其进行评估。为了弥合这一差距，未来的工作需要在两个关键领域进行</a:t>
              </a:r>
              <a:r>
                <a:rPr lang="zh-CN" altLang="en-US" i="0">
                  <a:solidFill>
                    <a:schemeClr val="tx1"/>
                  </a:solidFill>
                  <a:latin typeface="微软雅黑" panose="020B0503020204020204" charset="-122"/>
                  <a:ea typeface="微软雅黑" panose="020B0503020204020204" charset="-122"/>
                </a:rPr>
                <a:t>提升：</a:t>
              </a:r>
              <a:endParaRPr lang="zh-CN" altLang="en-US" i="0">
                <a:solidFill>
                  <a:schemeClr val="tx1"/>
                </a:solidFill>
                <a:latin typeface="微软雅黑" panose="020B0503020204020204" charset="-122"/>
                <a:ea typeface="微软雅黑" panose="020B0503020204020204" charset="-122"/>
              </a:endParaRPr>
            </a:p>
            <a:p>
              <a:pPr marL="285750" indent="-285750" algn="just" fontAlgn="auto">
                <a:lnSpc>
                  <a:spcPct val="125000"/>
                </a:lnSpc>
                <a:buFont typeface="Wingdings" panose="05000000000000000000" charset="0"/>
                <a:buChar char="Ø"/>
              </a:pPr>
              <a:r>
                <a:rPr lang="zh-CN" altLang="en-US" i="0">
                  <a:solidFill>
                    <a:schemeClr val="tx1"/>
                  </a:solidFill>
                  <a:latin typeface="微软雅黑" panose="020B0503020204020204" charset="-122"/>
                  <a:ea typeface="微软雅黑" panose="020B0503020204020204" charset="-122"/>
                </a:rPr>
                <a:t>首先，</a:t>
              </a:r>
              <a:r>
                <a:rPr lang="zh-CN" altLang="en-US" b="1" i="0">
                  <a:solidFill>
                    <a:schemeClr val="accent6">
                      <a:lumMod val="50000"/>
                    </a:schemeClr>
                  </a:solidFill>
                  <a:latin typeface="微软雅黑" panose="020B0503020204020204" charset="-122"/>
                  <a:ea typeface="微软雅黑" panose="020B0503020204020204" charset="-122"/>
                </a:rPr>
                <a:t>开发明确接受过实验设计训练的智能体</a:t>
              </a:r>
              <a:r>
                <a:rPr lang="zh-CN" altLang="en-US" i="0">
                  <a:solidFill>
                    <a:schemeClr val="tx1"/>
                  </a:solidFill>
                  <a:latin typeface="微软雅黑" panose="020B0503020204020204" charset="-122"/>
                  <a:ea typeface="微软雅黑" panose="020B0503020204020204" charset="-122"/>
                </a:rPr>
                <a:t>，能够规划全面的评估，以预见并应对潜在的科学批评；</a:t>
              </a:r>
              <a:endParaRPr lang="zh-CN" altLang="en-US" i="0">
                <a:solidFill>
                  <a:schemeClr val="tx1"/>
                </a:solidFill>
                <a:latin typeface="微软雅黑" panose="020B0503020204020204" charset="-122"/>
                <a:ea typeface="微软雅黑" panose="020B0503020204020204" charset="-122"/>
              </a:endParaRPr>
            </a:p>
            <a:p>
              <a:pPr marL="285750" indent="-285750" algn="just" fontAlgn="auto">
                <a:lnSpc>
                  <a:spcPct val="125000"/>
                </a:lnSpc>
                <a:buFont typeface="Wingdings" panose="05000000000000000000" charset="0"/>
                <a:buChar char="Ø"/>
              </a:pPr>
              <a:r>
                <a:rPr lang="zh-CN" altLang="en-US" i="0">
                  <a:solidFill>
                    <a:schemeClr val="tx1"/>
                  </a:solidFill>
                  <a:latin typeface="微软雅黑" panose="020B0503020204020204" charset="-122"/>
                  <a:ea typeface="微软雅黑" panose="020B0503020204020204" charset="-122"/>
                </a:rPr>
                <a:t>其次，</a:t>
              </a:r>
              <a:r>
                <a:rPr lang="zh-CN" altLang="en-US" b="1" i="0">
                  <a:solidFill>
                    <a:schemeClr val="accent6">
                      <a:lumMod val="50000"/>
                    </a:schemeClr>
                  </a:solidFill>
                  <a:latin typeface="微软雅黑" panose="020B0503020204020204" charset="-122"/>
                  <a:ea typeface="微软雅黑" panose="020B0503020204020204" charset="-122"/>
                </a:rPr>
                <a:t>增强系统的分析推理能力</a:t>
              </a:r>
              <a:r>
                <a:rPr lang="zh-CN" altLang="en-US" i="0">
                  <a:solidFill>
                    <a:schemeClr val="tx1"/>
                  </a:solidFill>
                  <a:latin typeface="微软雅黑" panose="020B0503020204020204" charset="-122"/>
                  <a:ea typeface="微软雅黑" panose="020B0503020204020204" charset="-122"/>
                </a:rPr>
                <a:t>，使其不仅能描述结果，还能解释其重要性、形成有说服力的论据，并参与那种具有高影响力研究特征的深入、反思性讨论。</a:t>
              </a:r>
              <a:endParaRPr lang="zh-CN" altLang="en-US" i="0">
                <a:solidFill>
                  <a:schemeClr val="tx1"/>
                </a:solidFill>
                <a:latin typeface="微软雅黑" panose="020B0503020204020204" charset="-122"/>
                <a:ea typeface="微软雅黑" panose="020B0503020204020204" charset="-122"/>
              </a:endParaRPr>
            </a:p>
            <a:p>
              <a:pPr marL="285750" indent="-285750" algn="just" fontAlgn="auto">
                <a:lnSpc>
                  <a:spcPct val="125000"/>
                </a:lnSpc>
                <a:buFont typeface="Wingdings" panose="05000000000000000000" charset="0"/>
                <a:buChar char="Ø"/>
              </a:pPr>
              <a:endParaRPr lang="zh-CN" altLang="en-US" i="0">
                <a:solidFill>
                  <a:schemeClr val="tx1"/>
                </a:solidFill>
                <a:latin typeface="微软雅黑" panose="020B0503020204020204" charset="-122"/>
                <a:ea typeface="微软雅黑" panose="020B050302020402020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strips(downLeft)">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0" y="-635"/>
            <a:ext cx="12192000" cy="707390"/>
            <a:chOff x="0" y="0"/>
            <a:chExt cx="19200" cy="1114"/>
          </a:xfrm>
        </p:grpSpPr>
        <p:sp>
          <p:nvSpPr>
            <p:cNvPr id="3" name="矩形 2"/>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Other I</a:t>
              </a: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nsights</a:t>
              </a:r>
              <a:endPar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6</a:t>
              </a:r>
              <a:endParaRPr lang="en-US" altLang="zh-CN" sz="4000" b="1">
                <a:solidFill>
                  <a:schemeClr val="bg1"/>
                </a:solidFill>
                <a:latin typeface="微软雅黑" panose="020B0503020204020204" charset="-122"/>
                <a:ea typeface="微软雅黑" panose="020B0503020204020204" charset="-122"/>
              </a:endParaRPr>
            </a:p>
          </p:txBody>
        </p:sp>
      </p:grpSp>
      <p:pic>
        <p:nvPicPr>
          <p:cNvPr id="8" name="图片 7" descr="logo"/>
          <p:cNvPicPr>
            <a:picLocks noChangeAspect="1"/>
          </p:cNvPicPr>
          <p:nvPr/>
        </p:nvPicPr>
        <p:blipFill>
          <a:blip r:embed="rId1"/>
          <a:stretch>
            <a:fillRect/>
          </a:stretch>
        </p:blipFill>
        <p:spPr>
          <a:xfrm>
            <a:off x="8810625" y="33655"/>
            <a:ext cx="3314700" cy="673100"/>
          </a:xfrm>
          <a:prstGeom prst="rect">
            <a:avLst/>
          </a:prstGeom>
        </p:spPr>
      </p:pic>
      <p:grpSp>
        <p:nvGrpSpPr>
          <p:cNvPr id="9" name="组合 8"/>
          <p:cNvGrpSpPr/>
          <p:nvPr/>
        </p:nvGrpSpPr>
        <p:grpSpPr>
          <a:xfrm>
            <a:off x="332740" y="955040"/>
            <a:ext cx="11665585" cy="5180965"/>
            <a:chOff x="524" y="1504"/>
            <a:chExt cx="18371" cy="8159"/>
          </a:xfrm>
        </p:grpSpPr>
        <p:sp>
          <p:nvSpPr>
            <p:cNvPr id="27" name="圆角矩形 26"/>
            <p:cNvSpPr/>
            <p:nvPr/>
          </p:nvSpPr>
          <p:spPr>
            <a:xfrm>
              <a:off x="2021" y="1504"/>
              <a:ext cx="14784" cy="988"/>
            </a:xfrm>
            <a:prstGeom prst="roundRect">
              <a:avLst>
                <a:gd name="adj" fmla="val 4415"/>
              </a:avLst>
            </a:prstGeom>
            <a:noFill/>
            <a:ln w="28575" cmpd="sng">
              <a:solidFill>
                <a:schemeClr val="accent6">
                  <a:lumMod val="50000"/>
                </a:schemeClr>
              </a:solidFill>
              <a:prstDash val="solid"/>
            </a:ln>
          </p:spPr>
          <p:style>
            <a:lnRef idx="0">
              <a:srgbClr val="FFFFFF"/>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en-US" altLang="zh-CN" b="1">
                  <a:solidFill>
                    <a:schemeClr val="accent6">
                      <a:lumMod val="50000"/>
                    </a:schemeClr>
                  </a:solidFill>
                  <a:latin typeface="微软雅黑" panose="020B0503020204020204" charset="-122"/>
                  <a:ea typeface="微软雅黑" panose="020B0503020204020204" charset="-122"/>
                </a:rPr>
                <a:t>ADDRESSING THE BOTTLENECKS IN AUTONOMOUS SCIENTIFIC DISCOVERY</a:t>
              </a:r>
              <a:endParaRPr lang="en-US" altLang="zh-CN" b="1">
                <a:solidFill>
                  <a:schemeClr val="accent6">
                    <a:lumMod val="50000"/>
                  </a:schemeClr>
                </a:solidFill>
                <a:latin typeface="微软雅黑" panose="020B0503020204020204" charset="-122"/>
                <a:ea typeface="微软雅黑" panose="020B0503020204020204" charset="-122"/>
              </a:endParaRPr>
            </a:p>
          </p:txBody>
        </p:sp>
        <p:sp>
          <p:nvSpPr>
            <p:cNvPr id="6" name="文本框 5"/>
            <p:cNvSpPr txBox="1"/>
            <p:nvPr/>
          </p:nvSpPr>
          <p:spPr>
            <a:xfrm>
              <a:off x="524" y="2883"/>
              <a:ext cx="7967" cy="6781"/>
            </a:xfrm>
            <a:prstGeom prst="rect">
              <a:avLst/>
            </a:prstGeom>
          </p:spPr>
          <p:txBody>
            <a:bodyPr wrap="square">
              <a:noAutofit/>
            </a:bodyPr>
            <a:p>
              <a:pPr marL="285750" indent="-285750" algn="just" fontAlgn="auto">
                <a:lnSpc>
                  <a:spcPct val="125000"/>
                </a:lnSpc>
                <a:buFont typeface="Arial" panose="020B0604020202020204" pitchFamily="34" charset="0"/>
                <a:buChar char="•"/>
              </a:pPr>
              <a:r>
                <a:rPr lang="zh-CN" altLang="en-US" i="0">
                  <a:solidFill>
                    <a:schemeClr val="tx1"/>
                  </a:solidFill>
                  <a:latin typeface="微软雅黑" panose="020B0503020204020204" charset="-122"/>
                  <a:ea typeface="微软雅黑" panose="020B0503020204020204" charset="-122"/>
                </a:rPr>
                <a:t>多数人工智能系统生成的最终能带来实质性进展的想法成功率通常低于</a:t>
              </a:r>
              <a:r>
                <a:rPr lang="en-US" altLang="zh-CN" i="0">
                  <a:solidFill>
                    <a:schemeClr val="tx1"/>
                  </a:solidFill>
                  <a:latin typeface="微软雅黑" panose="020B0503020204020204" charset="-122"/>
                  <a:ea typeface="微软雅黑" panose="020B0503020204020204" charset="-122"/>
                </a:rPr>
                <a:t> 3%</a:t>
              </a:r>
              <a:r>
                <a:rPr lang="zh-CN" altLang="en-US" i="0">
                  <a:solidFill>
                    <a:schemeClr val="tx1"/>
                  </a:solidFill>
                  <a:latin typeface="微软雅黑" panose="020B0503020204020204" charset="-122"/>
                  <a:ea typeface="微软雅黑" panose="020B0503020204020204" charset="-122"/>
                </a:rPr>
                <a:t>，意味着大量计算资源被用于探索低价值假设。</a:t>
              </a:r>
              <a:r>
                <a:rPr lang="zh-CN" altLang="en-US">
                  <a:latin typeface="微软雅黑" panose="020B0503020204020204" charset="-122"/>
                  <a:ea typeface="微软雅黑" panose="020B0503020204020204" charset="-122"/>
                  <a:sym typeface="+mn-ea"/>
                </a:rPr>
                <a:t>（</a:t>
              </a:r>
              <a:r>
                <a:rPr lang="en-US" altLang="zh-CN">
                  <a:latin typeface="微软雅黑" panose="020B0503020204020204" charset="-122"/>
                  <a:ea typeface="微软雅黑" panose="020B0503020204020204" charset="-122"/>
                  <a:sym typeface="+mn-ea"/>
                </a:rPr>
                <a:t>a</a:t>
              </a:r>
              <a:r>
                <a:rPr lang="zh-CN" altLang="en-US">
                  <a:latin typeface="微软雅黑" panose="020B0503020204020204" charset="-122"/>
                  <a:ea typeface="微软雅黑" panose="020B0503020204020204" charset="-122"/>
                  <a:sym typeface="+mn-ea"/>
                </a:rPr>
                <a:t>）和（</a:t>
              </a:r>
              <a:r>
                <a:rPr lang="en-US" altLang="zh-CN">
                  <a:latin typeface="微软雅黑" panose="020B0503020204020204" charset="-122"/>
                  <a:ea typeface="微软雅黑" panose="020B0503020204020204" charset="-122"/>
                  <a:sym typeface="+mn-ea"/>
                </a:rPr>
                <a:t>b</a:t>
              </a:r>
              <a:r>
                <a:rPr lang="zh-CN" altLang="en-US">
                  <a:latin typeface="微软雅黑" panose="020B0503020204020204" charset="-122"/>
                  <a:ea typeface="微软雅黑" panose="020B0503020204020204" charset="-122"/>
                  <a:sym typeface="+mn-ea"/>
                </a:rPr>
                <a:t>）说明当前人工智能与人类研究均面临低成功率问题。</a:t>
              </a:r>
              <a:r>
                <a:rPr lang="zh-CN" altLang="en-US" b="1" i="0">
                  <a:solidFill>
                    <a:schemeClr val="accent6">
                      <a:lumMod val="50000"/>
                    </a:schemeClr>
                  </a:solidFill>
                  <a:latin typeface="微软雅黑" panose="020B0503020204020204" charset="-122"/>
                  <a:ea typeface="微软雅黑" panose="020B0503020204020204" charset="-122"/>
                </a:rPr>
                <a:t>这种低效的</a:t>
              </a:r>
              <a:r>
                <a:rPr lang="en-US" altLang="zh-CN" b="1" i="0">
                  <a:solidFill>
                    <a:schemeClr val="accent6">
                      <a:lumMod val="50000"/>
                    </a:schemeClr>
                  </a:solidFill>
                  <a:latin typeface="微软雅黑" panose="020B0503020204020204" charset="-122"/>
                  <a:ea typeface="微软雅黑" panose="020B0503020204020204" charset="-122"/>
                </a:rPr>
                <a:t> “</a:t>
              </a:r>
              <a:r>
                <a:rPr lang="zh-CN" altLang="en-US" b="1" i="0">
                  <a:solidFill>
                    <a:schemeClr val="accent6">
                      <a:lumMod val="50000"/>
                    </a:schemeClr>
                  </a:solidFill>
                  <a:latin typeface="微软雅黑" panose="020B0503020204020204" charset="-122"/>
                  <a:ea typeface="微软雅黑" panose="020B0503020204020204" charset="-122"/>
                </a:rPr>
                <a:t>大海捞针</a:t>
              </a:r>
              <a:r>
                <a:rPr lang="en-US" altLang="zh-CN" b="1" i="0">
                  <a:solidFill>
                    <a:schemeClr val="accent6">
                      <a:lumMod val="50000"/>
                    </a:schemeClr>
                  </a:solidFill>
                  <a:latin typeface="微软雅黑" panose="020B0503020204020204" charset="-122"/>
                  <a:ea typeface="微软雅黑" panose="020B0503020204020204" charset="-122"/>
                </a:rPr>
                <a:t>” </a:t>
              </a:r>
              <a:r>
                <a:rPr lang="zh-CN" altLang="en-US" b="1" i="0">
                  <a:solidFill>
                    <a:schemeClr val="accent6">
                      <a:lumMod val="50000"/>
                    </a:schemeClr>
                  </a:solidFill>
                  <a:latin typeface="微软雅黑" panose="020B0503020204020204" charset="-122"/>
                  <a:ea typeface="微软雅黑" panose="020B0503020204020204" charset="-122"/>
                </a:rPr>
                <a:t>模式是阻碍人工智能科学家从</a:t>
              </a:r>
              <a:r>
                <a:rPr lang="en-US" altLang="zh-CN" b="1" i="0">
                  <a:solidFill>
                    <a:schemeClr val="accent6">
                      <a:lumMod val="50000"/>
                    </a:schemeClr>
                  </a:solidFill>
                  <a:latin typeface="微软雅黑" panose="020B0503020204020204" charset="-122"/>
                  <a:ea typeface="微软雅黑" panose="020B0503020204020204" charset="-122"/>
                </a:rPr>
                <a:t> “</a:t>
              </a:r>
              <a:r>
                <a:rPr lang="zh-CN" altLang="en-US" b="1" i="0">
                  <a:solidFill>
                    <a:schemeClr val="accent6">
                      <a:lumMod val="50000"/>
                    </a:schemeClr>
                  </a:solidFill>
                  <a:latin typeface="微软雅黑" panose="020B0503020204020204" charset="-122"/>
                  <a:ea typeface="微软雅黑" panose="020B0503020204020204" charset="-122"/>
                </a:rPr>
                <a:t>新颖工具</a:t>
              </a:r>
              <a:r>
                <a:rPr lang="en-US" altLang="zh-CN" b="1" i="0">
                  <a:solidFill>
                    <a:schemeClr val="accent6">
                      <a:lumMod val="50000"/>
                    </a:schemeClr>
                  </a:solidFill>
                  <a:latin typeface="微软雅黑" panose="020B0503020204020204" charset="-122"/>
                  <a:ea typeface="微软雅黑" panose="020B0503020204020204" charset="-122"/>
                </a:rPr>
                <a:t>” </a:t>
              </a:r>
              <a:r>
                <a:rPr lang="zh-CN" altLang="en-US" b="1" i="0">
                  <a:solidFill>
                    <a:schemeClr val="accent6">
                      <a:lumMod val="50000"/>
                    </a:schemeClr>
                  </a:solidFill>
                  <a:latin typeface="微软雅黑" panose="020B0503020204020204" charset="-122"/>
                  <a:ea typeface="微软雅黑" panose="020B0503020204020204" charset="-122"/>
                </a:rPr>
                <a:t>发展为</a:t>
              </a:r>
              <a:r>
                <a:rPr lang="en-US" altLang="zh-CN" b="1" i="0">
                  <a:solidFill>
                    <a:schemeClr val="accent6">
                      <a:lumMod val="50000"/>
                    </a:schemeClr>
                  </a:solidFill>
                  <a:latin typeface="微软雅黑" panose="020B0503020204020204" charset="-122"/>
                  <a:ea typeface="微软雅黑" panose="020B0503020204020204" charset="-122"/>
                </a:rPr>
                <a:t> “</a:t>
              </a:r>
              <a:r>
                <a:rPr lang="zh-CN" altLang="en-US" b="1" i="0">
                  <a:solidFill>
                    <a:schemeClr val="accent6">
                      <a:lumMod val="50000"/>
                    </a:schemeClr>
                  </a:solidFill>
                  <a:latin typeface="微软雅黑" panose="020B0503020204020204" charset="-122"/>
                  <a:ea typeface="微软雅黑" panose="020B0503020204020204" charset="-122"/>
                </a:rPr>
                <a:t>高效发现者</a:t>
              </a:r>
              <a:r>
                <a:rPr lang="en-US" altLang="zh-CN" b="1" i="0">
                  <a:solidFill>
                    <a:schemeClr val="accent6">
                      <a:lumMod val="50000"/>
                    </a:schemeClr>
                  </a:solidFill>
                  <a:latin typeface="微软雅黑" panose="020B0503020204020204" charset="-122"/>
                  <a:ea typeface="微软雅黑" panose="020B0503020204020204" charset="-122"/>
                </a:rPr>
                <a:t>” </a:t>
              </a:r>
              <a:r>
                <a:rPr lang="zh-CN" altLang="en-US" b="1" i="0">
                  <a:solidFill>
                    <a:schemeClr val="accent6">
                      <a:lumMod val="50000"/>
                    </a:schemeClr>
                  </a:solidFill>
                  <a:latin typeface="微软雅黑" panose="020B0503020204020204" charset="-122"/>
                  <a:ea typeface="微软雅黑" panose="020B0503020204020204" charset="-122"/>
                </a:rPr>
                <a:t>的核心障碍。</a:t>
              </a:r>
              <a:endParaRPr lang="zh-CN" altLang="en-US" b="1" i="0">
                <a:solidFill>
                  <a:schemeClr val="accent6">
                    <a:lumMod val="50000"/>
                  </a:schemeClr>
                </a:solidFill>
                <a:latin typeface="微软雅黑" panose="020B0503020204020204" charset="-122"/>
                <a:ea typeface="微软雅黑" panose="020B0503020204020204" charset="-122"/>
              </a:endParaRPr>
            </a:p>
            <a:p>
              <a:pPr marL="285750" indent="-285750" algn="just" fontAlgn="auto">
                <a:lnSpc>
                  <a:spcPct val="125000"/>
                </a:lnSpc>
                <a:buFont typeface="Arial" panose="020B0604020202020204" pitchFamily="34" charset="0"/>
                <a:buChar char="•"/>
              </a:pPr>
              <a:endParaRPr lang="zh-CN" altLang="en-US" b="1" i="0">
                <a:solidFill>
                  <a:schemeClr val="accent6">
                    <a:lumMod val="50000"/>
                  </a:schemeClr>
                </a:solidFill>
                <a:latin typeface="微软雅黑" panose="020B0503020204020204" charset="-122"/>
                <a:ea typeface="微软雅黑" panose="020B0503020204020204" charset="-122"/>
              </a:endParaRPr>
            </a:p>
            <a:p>
              <a:pPr marL="285750" indent="-285750" algn="just" fontAlgn="auto">
                <a:lnSpc>
                  <a:spcPct val="125000"/>
                </a:lnSpc>
                <a:buFont typeface="Arial" panose="020B0604020202020204" pitchFamily="34" charset="0"/>
                <a:buChar char="•"/>
              </a:pPr>
              <a:r>
                <a:rPr lang="zh-CN" altLang="en-US" i="0">
                  <a:solidFill>
                    <a:schemeClr val="tx1"/>
                  </a:solidFill>
                  <a:latin typeface="微软雅黑" panose="020B0503020204020204" charset="-122"/>
                  <a:ea typeface="微软雅黑" panose="020B0503020204020204" charset="-122"/>
                </a:rPr>
                <a:t>因此，为进一步加速科学发现进程，未来人工智能科学家系统需在三个关键方向协同演进：</a:t>
              </a:r>
              <a:endParaRPr lang="zh-CN" altLang="en-US" i="0">
                <a:solidFill>
                  <a:schemeClr val="tx1"/>
                </a:solidFill>
                <a:latin typeface="微软雅黑" panose="020B0503020204020204" charset="-122"/>
                <a:ea typeface="微软雅黑" panose="020B0503020204020204" charset="-122"/>
              </a:endParaRPr>
            </a:p>
            <a:p>
              <a:pPr marL="742950" lvl="2" indent="-285750" algn="just" fontAlgn="auto">
                <a:lnSpc>
                  <a:spcPct val="125000"/>
                </a:lnSpc>
                <a:buClrTx/>
                <a:buSzTx/>
                <a:buFont typeface="Arial" panose="020B0604020202020204" pitchFamily="34" charset="0"/>
                <a:buChar char="•"/>
              </a:pPr>
              <a:r>
                <a:rPr lang="zh-CN" altLang="en-US" b="1" i="0">
                  <a:solidFill>
                    <a:schemeClr val="accent6">
                      <a:lumMod val="50000"/>
                    </a:schemeClr>
                  </a:solidFill>
                  <a:latin typeface="微软雅黑" panose="020B0503020204020204" charset="-122"/>
                  <a:ea typeface="微软雅黑" panose="020B0503020204020204" charset="-122"/>
                </a:rPr>
                <a:t>优化初始假设质量、</a:t>
              </a:r>
              <a:endParaRPr lang="zh-CN" altLang="en-US" b="1" i="0">
                <a:solidFill>
                  <a:schemeClr val="accent6">
                    <a:lumMod val="50000"/>
                  </a:schemeClr>
                </a:solidFill>
                <a:latin typeface="微软雅黑" panose="020B0503020204020204" charset="-122"/>
                <a:ea typeface="微软雅黑" panose="020B0503020204020204" charset="-122"/>
              </a:endParaRPr>
            </a:p>
            <a:p>
              <a:pPr marL="742950" lvl="2" indent="-285750" algn="just" fontAlgn="auto">
                <a:lnSpc>
                  <a:spcPct val="125000"/>
                </a:lnSpc>
                <a:buClrTx/>
                <a:buSzTx/>
                <a:buFont typeface="Arial" panose="020B0604020202020204" pitchFamily="34" charset="0"/>
                <a:buChar char="•"/>
              </a:pPr>
              <a:r>
                <a:rPr lang="zh-CN" altLang="en-US" b="1" i="0">
                  <a:solidFill>
                    <a:schemeClr val="accent6">
                      <a:lumMod val="50000"/>
                    </a:schemeClr>
                  </a:solidFill>
                  <a:latin typeface="微软雅黑" panose="020B0503020204020204" charset="-122"/>
                  <a:ea typeface="微软雅黑" panose="020B0503020204020204" charset="-122"/>
                </a:rPr>
                <a:t>增强过程中的筛选能力、</a:t>
              </a:r>
              <a:endParaRPr lang="zh-CN" altLang="en-US" b="1" i="0">
                <a:solidFill>
                  <a:schemeClr val="accent6">
                    <a:lumMod val="50000"/>
                  </a:schemeClr>
                </a:solidFill>
                <a:latin typeface="微软雅黑" panose="020B0503020204020204" charset="-122"/>
                <a:ea typeface="微软雅黑" panose="020B0503020204020204" charset="-122"/>
              </a:endParaRPr>
            </a:p>
            <a:p>
              <a:pPr marL="742950" lvl="2" indent="-285750" algn="just" fontAlgn="auto">
                <a:lnSpc>
                  <a:spcPct val="125000"/>
                </a:lnSpc>
                <a:buClrTx/>
                <a:buSzTx/>
                <a:buFont typeface="Arial" panose="020B0604020202020204" pitchFamily="34" charset="0"/>
                <a:buChar char="•"/>
              </a:pPr>
              <a:r>
                <a:rPr lang="zh-CN" altLang="en-US" b="1" i="0">
                  <a:solidFill>
                    <a:schemeClr val="accent6">
                      <a:lumMod val="50000"/>
                    </a:schemeClr>
                  </a:solidFill>
                  <a:latin typeface="微软雅黑" panose="020B0503020204020204" charset="-122"/>
                  <a:ea typeface="微软雅黑" panose="020B0503020204020204" charset="-122"/>
                </a:rPr>
                <a:t>提升最终阶段的实施与验证质量。</a:t>
              </a:r>
              <a:endParaRPr lang="zh-CN" altLang="en-US" b="1" i="0">
                <a:solidFill>
                  <a:schemeClr val="accent6">
                    <a:lumMod val="50000"/>
                  </a:schemeClr>
                </a:solidFill>
                <a:latin typeface="微软雅黑" panose="020B0503020204020204" charset="-122"/>
                <a:ea typeface="微软雅黑" panose="020B0503020204020204" charset="-122"/>
              </a:endParaRPr>
            </a:p>
            <a:p>
              <a:pPr indent="0" algn="just" fontAlgn="auto">
                <a:lnSpc>
                  <a:spcPct val="125000"/>
                </a:lnSpc>
                <a:buFont typeface="Wingdings" panose="05000000000000000000" charset="0"/>
                <a:buNone/>
              </a:pPr>
              <a:endParaRPr lang="zh-CN" altLang="en-US" i="0">
                <a:solidFill>
                  <a:schemeClr val="tx1"/>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2"/>
            <a:stretch>
              <a:fillRect/>
            </a:stretch>
          </p:blipFill>
          <p:spPr>
            <a:xfrm>
              <a:off x="8615" y="3333"/>
              <a:ext cx="10281" cy="5916"/>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strips(downLeft)">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0" y="-635"/>
            <a:ext cx="12192000" cy="707390"/>
            <a:chOff x="0" y="0"/>
            <a:chExt cx="19200" cy="1114"/>
          </a:xfrm>
        </p:grpSpPr>
        <p:sp>
          <p:nvSpPr>
            <p:cNvPr id="3" name="矩形 2"/>
            <p:cNvSpPr/>
            <p:nvPr/>
          </p:nvSpPr>
          <p:spPr>
            <a:xfrm>
              <a:off x="0" y="0"/>
              <a:ext cx="19200" cy="1095"/>
            </a:xfrm>
            <a:prstGeom prst="rect">
              <a:avLst/>
            </a:prstGeom>
            <a:solidFill>
              <a:schemeClr val="accent6">
                <a:lumMod val="50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1396" y="83"/>
              <a:ext cx="13351" cy="919"/>
            </a:xfrm>
            <a:prstGeom prst="rect">
              <a:avLst/>
            </a:prstGeom>
            <a:noFill/>
          </p:spPr>
          <p:txBody>
            <a:bodyPr wrap="square" rtlCol="0" anchor="t">
              <a:spAutoFit/>
            </a:bodyPr>
            <a:p>
              <a:pPr indent="0" algn="l">
                <a:buFont typeface="Wingdings" panose="05000000000000000000" charset="0"/>
                <a:buNone/>
              </a:pP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D</a:t>
              </a:r>
              <a:r>
                <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rPr>
                <a:t>iscussion</a:t>
              </a:r>
              <a:endParaRPr lang="en-US" altLang="zh-CN" sz="32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0" y="1"/>
              <a:ext cx="1292" cy="1113"/>
            </a:xfrm>
            <a:prstGeom prst="rect">
              <a:avLst/>
            </a:prstGeom>
            <a:solidFill>
              <a:schemeClr val="accent6">
                <a:lumMod val="75000"/>
              </a:schemeClr>
            </a:solidFill>
          </p:spPr>
          <p:txBody>
            <a:bodyPr wrap="square" rtlCol="0">
              <a:spAutoFit/>
            </a:bodyPr>
            <a:p>
              <a:r>
                <a:rPr lang="en-US" altLang="zh-CN" sz="4000" b="1">
                  <a:solidFill>
                    <a:schemeClr val="bg1"/>
                  </a:solidFill>
                  <a:latin typeface="微软雅黑" panose="020B0503020204020204" charset="-122"/>
                  <a:ea typeface="微软雅黑" panose="020B0503020204020204" charset="-122"/>
                </a:rPr>
                <a:t>0</a:t>
              </a:r>
              <a:r>
                <a:rPr lang="en-US" altLang="zh-CN" sz="4000" b="1">
                  <a:solidFill>
                    <a:schemeClr val="bg1"/>
                  </a:solidFill>
                  <a:latin typeface="微软雅黑" panose="020B0503020204020204" charset="-122"/>
                  <a:ea typeface="微软雅黑" panose="020B0503020204020204" charset="-122"/>
                  <a:sym typeface="+mn-ea"/>
                </a:rPr>
                <a:t>7</a:t>
              </a:r>
              <a:endParaRPr lang="en-US" altLang="zh-CN" sz="4000" b="1">
                <a:solidFill>
                  <a:schemeClr val="bg1"/>
                </a:solidFill>
                <a:latin typeface="微软雅黑" panose="020B0503020204020204" charset="-122"/>
                <a:ea typeface="微软雅黑" panose="020B0503020204020204" charset="-122"/>
              </a:endParaRPr>
            </a:p>
          </p:txBody>
        </p:sp>
      </p:grpSp>
      <p:pic>
        <p:nvPicPr>
          <p:cNvPr id="8" name="图片 7" descr="logo"/>
          <p:cNvPicPr>
            <a:picLocks noChangeAspect="1"/>
          </p:cNvPicPr>
          <p:nvPr/>
        </p:nvPicPr>
        <p:blipFill>
          <a:blip r:embed="rId1"/>
          <a:stretch>
            <a:fillRect/>
          </a:stretch>
        </p:blipFill>
        <p:spPr>
          <a:xfrm>
            <a:off x="8810625" y="33655"/>
            <a:ext cx="3314700" cy="673100"/>
          </a:xfrm>
          <a:prstGeom prst="rect">
            <a:avLst/>
          </a:prstGeom>
        </p:spPr>
      </p:pic>
      <p:sp>
        <p:nvSpPr>
          <p:cNvPr id="6" name="文本框 5"/>
          <p:cNvSpPr txBox="1"/>
          <p:nvPr/>
        </p:nvSpPr>
        <p:spPr>
          <a:xfrm>
            <a:off x="399415" y="848995"/>
            <a:ext cx="11303000" cy="2580005"/>
          </a:xfrm>
          <a:prstGeom prst="rect">
            <a:avLst/>
          </a:prstGeom>
        </p:spPr>
        <p:txBody>
          <a:bodyPr wrap="square">
            <a:noAutofit/>
          </a:bodyPr>
          <a:p>
            <a:pPr marL="285750" indent="-285750" algn="just" fontAlgn="auto">
              <a:lnSpc>
                <a:spcPct val="150000"/>
              </a:lnSpc>
              <a:buFont typeface="Wingdings" panose="05000000000000000000" charset="0"/>
              <a:buChar char="Ø"/>
            </a:pPr>
            <a:r>
              <a:rPr lang="zh-CN" altLang="en-US" sz="2000" b="1" i="0">
                <a:solidFill>
                  <a:schemeClr val="accent6">
                    <a:lumMod val="50000"/>
                  </a:schemeClr>
                </a:solidFill>
                <a:latin typeface="微软雅黑" panose="020B0503020204020204" charset="-122"/>
                <a:ea typeface="微软雅黑" panose="020B0503020204020204" charset="-122"/>
              </a:rPr>
              <a:t>科学探索的新范式：</a:t>
            </a:r>
            <a:r>
              <a:rPr lang="zh-CN" altLang="en-US" sz="2000" i="0">
                <a:solidFill>
                  <a:schemeClr val="tx1"/>
                </a:solidFill>
                <a:latin typeface="微软雅黑" panose="020B0503020204020204" charset="-122"/>
                <a:ea typeface="微软雅黑" panose="020B0503020204020204" charset="-122"/>
              </a:rPr>
              <a:t>它的核心优势并非不出差错，而是能够以前所未有的规模和速度开展这种试错过程，将人类数年的探索压缩到数周内。因此，首要的前进方向是专注于系统性地提高这种发现效率，同时提升生成假设的质量及其实施的稳健性。</a:t>
            </a:r>
            <a:endParaRPr lang="zh-CN" altLang="en-US" sz="2000" i="0">
              <a:solidFill>
                <a:schemeClr val="tx1"/>
              </a:solidFill>
              <a:latin typeface="微软雅黑" panose="020B0503020204020204" charset="-122"/>
              <a:ea typeface="微软雅黑" panose="020B0503020204020204" charset="-122"/>
            </a:endParaRPr>
          </a:p>
          <a:p>
            <a:pPr marL="285750" indent="-285750" algn="just" fontAlgn="auto">
              <a:lnSpc>
                <a:spcPct val="150000"/>
              </a:lnSpc>
              <a:buFont typeface="Wingdings" panose="05000000000000000000" charset="0"/>
              <a:buChar char="Ø"/>
            </a:pPr>
            <a:r>
              <a:rPr lang="en-US" altLang="zh-CN" sz="2000" b="1" i="0">
                <a:solidFill>
                  <a:schemeClr val="accent6">
                    <a:lumMod val="50000"/>
                  </a:schemeClr>
                </a:solidFill>
                <a:latin typeface="微软雅黑" panose="020B0503020204020204" charset="-122"/>
                <a:ea typeface="微软雅黑" panose="020B0503020204020204" charset="-122"/>
              </a:rPr>
              <a:t>人机协同的巨大机遇：</a:t>
            </a:r>
            <a:r>
              <a:rPr lang="zh-CN" altLang="en-US" sz="2000" i="0">
                <a:solidFill>
                  <a:schemeClr val="tx1"/>
                </a:solidFill>
                <a:latin typeface="微软雅黑" panose="020B0503020204020204" charset="-122"/>
                <a:ea typeface="微软雅黑" panose="020B0503020204020204" charset="-122"/>
              </a:rPr>
              <a:t>我们设想未来</a:t>
            </a:r>
            <a:r>
              <a:rPr lang="en-US" altLang="zh-CN" sz="2000" i="0">
                <a:solidFill>
                  <a:schemeClr val="tx1"/>
                </a:solidFill>
                <a:latin typeface="微软雅黑" panose="020B0503020204020204" charset="-122"/>
                <a:ea typeface="微软雅黑" panose="020B0503020204020204" charset="-122"/>
              </a:rPr>
              <a:t> DeepScientist </a:t>
            </a:r>
            <a:r>
              <a:rPr lang="zh-CN" altLang="en-US" sz="2000" i="0">
                <a:solidFill>
                  <a:schemeClr val="tx1"/>
                </a:solidFill>
                <a:latin typeface="微软雅黑" panose="020B0503020204020204" charset="-122"/>
                <a:ea typeface="微软雅黑" panose="020B0503020204020204" charset="-122"/>
              </a:rPr>
              <a:t>将作为大规模探索引擎，其轨迹由人类智慧引导。人类研究人员的角色可以从繁琐的实验工作转向制定有价值的科学问题和提供战略方向等高层认知任务，从而利用人工智能进行快速、全面的探索。</a:t>
            </a:r>
            <a:endParaRPr lang="zh-CN" altLang="en-US" sz="2000" i="0">
              <a:solidFill>
                <a:schemeClr val="tx1"/>
              </a:solidFill>
              <a:latin typeface="微软雅黑" panose="020B0503020204020204" charset="-122"/>
              <a:ea typeface="微软雅黑" panose="020B0503020204020204" charset="-122"/>
            </a:endParaRPr>
          </a:p>
          <a:p>
            <a:pPr marL="285750" indent="-285750" algn="just" fontAlgn="auto">
              <a:lnSpc>
                <a:spcPct val="150000"/>
              </a:lnSpc>
              <a:buFont typeface="Wingdings" panose="05000000000000000000" charset="0"/>
              <a:buChar char="Ø"/>
            </a:pPr>
            <a:r>
              <a:rPr lang="en-US" altLang="zh-CN" sz="2000" b="1" i="0">
                <a:solidFill>
                  <a:schemeClr val="accent6">
                    <a:lumMod val="50000"/>
                  </a:schemeClr>
                </a:solidFill>
                <a:latin typeface="微软雅黑" panose="020B0503020204020204" charset="-122"/>
                <a:ea typeface="微软雅黑" panose="020B0503020204020204" charset="-122"/>
              </a:rPr>
              <a:t>未来的工作应聚焦于关键改进：</a:t>
            </a:r>
            <a:r>
              <a:rPr lang="zh-CN" altLang="en-US" sz="2000" i="0">
                <a:solidFill>
                  <a:schemeClr val="tx1"/>
                </a:solidFill>
                <a:latin typeface="微软雅黑" panose="020B0503020204020204" charset="-122"/>
                <a:ea typeface="微软雅黑" panose="020B0503020204020204" charset="-122"/>
              </a:rPr>
              <a:t>开发模拟发现环境以通过强化学习加速学习，创建整合科学界反馈的框架，最终通过机器人技术弥合与物理</a:t>
            </a:r>
            <a:r>
              <a:rPr lang="zh-CN" altLang="en-US" sz="2000" i="0">
                <a:solidFill>
                  <a:schemeClr val="tx1"/>
                </a:solidFill>
                <a:latin typeface="微软雅黑" panose="020B0503020204020204" charset="-122"/>
                <a:ea typeface="微软雅黑" panose="020B0503020204020204" charset="-122"/>
              </a:rPr>
              <a:t>世界之间的差距。</a:t>
            </a:r>
            <a:endParaRPr lang="zh-CN" altLang="en-US" sz="2000" i="0">
              <a:solidFill>
                <a:schemeClr val="tx1"/>
              </a:solidFill>
              <a:latin typeface="微软雅黑" panose="020B0503020204020204" charset="-122"/>
              <a:ea typeface="微软雅黑" panose="020B0503020204020204" charset="-122"/>
            </a:endParaRPr>
          </a:p>
          <a:p>
            <a:pPr marL="285750" indent="-285750" algn="just" fontAlgn="auto">
              <a:lnSpc>
                <a:spcPct val="150000"/>
              </a:lnSpc>
              <a:buFont typeface="Wingdings" panose="05000000000000000000" charset="0"/>
              <a:buChar char="Ø"/>
            </a:pPr>
            <a:endParaRPr lang="zh-CN" altLang="en-US" sz="2000" i="0">
              <a:solidFill>
                <a:schemeClr val="tx1"/>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trips(down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0" y="1499870"/>
            <a:ext cx="12192000" cy="2051050"/>
            <a:chOff x="0" y="2362"/>
            <a:chExt cx="19200" cy="3230"/>
          </a:xfrm>
          <a:solidFill>
            <a:schemeClr val="accent6">
              <a:lumMod val="50000"/>
            </a:schemeClr>
          </a:solidFill>
        </p:grpSpPr>
        <p:sp>
          <p:nvSpPr>
            <p:cNvPr id="3" name="矩形 2"/>
            <p:cNvSpPr/>
            <p:nvPr/>
          </p:nvSpPr>
          <p:spPr>
            <a:xfrm>
              <a:off x="0" y="3188"/>
              <a:ext cx="19200" cy="1202"/>
            </a:xfrm>
            <a:prstGeom prst="rect">
              <a:avLst/>
            </a:prstGeom>
            <a:grpFill/>
            <a:ln w="28575" cmpd="sng">
              <a:solidFill>
                <a:schemeClr val="accent6">
                  <a:lumMod val="50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矩形 4"/>
            <p:cNvSpPr/>
            <p:nvPr/>
          </p:nvSpPr>
          <p:spPr>
            <a:xfrm>
              <a:off x="0" y="4390"/>
              <a:ext cx="19200" cy="1202"/>
            </a:xfrm>
            <a:prstGeom prst="rect">
              <a:avLst/>
            </a:prstGeom>
            <a:grpFill/>
            <a:ln w="28575" cmpd="sng">
              <a:solidFill>
                <a:schemeClr val="accent6">
                  <a:lumMod val="50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矩形 5"/>
            <p:cNvSpPr/>
            <p:nvPr/>
          </p:nvSpPr>
          <p:spPr>
            <a:xfrm>
              <a:off x="0" y="2362"/>
              <a:ext cx="19200" cy="1202"/>
            </a:xfrm>
            <a:prstGeom prst="rect">
              <a:avLst/>
            </a:prstGeom>
            <a:grpFill/>
            <a:ln w="28575" cmpd="sng">
              <a:solidFill>
                <a:schemeClr val="accent6">
                  <a:lumMod val="50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6" name="标题 15"/>
          <p:cNvSpPr>
            <a:spLocks noGrp="1"/>
          </p:cNvSpPr>
          <p:nvPr>
            <p:ph type="ctrTitle"/>
          </p:nvPr>
        </p:nvSpPr>
        <p:spPr>
          <a:xfrm>
            <a:off x="852170" y="1931670"/>
            <a:ext cx="10961370" cy="1159510"/>
          </a:xfrm>
        </p:spPr>
        <p:txBody>
          <a:bodyPr>
            <a:normAutofit fontScale="90000"/>
          </a:bodyPr>
          <a:p>
            <a:r>
              <a:rPr lang="zh-CN" altLang="en-US" sz="6665" b="1" dirty="0">
                <a:solidFill>
                  <a:schemeClr val="bg1"/>
                </a:solidFill>
                <a:latin typeface="微软雅黑" panose="020B0503020204020204" charset="-122"/>
                <a:ea typeface="微软雅黑" panose="020B0503020204020204" charset="-122"/>
              </a:rPr>
              <a:t>请批评指正！</a:t>
            </a:r>
            <a:endParaRPr lang="zh-CN" altLang="en-US" sz="6665" b="1" dirty="0">
              <a:solidFill>
                <a:schemeClr val="bg1"/>
              </a:solidFill>
              <a:latin typeface="微软雅黑" panose="020B0503020204020204" charset="-122"/>
              <a:ea typeface="微软雅黑" panose="020B0503020204020204" charset="-122"/>
            </a:endParaRPr>
          </a:p>
        </p:txBody>
      </p:sp>
      <p:sp>
        <p:nvSpPr>
          <p:cNvPr id="19" name="文本框 18"/>
          <p:cNvSpPr txBox="1"/>
          <p:nvPr/>
        </p:nvSpPr>
        <p:spPr>
          <a:xfrm>
            <a:off x="3003550" y="3759200"/>
            <a:ext cx="6096000" cy="645160"/>
          </a:xfrm>
          <a:prstGeom prst="rect">
            <a:avLst/>
          </a:prstGeom>
          <a:noFill/>
        </p:spPr>
        <p:txBody>
          <a:bodyPr wrap="square" rtlCol="0" anchor="t">
            <a:spAutoFit/>
          </a:bodyPr>
          <a:p>
            <a:pPr algn="ctr"/>
            <a:r>
              <a:rPr lang="en-US" altLang="zh-CN">
                <a:sym typeface="+mn-ea"/>
              </a:rPr>
              <a:t>Project: https://ai-researcher.net</a:t>
            </a:r>
            <a:endParaRPr lang="en-US" altLang="zh-CN"/>
          </a:p>
          <a:p>
            <a:pPr algn="ctr"/>
            <a:r>
              <a:rPr lang="en-US" altLang="zh-CN">
                <a:sym typeface="+mn-ea"/>
              </a:rPr>
              <a:t>Code: https://github.com/ResearAI/DeepScientist</a:t>
            </a:r>
            <a:endParaRPr lang="en-US" altLang="zh-CN"/>
          </a:p>
        </p:txBody>
      </p:sp>
      <p:sp>
        <p:nvSpPr>
          <p:cNvPr id="20" name="文本占位符 3"/>
          <p:cNvSpPr txBox="1"/>
          <p:nvPr/>
        </p:nvSpPr>
        <p:spPr>
          <a:xfrm>
            <a:off x="3234055" y="4679315"/>
            <a:ext cx="5723255" cy="1372235"/>
          </a:xfrm>
          <a:prstGeom prst="rect">
            <a:avLst/>
          </a:prstGeom>
        </p:spPr>
        <p:txBody>
          <a:bodyPr>
            <a:noAutofit/>
          </a:bodyPr>
          <a:lstStyle>
            <a:lvl1pPr marL="0" indent="0" algn="l" defTabSz="914400" rtl="0" eaLnBrk="1" latinLnBrk="0" hangingPunct="1">
              <a:lnSpc>
                <a:spcPct val="120000"/>
              </a:lnSpc>
              <a:spcBef>
                <a:spcPts val="0"/>
              </a:spcBef>
              <a:spcAft>
                <a:spcPts val="600"/>
              </a:spcAft>
              <a:buFont typeface="Arial" panose="020B0604020202020204" pitchFamily="34" charset="0"/>
              <a:buNone/>
              <a:defRPr sz="1800" b="1" kern="1200">
                <a:solidFill>
                  <a:schemeClr val="tx1"/>
                </a:solidFill>
                <a:latin typeface="楷体" panose="02010609060101010101" pitchFamily="49" charset="-122"/>
                <a:ea typeface="楷体" panose="02010609060101010101" pitchFamily="49"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gn="ctr"/>
            <a:r>
              <a:rPr lang="zh-CN" altLang="en-US" sz="2400" dirty="0">
                <a:solidFill>
                  <a:schemeClr val="accent6">
                    <a:lumMod val="50000"/>
                  </a:schemeClr>
                </a:solidFill>
                <a:latin typeface="微软雅黑" panose="020B0503020204020204" charset="-122"/>
                <a:ea typeface="微软雅黑" panose="020B0503020204020204" charset="-122"/>
                <a:cs typeface="微软雅黑" panose="020B0503020204020204" charset="-122"/>
              </a:rPr>
              <a:t>汪静雅</a:t>
            </a:r>
            <a:endParaRPr lang="en-US" altLang="zh-CN" sz="2400" dirty="0">
              <a:solidFill>
                <a:schemeClr val="accent6">
                  <a:lumMod val="50000"/>
                </a:schemeClr>
              </a:solidFill>
              <a:latin typeface="微软雅黑" panose="020B0503020204020204" charset="-122"/>
              <a:ea typeface="微软雅黑" panose="020B0503020204020204" charset="-122"/>
              <a:cs typeface="微软雅黑" panose="020B0503020204020204" charset="-122"/>
            </a:endParaRPr>
          </a:p>
          <a:p>
            <a:pPr algn="ctr"/>
            <a:r>
              <a:rPr lang="en-US" sz="2400" dirty="0">
                <a:solidFill>
                  <a:schemeClr val="accent6">
                    <a:lumMod val="50000"/>
                  </a:schemeClr>
                </a:solidFill>
                <a:latin typeface="微软雅黑" panose="020B0503020204020204" charset="-122"/>
                <a:ea typeface="微软雅黑" panose="020B0503020204020204" charset="-122"/>
                <a:cs typeface="微软雅黑" panose="020B0503020204020204" charset="-122"/>
              </a:rPr>
              <a:t>2025.10.15</a:t>
            </a:r>
            <a:endParaRPr lang="en-US" sz="2400" dirty="0">
              <a:solidFill>
                <a:schemeClr val="accent6">
                  <a:lumMod val="50000"/>
                </a:schemeClr>
              </a:solidFill>
              <a:latin typeface="微软雅黑" panose="020B0503020204020204" charset="-122"/>
              <a:ea typeface="微软雅黑" panose="020B0503020204020204" charset="-122"/>
              <a:cs typeface="微软雅黑" panose="020B0503020204020204" charset="-122"/>
            </a:endParaRPr>
          </a:p>
        </p:txBody>
      </p:sp>
      <p:pic>
        <p:nvPicPr>
          <p:cNvPr id="4" name="图片 3" descr="logo2"/>
          <p:cNvPicPr>
            <a:picLocks noChangeAspect="1"/>
          </p:cNvPicPr>
          <p:nvPr/>
        </p:nvPicPr>
        <p:blipFill>
          <a:blip r:embed="rId1"/>
          <a:stretch>
            <a:fillRect/>
          </a:stretch>
        </p:blipFill>
        <p:spPr>
          <a:xfrm>
            <a:off x="0" y="0"/>
            <a:ext cx="3053715" cy="674370"/>
          </a:xfrm>
          <a:prstGeom prst="rect">
            <a:avLst/>
          </a:prstGeom>
        </p:spPr>
      </p:pic>
    </p:spTree>
  </p:cSld>
  <p:clrMapOvr>
    <a:masterClrMapping/>
  </p:clrMapOvr>
</p:sld>
</file>

<file path=ppt/tags/tag1.xml><?xml version="1.0" encoding="utf-8"?>
<p:tagLst xmlns:p="http://schemas.openxmlformats.org/presentationml/2006/main">
  <p:tag name="resource_record_key" val="{&quot;13&quot;:[20419701,20419702]}"/>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7829</Words>
  <Application>WPS 演示</Application>
  <PresentationFormat>宽屏</PresentationFormat>
  <Paragraphs>286</Paragraphs>
  <Slides>22</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22</vt:i4>
      </vt:variant>
    </vt:vector>
  </HeadingPairs>
  <TitlesOfParts>
    <vt:vector size="34" baseType="lpstr">
      <vt:lpstr>Arial</vt:lpstr>
      <vt:lpstr>宋体</vt:lpstr>
      <vt:lpstr>Wingdings</vt:lpstr>
      <vt:lpstr>微软雅黑</vt:lpstr>
      <vt:lpstr>楷体</vt:lpstr>
      <vt:lpstr>Wingdings</vt:lpstr>
      <vt:lpstr>Cambria Math</vt:lpstr>
      <vt:lpstr>MS Mincho</vt:lpstr>
      <vt:lpstr>SWAstro</vt:lpstr>
      <vt:lpstr>Calibri</vt:lpstr>
      <vt:lpstr>Arial Unicode MS</vt:lpstr>
      <vt:lpstr>WPS</vt:lpstr>
      <vt:lpstr>DEEPSCIENTIST: ADVANCING  FRONTIER-PUSHING SCIENTIFIC FINDINGS PROGRESSIVELY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请批评指正！</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Elckat</dc:creator>
  <cp:lastModifiedBy>艾尔卡</cp:lastModifiedBy>
  <cp:revision>34</cp:revision>
  <dcterms:created xsi:type="dcterms:W3CDTF">2023-08-09T12:44:00Z</dcterms:created>
  <dcterms:modified xsi:type="dcterms:W3CDTF">2025-10-15T06:21:11Z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F625782BFCD04B0792775A69E758C11C_13</vt:lpwstr>
  </property>
</Properties>
</file>