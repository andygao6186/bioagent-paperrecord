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70" r:id="rId6"/>
    <p:sldId id="259" r:id="rId7"/>
    <p:sldId id="274" r:id="rId8"/>
    <p:sldId id="275" r:id="rId9"/>
    <p:sldId id="276" r:id="rId10"/>
    <p:sldId id="273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72" r:id="rId21"/>
    <p:sldId id="269" r:id="rId22"/>
    <p:sldId id="27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2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4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5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6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7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8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9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01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image" Target="../media/image17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image" Target="../media/image18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3.xml"/><Relationship Id="rId3" Type="http://schemas.openxmlformats.org/officeDocument/2006/relationships/image" Target="../media/image19.png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6.xml"/><Relationship Id="rId3" Type="http://schemas.openxmlformats.org/officeDocument/2006/relationships/image" Target="../media/image20.png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9.xml"/><Relationship Id="rId3" Type="http://schemas.openxmlformats.org/officeDocument/2006/relationships/image" Target="../media/image21.png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0" y="914400"/>
            <a:ext cx="12192000" cy="2051050"/>
            <a:chOff x="0" y="2362"/>
            <a:chExt cx="19200" cy="3230"/>
          </a:xfrm>
          <a:solidFill>
            <a:schemeClr val="accent6">
              <a:lumMod val="50000"/>
            </a:schemeClr>
          </a:solidFill>
        </p:grpSpPr>
        <p:sp>
          <p:nvSpPr>
            <p:cNvPr id="5" name="矩形 4"/>
            <p:cNvSpPr/>
            <p:nvPr/>
          </p:nvSpPr>
          <p:spPr>
            <a:xfrm>
              <a:off x="0" y="3188"/>
              <a:ext cx="19200" cy="1202"/>
            </a:xfrm>
            <a:prstGeom prst="rect">
              <a:avLst/>
            </a:prstGeom>
            <a:grpFill/>
            <a:ln w="28575" cmpd="sng">
              <a:solidFill>
                <a:schemeClr val="accent6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4390"/>
              <a:ext cx="19200" cy="1202"/>
            </a:xfrm>
            <a:prstGeom prst="rect">
              <a:avLst/>
            </a:prstGeom>
            <a:grpFill/>
            <a:ln w="28575" cmpd="sng">
              <a:solidFill>
                <a:schemeClr val="accent6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2362"/>
              <a:ext cx="19200" cy="1202"/>
            </a:xfrm>
            <a:prstGeom prst="rect">
              <a:avLst/>
            </a:prstGeom>
            <a:grpFill/>
            <a:ln w="28575" cmpd="sng">
              <a:solidFill>
                <a:schemeClr val="accent6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8" name="图片 7" descr="logo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53715" cy="67437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422015" y="1131570"/>
            <a:ext cx="6278880" cy="15684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TTS(</a:t>
            </a:r>
            <a:r>
              <a:rPr lang="zh-CN" altLang="en-US" sz="4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测试时扩展）</a:t>
            </a:r>
            <a:endParaRPr lang="zh-CN" altLang="en-US" sz="4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4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对多智能体协作的提升</a:t>
            </a:r>
            <a:endParaRPr lang="zh-CN" altLang="en-US" sz="4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830" y="3154045"/>
            <a:ext cx="6923405" cy="336042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8873490" y="5628005"/>
            <a:ext cx="3439795" cy="240919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李宏扬</a:t>
            </a:r>
            <a:endParaRPr lang="en-US" altLang="zh-CN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2025.12.17</a:t>
            </a:r>
            <a:endParaRPr lang="en-US" altLang="zh-CN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altLang="zh-CN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Gemini_Generated_Image_8gqazj8gqazj8gq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3740" y="2999740"/>
            <a:ext cx="3858260" cy="3858260"/>
          </a:xfrm>
          <a:prstGeom prst="rect">
            <a:avLst/>
          </a:prstGeom>
          <a:noFill/>
          <a:ln w="28575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746195"/>
            <a:ext cx="10969200" cy="705600"/>
          </a:xfrm>
        </p:spPr>
        <p:txBody>
          <a:bodyPr/>
          <a:p>
            <a:r>
              <a:rPr lang="zh-CN" altLang="en-US" b="1"/>
              <a:t>研究动机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30" y="1490345"/>
            <a:ext cx="8069580" cy="4759325"/>
          </a:xfrm>
        </p:spPr>
        <p:txBody>
          <a:bodyPr/>
          <a:p>
            <a:r>
              <a:rPr lang="zh-CN" altLang="en-US"/>
              <a:t>人工智能的目标：</a:t>
            </a:r>
            <a:r>
              <a:rPr lang="en-US" altLang="zh-CN"/>
              <a:t> </a:t>
            </a:r>
            <a:r>
              <a:rPr lang="zh-CN" altLang="en-US"/>
              <a:t>创造能在现实世界无缝运行的智能自主体。</a:t>
            </a:r>
            <a:endParaRPr lang="zh-CN" altLang="en-US"/>
          </a:p>
          <a:p>
            <a:r>
              <a:rPr lang="en-US" altLang="zh-CN"/>
              <a:t>LLM </a:t>
            </a:r>
            <a:r>
              <a:rPr lang="zh-CN" altLang="en-US"/>
              <a:t>智能体的局限：</a:t>
            </a:r>
            <a:r>
              <a:rPr lang="en-US" altLang="zh-CN"/>
              <a:t> </a:t>
            </a:r>
            <a:r>
              <a:rPr lang="zh-CN" altLang="en-US"/>
              <a:t>单智能体</a:t>
            </a:r>
            <a:r>
              <a:rPr lang="en-US" altLang="zh-CN"/>
              <a:t> LLM </a:t>
            </a:r>
            <a:r>
              <a:rPr lang="zh-CN" altLang="en-US"/>
              <a:t>难以应对复杂任务的内在复杂性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MAS </a:t>
            </a:r>
            <a:r>
              <a:rPr lang="zh-CN" altLang="en-US"/>
              <a:t>的潜力：</a:t>
            </a:r>
            <a:r>
              <a:rPr lang="en-US" altLang="zh-CN"/>
              <a:t> </a:t>
            </a:r>
            <a:r>
              <a:rPr lang="zh-CN" altLang="en-US"/>
              <a:t>通过协作解决数学、软件开发、科学发现等任务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核心问题（本文</a:t>
            </a:r>
            <a:r>
              <a:rPr lang="zh-CN" altLang="en-US"/>
              <a:t>着力解决）：</a:t>
            </a:r>
            <a:r>
              <a:rPr lang="en-US" altLang="zh-CN"/>
              <a:t> </a:t>
            </a:r>
            <a:r>
              <a:rPr lang="zh-CN" altLang="en-US"/>
              <a:t>如何有效扩展（</a:t>
            </a:r>
            <a:r>
              <a:rPr lang="en-US" altLang="zh-CN"/>
              <a:t>Scaling</a:t>
            </a:r>
            <a:r>
              <a:rPr lang="zh-CN" altLang="en-US"/>
              <a:t>）</a:t>
            </a:r>
            <a:r>
              <a:rPr lang="en-US" altLang="zh-CN"/>
              <a:t>MAS </a:t>
            </a:r>
            <a:r>
              <a:rPr lang="zh-CN" altLang="en-US"/>
              <a:t>中的协作和推理能力（即</a:t>
            </a:r>
            <a:r>
              <a:rPr lang="en-US" altLang="zh-CN"/>
              <a:t> TTS for MAS</a:t>
            </a:r>
            <a:r>
              <a:rPr lang="zh-CN" altLang="en-US"/>
              <a:t>）？</a:t>
            </a:r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背景与动机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846525"/>
            <a:ext cx="10969200" cy="705600"/>
          </a:xfrm>
        </p:spPr>
        <p:txBody>
          <a:bodyPr/>
          <a:p>
            <a:r>
              <a:rPr lang="zh-CN" altLang="en-US" b="1"/>
              <a:t>背景</a:t>
            </a:r>
            <a:r>
              <a:rPr lang="zh-CN" altLang="en-US" b="1"/>
              <a:t>知识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LLM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智能体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最新的工作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已经能将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LLM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的能力扩展到独立推理和理解之外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，使它们能够作为多智能体运行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，与其他环境、工具和智能体进行交互以执行复杂任务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。这些多智能体系统（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MAS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）集成了各种技术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，包括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CoT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提示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、迭代细化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、自我改进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和外部工具使用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，以支持多步骤决策和长远期规划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。它们已成功应用于数学推理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、软件工程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和科学发现等领域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。智能体框架通常使用少样本提示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和指导性推理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等技术来组织与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LLM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的交互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，依赖于模型的上下文学习能力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背景与动机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" name="图片 3" descr="Gemini_Generated_Image_t8yw5ht8yw5ht8y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0" y="3752215"/>
            <a:ext cx="3105785" cy="31057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960825"/>
            <a:ext cx="10969200" cy="705600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r>
              <a:rPr lang="zh-CN" altLang="en-US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背景知识</a:t>
            </a:r>
            <a:endParaRPr lang="zh-CN" altLang="en-US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666295"/>
            <a:ext cx="10969200" cy="4759200"/>
          </a:xfrm>
        </p:spPr>
        <p:txBody>
          <a:bodyPr>
            <a:normAutofit/>
          </a:bodyPr>
          <a:p>
            <a:r>
              <a:rPr lang="zh-CN" altLang="en-US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多智能体系统（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Multi-agent systems, MAS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）</a:t>
            </a:r>
            <a:endParaRPr lang="zh-CN" altLang="en-US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多智能体系统（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Multi-agent systems, MAS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）是在人工智能（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）领域中，用于解决复杂现实世界任务的一种系统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，基于大型语言模型（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LLMs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）构建的系统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作用：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它们提供了一条道路，用于解决单智能体系统往往难以应对的复杂现实世界任务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机制：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MAS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通过利用多个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LLM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智能体之间的协作交互来有效应对各种任务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MAS </a:t>
            </a:r>
            <a:r>
              <a:rPr lang="zh-CN" altLang="en-US"/>
              <a:t>框架通常会涉及多种角色进行协作，例如：</a:t>
            </a:r>
            <a:endParaRPr lang="en-US" altLang="zh-CN"/>
          </a:p>
          <a:p>
            <a:pPr lvl="1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专家招聘者（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Expert Recruiter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）</a:t>
            </a:r>
            <a:r>
              <a:rPr lang="zh-CN" altLang="en-US"/>
              <a:t>：负责识别和分配合适的专家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pPr lvl="1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问题解决者（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Problem Solver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）</a:t>
            </a:r>
            <a:r>
              <a:rPr lang="zh-CN" altLang="en-US"/>
              <a:t>：被招募的专家，通过多轮讨论提出并迭代细化解决方案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en-US" altLang="zh-CN"/>
          </a:p>
          <a:p>
            <a:pPr lvl="1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执行者（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Executor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）</a:t>
            </a:r>
            <a:r>
              <a:rPr lang="zh-CN" altLang="en-US"/>
              <a:t>：运行必要的代码或调用外部工具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en-US" altLang="zh-CN"/>
          </a:p>
          <a:p>
            <a:pPr lvl="1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评估者（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Evaluator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）</a:t>
            </a:r>
            <a:r>
              <a:rPr lang="zh-CN" altLang="en-US"/>
              <a:t>：审查解决方案和结果，提供反馈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背景与动机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932250"/>
            <a:ext cx="10969200" cy="705600"/>
          </a:xfrm>
        </p:spPr>
        <p:txBody>
          <a:bodyPr/>
          <a:p>
            <a:r>
              <a:rPr lang="zh-CN" altLang="en-US" b="1"/>
              <a:t>背景知识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测试时扩展（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Test-Time Scalling)</a:t>
            </a:r>
            <a:endParaRPr lang="en-US" altLang="zh-CN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在推理阶段增加计算量，通过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让多个智能体协作、辩论或搜索，来解决单体模型无法解决的复杂问题</a:t>
            </a:r>
            <a:endParaRPr lang="zh-CN" altLang="en-US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已开发出多种方法，通过利用测试时扩展（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TTS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）来改进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LLM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中的推理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。最近的工作探索了包括分层假设搜索等技术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，它通过结构化探索实现归纳推理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，以及推理时工具增强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，它通过允许模型与外部环境交互来增强下游性能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。其他方法侧重于内部机制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，例如以无监督方式学习思维标记（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thought tokens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），使模型能更好地利用扩展的推理序列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0" y="-635"/>
            <a:ext cx="12192000" cy="69532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背景与动机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932250"/>
            <a:ext cx="10969200" cy="705600"/>
          </a:xfrm>
        </p:spPr>
        <p:txBody>
          <a:bodyPr/>
          <a:p>
            <a:r>
              <a:rPr lang="zh-CN" altLang="en-US" b="1"/>
              <a:t>背景知识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414645" cy="4759325"/>
          </a:xfrm>
        </p:spPr>
        <p:txBody>
          <a:bodyPr>
            <a:normAutofit lnSpcReduction="20000"/>
          </a:bodyPr>
          <a:p>
            <a:r>
              <a:rPr lang="zh-CN" altLang="en-US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测试时扩展（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Test-Time Scalling)</a:t>
            </a:r>
            <a:endParaRPr lang="en-US" altLang="zh-CN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三种主要的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扩展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模式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在多智能体系统中，测试时扩展通常通过以下三种方式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换取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更高的精度：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A.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采样与投票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(Sampling &amp; Voting) —— 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三个臭皮匠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这是最基础的扩展形式（类似于视觉里的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TTA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操作：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让多个智能体（或同一个智能体多次）独立回答同一个问题。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扩展：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多数投票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Majority Voting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）或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加权投票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来决定最终答案。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作用：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消除单次推理的随机性错误。如果一个智能体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发疯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了，其他智能体会把它纠正回来。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0" y="-635"/>
            <a:ext cx="12192000" cy="69532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背景与动机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" name="图片 3" descr="Gemini_Generated_Image_p4rlewp4rlewp4r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975" y="831850"/>
            <a:ext cx="6176645" cy="60261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932250"/>
            <a:ext cx="10969200" cy="705600"/>
          </a:xfrm>
        </p:spPr>
        <p:txBody>
          <a:bodyPr/>
          <a:p>
            <a:r>
              <a:rPr lang="zh-CN" altLang="en-US" b="1"/>
              <a:t>背景知识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805170" cy="4759325"/>
          </a:xfrm>
        </p:spPr>
        <p:txBody>
          <a:bodyPr>
            <a:normAutofit/>
          </a:bodyPr>
          <a:p>
            <a:r>
              <a:rPr lang="zh-CN" altLang="en-US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测试时扩展（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Test-Time Scalling)</a:t>
            </a:r>
            <a:endParaRPr lang="en-US" altLang="zh-CN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三种主要的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扩展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模式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B.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验证与批判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(Verification &amp; Critique) —— 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红蓝对抗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这是多智能体最擅长的领域。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操作：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 A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（做题家）：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生成一个解题步骤。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 B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（判卷老师）：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检查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的步骤，指出哪里有逻辑漏洞或计算错误。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 A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根据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B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的反馈修改答案。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扩展：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这个循环可以进行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轮。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作用：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极大地减少了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一本正经胡说八道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的现象，特别是在数学、代码生成领域。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0" y="-635"/>
            <a:ext cx="12192000" cy="69532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背景与动机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" name="图片 3" descr="Gemini_Generated_Image_xp6zkcxp6zkcxp6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0" y="1079500"/>
            <a:ext cx="5778500" cy="5778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932250"/>
            <a:ext cx="10969200" cy="705600"/>
          </a:xfrm>
        </p:spPr>
        <p:txBody>
          <a:bodyPr/>
          <a:p>
            <a:r>
              <a:rPr lang="zh-CN" altLang="en-US" b="1"/>
              <a:t>背景知识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36855" y="1490345"/>
            <a:ext cx="6036945" cy="4759325"/>
          </a:xfrm>
        </p:spPr>
        <p:txBody>
          <a:bodyPr>
            <a:normAutofit/>
          </a:bodyPr>
          <a:p>
            <a:r>
              <a:rPr lang="zh-CN" altLang="en-US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测试时扩展（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Test-Time Scalling)</a:t>
            </a:r>
            <a:endParaRPr lang="en-US" altLang="zh-CN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三种主要的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扩展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模式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C.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树搜索与规划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(Tree Search / Process Reward) —— 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思维树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”--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目前最前沿的方向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（类似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OpenAI o1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背后的逻辑）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操作：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智能体不直接生成最终答案，而是生成多个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下一步的可能想法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扩展：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另一个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评估智能体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会对这些想法打分，系统会保留高分的路径，剪掉低分的路径（类似于下围棋时的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AlphaGo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作用：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能解决极高难度的推理问题，因为智能体在每一步都在进行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自我纠错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和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最优路径选择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0" y="-635"/>
            <a:ext cx="12192000" cy="69532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背景与动机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0" y="932180"/>
            <a:ext cx="5837555" cy="58375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932250"/>
            <a:ext cx="10969200" cy="705600"/>
          </a:xfrm>
        </p:spPr>
        <p:txBody>
          <a:bodyPr/>
          <a:p>
            <a:r>
              <a:rPr lang="zh-CN" altLang="en-US" b="1"/>
              <a:t>背景知识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测试时扩展（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Test-Time Scalling)</a:t>
            </a:r>
            <a:endParaRPr lang="en-US" altLang="zh-CN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在最受研究的扩展范式中，包括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并行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和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顺序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TTS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方法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。并行方法独立生成多个解决方案候选，并使用评分标准（如多数投票或基于结果的奖励模型）选择最佳方案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。相反，顺序方法将每次新的尝试都以前一次为条件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，允许基于先前输出来进行迭代细化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。连接这些策略的是基于树的技术，例如蒙特卡洛树搜索（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MCTS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）和引导式集束搜索（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guided beam search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），它们通过分支和评估实现结构化探索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。许多这些方法的核心是奖励模型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，它为生成提供反馈信号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。这些可分为结果奖励模型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，用于评估完整的解决方案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，或过程奖励模型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，用于评估中间推理步骤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，指导模型走向更有效的推理路径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0" y="-635"/>
            <a:ext cx="12192000" cy="69532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背景与动机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46195"/>
            <a:ext cx="10969200" cy="705600"/>
          </a:xfrm>
        </p:spPr>
        <p:txBody>
          <a:bodyPr/>
          <a:p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2.1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多智能体协作推理数据的自动生成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2.1.1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基于难度、多样性和跨学科性进行问题抽样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Simple-Scaling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的完整数据集，包含多个来源的各种问题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这些问题涵盖了物理学、几何学、数论、生物学和天文学等多个领域。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DeepSeek-R1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来确定解决每个问题是否需要跨学科知识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，并排除了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DeepSeek-R1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使用少于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1024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个标记回答的问题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例如：解决一个高级天文学问题可能需要天文学家、物理学家和数学家的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知识输入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方法介绍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" name="图片 4" descr="Gemini_Generated_Image_azxvbgazxvbgazxv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550" y="3384550"/>
            <a:ext cx="3473450" cy="34734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06825"/>
            <a:ext cx="10969200" cy="705600"/>
          </a:xfrm>
        </p:spPr>
        <p:txBody>
          <a:bodyPr/>
          <a:p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2.1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多智能体协作推理数据的自动生成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313870"/>
            <a:ext cx="10969200" cy="4759200"/>
          </a:xfrm>
        </p:spPr>
        <p:txBody>
          <a:bodyPr>
            <a:normAutofit lnSpcReduction="20000"/>
          </a:bodyPr>
          <a:p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2.1.2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生成多智能体协作推理轨迹（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trace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en-US" altLang="zh-CN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1600"/>
              <a:t>为了生成协作推理轨迹，文章采用</a:t>
            </a:r>
            <a:r>
              <a:rPr lang="zh-CN" altLang="en-US"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开源</a:t>
            </a:r>
            <a:r>
              <a:rPr lang="en-US" altLang="zh-CN"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MAS </a:t>
            </a:r>
            <a:r>
              <a:rPr lang="zh-CN" altLang="en-US"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框架和推理模型</a:t>
            </a:r>
            <a:r>
              <a:rPr lang="zh-CN" altLang="en-US" sz="1600"/>
              <a:t>，主要是</a:t>
            </a:r>
            <a:r>
              <a:rPr lang="en-US" altLang="zh-CN" sz="1600"/>
              <a:t> AgentVerse </a:t>
            </a:r>
            <a:r>
              <a:rPr lang="zh-CN" altLang="en-US" sz="1600"/>
              <a:t>和</a:t>
            </a:r>
            <a:r>
              <a:rPr lang="en-US" altLang="zh-CN" sz="1600"/>
              <a:t> DeepSeek-R1 </a:t>
            </a:r>
            <a:r>
              <a:rPr lang="zh-CN" altLang="en-US" sz="1600"/>
              <a:t>，来处理先前选择的问题</a:t>
            </a:r>
            <a:r>
              <a:rPr lang="en-US" altLang="zh-CN" sz="1600"/>
              <a:t> </a:t>
            </a:r>
            <a:r>
              <a:rPr lang="zh-CN" altLang="en-US" sz="1600"/>
              <a:t>。该</a:t>
            </a:r>
            <a:r>
              <a:rPr lang="en-US" altLang="zh-CN" sz="1600"/>
              <a:t> MAS </a:t>
            </a:r>
            <a:r>
              <a:rPr lang="zh-CN" altLang="en-US" sz="1600"/>
              <a:t>框架涉及多个角色</a:t>
            </a:r>
            <a:r>
              <a:rPr lang="en-US" altLang="zh-CN" sz="1600"/>
              <a:t> </a:t>
            </a:r>
            <a:r>
              <a:rPr lang="zh-CN" altLang="en-US" sz="1600"/>
              <a:t>：专家招聘者（</a:t>
            </a:r>
            <a:r>
              <a:rPr lang="en-US" altLang="zh-CN" sz="1600"/>
              <a:t>Expert Recruiter</a:t>
            </a:r>
            <a:r>
              <a:rPr lang="zh-CN" altLang="en-US" sz="1600"/>
              <a:t>）、问题解决者（</a:t>
            </a:r>
            <a:r>
              <a:rPr lang="en-US" altLang="zh-CN" sz="1600"/>
              <a:t>Problem Solver</a:t>
            </a:r>
            <a:r>
              <a:rPr lang="zh-CN" altLang="en-US" sz="1600"/>
              <a:t>，例如科学家和工程师）、执行者（</a:t>
            </a:r>
            <a:r>
              <a:rPr lang="en-US" altLang="zh-CN" sz="1600"/>
              <a:t>Executor</a:t>
            </a:r>
            <a:r>
              <a:rPr lang="zh-CN" altLang="en-US" sz="1600"/>
              <a:t>，例如质量保证工程师）和评估者（</a:t>
            </a:r>
            <a:r>
              <a:rPr lang="en-US" altLang="zh-CN" sz="1600"/>
              <a:t>Evaluator</a:t>
            </a:r>
            <a:r>
              <a:rPr lang="zh-CN" altLang="en-US" sz="1600"/>
              <a:t>，例如产品经理）。它们按以下方式协作：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1.</a:t>
            </a:r>
            <a:r>
              <a:rPr lang="zh-CN" altLang="en-US" sz="16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专家招聘者</a:t>
            </a:r>
            <a:r>
              <a:rPr lang="zh-CN" altLang="en-US" sz="1600"/>
              <a:t>识别并分配合适的专家来执行任务（分配的智能体总数是固定的）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2.</a:t>
            </a:r>
            <a:r>
              <a:rPr lang="zh-CN" altLang="en-US" sz="1600"/>
              <a:t>专家充当</a:t>
            </a:r>
            <a:r>
              <a:rPr lang="zh-CN" altLang="en-US" sz="16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问题解决者</a:t>
            </a:r>
            <a:r>
              <a:rPr lang="zh-CN" altLang="en-US" sz="1600"/>
              <a:t>，通过与预定的批评迭代次数进行多轮讨论</a:t>
            </a:r>
            <a:r>
              <a:rPr lang="en-US" altLang="zh-CN" sz="1600"/>
              <a:t> </a:t>
            </a:r>
            <a:r>
              <a:rPr lang="zh-CN" altLang="en-US" sz="1600"/>
              <a:t>，提出并迭代细化解决方案，直到到达预设的最大迭代次数，然后将得到的方案传递给</a:t>
            </a:r>
            <a:r>
              <a:rPr lang="zh-CN" altLang="en-US" sz="160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</a:rPr>
              <a:t>执行者</a:t>
            </a:r>
            <a:endParaRPr lang="zh-CN" altLang="en-US" sz="16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  <a:p>
            <a:pPr marL="0" indent="0">
              <a:buNone/>
            </a:pPr>
            <a:r>
              <a:rPr lang="en-US" altLang="zh-CN" sz="1600"/>
              <a:t>3.</a:t>
            </a:r>
            <a:r>
              <a:rPr lang="zh-CN" altLang="en-US" sz="16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执行者</a:t>
            </a:r>
            <a:r>
              <a:rPr lang="zh-CN" altLang="en-US" sz="1600"/>
              <a:t>运行所需的代码或在需要时调用外部工具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4.</a:t>
            </a:r>
            <a:r>
              <a:rPr lang="zh-CN" altLang="en-US" sz="16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评估者</a:t>
            </a:r>
            <a:r>
              <a:rPr lang="zh-CN" altLang="en-US" sz="1600"/>
              <a:t>审查解决方案和执行者产生的结果</a:t>
            </a:r>
            <a:r>
              <a:rPr lang="en-US" altLang="zh-CN" sz="1600"/>
              <a:t> </a:t>
            </a:r>
            <a:r>
              <a:rPr lang="zh-CN" altLang="en-US" sz="1600"/>
              <a:t>，为可能的细化提供反馈</a:t>
            </a:r>
            <a:r>
              <a:rPr lang="en-US" altLang="zh-CN" sz="1600"/>
              <a:t> </a:t>
            </a:r>
            <a:r>
              <a:rPr lang="zh-CN" altLang="en-US" sz="1600"/>
              <a:t>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这四步会反复迭代执行直到到达最大迭代次数</a:t>
            </a:r>
            <a:endParaRPr lang="zh-CN" altLang="en-US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在这个过程中，每个智能体的输入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——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输出会被收集，从而生成推理轨迹</a:t>
            </a:r>
            <a:endParaRPr lang="zh-CN" alt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方法介绍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推理轨迹</a:t>
            </a:r>
            <a:r>
              <a:rPr lang="zh-CN" altLang="en-US"/>
              <a:t>样例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1313180"/>
            <a:ext cx="9129395" cy="5544820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方法介绍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8895" y="2519045"/>
            <a:ext cx="4467225" cy="12287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746195"/>
            <a:ext cx="10969200" cy="705600"/>
          </a:xfrm>
        </p:spPr>
        <p:txBody>
          <a:bodyPr/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2.2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通过监督微调增强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LLM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协作推理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受到</a:t>
            </a:r>
            <a:r>
              <a:rPr lang="en-US" altLang="zh-CN"/>
              <a:t> Simple-Scaling </a:t>
            </a:r>
            <a:r>
              <a:rPr lang="zh-CN" altLang="en-US"/>
              <a:t>的启发【该研究表明</a:t>
            </a:r>
            <a:r>
              <a:rPr lang="en-US" altLang="zh-CN"/>
              <a:t> LLM </a:t>
            </a:r>
            <a:r>
              <a:rPr lang="zh-CN" altLang="en-US"/>
              <a:t>的长</a:t>
            </a:r>
            <a:r>
              <a:rPr lang="en-US" altLang="zh-CN"/>
              <a:t> CoT </a:t>
            </a:r>
            <a:r>
              <a:rPr lang="zh-CN" altLang="en-US"/>
              <a:t>（</a:t>
            </a:r>
            <a:r>
              <a:rPr lang="en-US" altLang="zh-CN"/>
              <a:t>Chain-of-Thought Prompting</a:t>
            </a:r>
            <a:r>
              <a:rPr lang="zh-CN" altLang="en-US"/>
              <a:t>）推理能力可以通过对详细推理轨迹进行</a:t>
            </a:r>
            <a:r>
              <a:rPr lang="en-US" altLang="zh-CN"/>
              <a:t> SFT (Supervised Fine-Tuning)</a:t>
            </a:r>
            <a:r>
              <a:rPr lang="zh-CN" altLang="en-US"/>
              <a:t>来发展】</a:t>
            </a:r>
            <a:endParaRPr lang="zh-CN" altLang="en-US"/>
          </a:p>
          <a:p>
            <a:r>
              <a:rPr lang="zh-CN" altLang="en-US"/>
              <a:t>用</a:t>
            </a:r>
            <a:r>
              <a:rPr lang="en-US" altLang="zh-CN"/>
              <a:t> M500 </a:t>
            </a:r>
            <a:r>
              <a:rPr lang="zh-CN" altLang="en-US"/>
              <a:t>数据集对</a:t>
            </a:r>
            <a:r>
              <a:rPr lang="en-US" altLang="zh-CN"/>
              <a:t> LLM</a:t>
            </a:r>
            <a:r>
              <a:rPr lang="zh-CN" altLang="en-US"/>
              <a:t>应用</a:t>
            </a:r>
            <a:r>
              <a:rPr lang="en-US" altLang="zh-CN"/>
              <a:t>SFT</a:t>
            </a:r>
            <a:r>
              <a:rPr lang="zh-CN" altLang="en-US"/>
              <a:t>，有监督微调的目的是最小化</a:t>
            </a:r>
            <a:r>
              <a:rPr lang="zh-CN" altLang="en-US"/>
              <a:t>损失函数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其中</a:t>
            </a:r>
            <a:r>
              <a:rPr lang="en-US" altLang="zh-CN"/>
              <a:t>                   </a:t>
            </a:r>
            <a:r>
              <a:rPr lang="zh-CN" altLang="en-US"/>
              <a:t>表示模型</a:t>
            </a:r>
            <a:r>
              <a:rPr lang="en-US" altLang="zh-CN"/>
              <a:t>    </a:t>
            </a:r>
            <a:r>
              <a:rPr lang="zh-CN" altLang="en-US"/>
              <a:t>在给定输入</a:t>
            </a:r>
            <a:r>
              <a:rPr lang="en-US" altLang="zh-CN"/>
              <a:t>    </a:t>
            </a:r>
            <a:r>
              <a:rPr lang="zh-CN" altLang="en-US"/>
              <a:t>和先前标记</a:t>
            </a:r>
            <a:r>
              <a:rPr lang="en-US" altLang="zh-CN"/>
              <a:t>     </a:t>
            </a:r>
            <a:r>
              <a:rPr lang="zh-CN" altLang="en-US"/>
              <a:t>的情况下赋予标记</a:t>
            </a:r>
            <a:r>
              <a:rPr lang="en-US" altLang="zh-CN"/>
              <a:t>    </a:t>
            </a:r>
            <a:r>
              <a:rPr lang="zh-CN" altLang="en-US"/>
              <a:t>的概率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我们确保</a:t>
            </a:r>
            <a:r>
              <a:rPr lang="en-US" altLang="zh-CN"/>
              <a:t> </a:t>
            </a:r>
            <a:r>
              <a:rPr lang="zh-CN" altLang="en-US"/>
              <a:t>同一问题</a:t>
            </a:r>
            <a:r>
              <a:rPr lang="en-US" altLang="zh-CN"/>
              <a:t> Q </a:t>
            </a:r>
            <a:r>
              <a:rPr lang="zh-CN" altLang="en-US"/>
              <a:t>的所有推理轨迹</a:t>
            </a:r>
            <a:r>
              <a:rPr lang="en-US" altLang="zh-CN"/>
              <a:t>                     </a:t>
            </a:r>
            <a:r>
              <a:rPr lang="zh-CN" altLang="en-US"/>
              <a:t>在同一批次中分组，并按照</a:t>
            </a:r>
            <a:r>
              <a:rPr lang="en-US" altLang="zh-CN"/>
              <a:t> MAS </a:t>
            </a:r>
            <a:r>
              <a:rPr lang="zh-CN" altLang="en-US"/>
              <a:t>中的原始生成顺序排序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方法介绍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0820" y="3843655"/>
            <a:ext cx="1316355" cy="3613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2720" y="3747770"/>
            <a:ext cx="276225" cy="4572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5650" y="3843655"/>
            <a:ext cx="400050" cy="4000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0870" y="3843655"/>
            <a:ext cx="333375" cy="4000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0" y="3947795"/>
            <a:ext cx="209550" cy="2571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1125" y="4243705"/>
            <a:ext cx="1428750" cy="40005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45560"/>
            <a:ext cx="10969200" cy="705600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2.3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自适应测试时扩展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提出了一种针对</a:t>
            </a:r>
            <a:r>
              <a:rPr lang="en-US" altLang="zh-CN"/>
              <a:t> MAS </a:t>
            </a:r>
            <a:r>
              <a:rPr lang="zh-CN" altLang="en-US"/>
              <a:t>的自适应</a:t>
            </a:r>
            <a:r>
              <a:rPr lang="en-US" altLang="zh-CN"/>
              <a:t> TTS </a:t>
            </a:r>
            <a:r>
              <a:rPr lang="zh-CN" altLang="en-US"/>
              <a:t>策略</a:t>
            </a:r>
            <a:r>
              <a:rPr lang="en-US" altLang="zh-CN"/>
              <a:t> </a:t>
            </a:r>
            <a:r>
              <a:rPr lang="zh-CN" altLang="en-US"/>
              <a:t>，通过引入一个专用的</a:t>
            </a:r>
            <a:r>
              <a:rPr lang="en-US" altLang="zh-CN"/>
              <a:t> “CEO”</a:t>
            </a:r>
            <a:r>
              <a:rPr lang="zh-CN" altLang="en-US"/>
              <a:t>智能体来实现</a:t>
            </a:r>
            <a:r>
              <a:rPr lang="en-US" altLang="zh-CN"/>
              <a:t> </a:t>
            </a:r>
            <a:r>
              <a:rPr lang="zh-CN" altLang="en-US"/>
              <a:t>，该智能体根据给定任务的持续进展动态管理协作和资源分配</a:t>
            </a:r>
            <a:endParaRPr lang="zh-CN" altLang="en-US"/>
          </a:p>
          <a:p>
            <a:r>
              <a:rPr lang="en-US" altLang="zh-CN"/>
              <a:t>CEO </a:t>
            </a:r>
            <a:r>
              <a:rPr lang="zh-CN" altLang="en-US"/>
              <a:t>智能体评估问题、当前解决方案状态、评估反馈和可用资源，以确定是否应接受提议的解决方案或需要进一步细化</a:t>
            </a:r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方法介绍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36620"/>
            <a:ext cx="5353050" cy="34213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57850" y="3982720"/>
            <a:ext cx="49720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与具有固定智能体数量、迭代限制和推理深度的静态</a:t>
            </a:r>
            <a:r>
              <a:rPr lang="en-US" altLang="zh-CN"/>
              <a:t> MAS </a:t>
            </a:r>
            <a:r>
              <a:rPr lang="zh-CN" altLang="en-US"/>
              <a:t>配置不同之处</a:t>
            </a:r>
            <a:r>
              <a:rPr lang="zh-CN" altLang="en-US"/>
              <a:t>在于，</a:t>
            </a:r>
            <a:r>
              <a:rPr lang="zh-CN" altLang="en-US"/>
              <a:t>该自适应方法允许</a:t>
            </a:r>
            <a:r>
              <a:rPr lang="en-US" altLang="zh-CN"/>
              <a:t> MAS </a:t>
            </a:r>
            <a:r>
              <a:rPr lang="zh-CN" altLang="en-US"/>
              <a:t>动态调整其设置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45560"/>
            <a:ext cx="10969200" cy="705600"/>
          </a:xfrm>
        </p:spPr>
        <p:txBody>
          <a:bodyPr/>
          <a:p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对实验方法的评估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为了进行全面评估，我们重点关注三个关键领域</a:t>
            </a:r>
            <a:endParaRPr lang="zh-CN" altLang="en-US"/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通用理解（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General Understanding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数学推理（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Mathematical Reasoning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代码编写（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Coding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/>
              <a:t>训练和评估。</a:t>
            </a:r>
            <a:r>
              <a:rPr lang="en-US" altLang="zh-CN"/>
              <a:t> </a:t>
            </a:r>
            <a:r>
              <a:rPr lang="zh-CN" altLang="en-US"/>
              <a:t>使用</a:t>
            </a:r>
            <a:r>
              <a:rPr lang="en-US" altLang="zh-CN"/>
              <a:t> M500 </a:t>
            </a:r>
            <a:r>
              <a:rPr lang="zh-CN" altLang="en-US"/>
              <a:t>数据集对</a:t>
            </a:r>
            <a:r>
              <a:rPr lang="en-US" altLang="zh-CN"/>
              <a:t> Qwen2.5 </a:t>
            </a:r>
            <a:r>
              <a:rPr lang="zh-CN" altLang="en-US"/>
              <a:t>进行</a:t>
            </a:r>
            <a:r>
              <a:rPr lang="en-US" altLang="zh-CN"/>
              <a:t> SFT</a:t>
            </a:r>
            <a:r>
              <a:rPr lang="zh-CN" altLang="en-US"/>
              <a:t>，训练</a:t>
            </a:r>
            <a:r>
              <a:rPr lang="en-US" altLang="zh-CN"/>
              <a:t> 5 </a:t>
            </a:r>
            <a:r>
              <a:rPr lang="zh-CN" altLang="en-US"/>
              <a:t>个</a:t>
            </a:r>
            <a:r>
              <a:rPr lang="en-US" altLang="zh-CN"/>
              <a:t> epoch</a:t>
            </a:r>
            <a:r>
              <a:rPr lang="zh-CN" altLang="en-US"/>
              <a:t>，学习率为</a:t>
            </a:r>
            <a:r>
              <a:rPr lang="en-US" altLang="zh-CN"/>
              <a:t> 1e-5</a:t>
            </a:r>
            <a:r>
              <a:rPr lang="zh-CN" altLang="en-US"/>
              <a:t>，得到了的模型</a:t>
            </a:r>
            <a:r>
              <a:rPr lang="en-US" altLang="zh-CN"/>
              <a:t> M1-32B 268</a:t>
            </a:r>
            <a:r>
              <a:rPr lang="zh-CN" altLang="en-US"/>
              <a:t>。训练是在</a:t>
            </a:r>
            <a:r>
              <a:rPr lang="en-US" altLang="zh-CN"/>
              <a:t> LLaMA-Factory </a:t>
            </a:r>
            <a:r>
              <a:rPr lang="zh-CN" altLang="en-US"/>
              <a:t>框架</a:t>
            </a:r>
            <a:r>
              <a:rPr lang="en-US" altLang="zh-CN"/>
              <a:t> </a:t>
            </a:r>
            <a:r>
              <a:rPr lang="zh-CN" altLang="en-US"/>
              <a:t>内使用</a:t>
            </a:r>
            <a:r>
              <a:rPr lang="en-US" altLang="zh-CN"/>
              <a:t> FlashAttention </a:t>
            </a:r>
            <a:r>
              <a:rPr lang="zh-CN" altLang="en-US"/>
              <a:t>和</a:t>
            </a:r>
            <a:r>
              <a:rPr lang="en-US" altLang="zh-CN"/>
              <a:t> DeepSpeed</a:t>
            </a:r>
            <a:r>
              <a:rPr lang="zh-CN" altLang="en-US"/>
              <a:t>在</a:t>
            </a:r>
            <a:r>
              <a:rPr lang="en-US" altLang="zh-CN"/>
              <a:t> 8 </a:t>
            </a:r>
            <a:r>
              <a:rPr lang="zh-CN" altLang="en-US"/>
              <a:t>块</a:t>
            </a:r>
            <a:r>
              <a:rPr lang="en-US" altLang="zh-CN"/>
              <a:t> NVIDIA A100 GPU </a:t>
            </a:r>
            <a:r>
              <a:rPr lang="zh-CN" altLang="en-US"/>
              <a:t>上进行的。</a:t>
            </a:r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实验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44290"/>
            <a:ext cx="10969200" cy="705600"/>
          </a:xfrm>
        </p:spPr>
        <p:txBody>
          <a:bodyPr/>
          <a:p>
            <a:r>
              <a:rPr lang="zh-CN" altLang="en-US" b="1"/>
              <a:t>实验结果</a:t>
            </a:r>
            <a:endParaRPr lang="zh-CN" altLang="en-US" b="1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86460" y="3172460"/>
            <a:ext cx="9649460" cy="3685540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实验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608330" y="1487805"/>
            <a:ext cx="92075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AgentVerse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框架内使用强大的推理和非推理模型，对通用理解、数学推理和代码编写任务的性能比较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。方法在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所有任务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上都比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Qwen2.5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s1.1-32B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有实质性改进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MATH-500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MBPP-S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上取得了与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O3-mini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DeepSeek-R1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相当的性能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，证明了其在增强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中协作推理方面的有效性</a:t>
            </a:r>
            <a:r>
              <a:rPr lang="en-US" altLang="zh-CN"/>
              <a:t> </a:t>
            </a:r>
            <a:endParaRPr lang="zh-CN" altLang="en-US"/>
          </a:p>
          <a:p>
            <a:pPr indent="457200"/>
            <a:r>
              <a:rPr lang="en-US" altLang="zh-CN"/>
              <a:t>CEO </a:t>
            </a:r>
            <a:r>
              <a:rPr lang="zh-CN" altLang="en-US"/>
              <a:t>智能体的引入持续改善了</a:t>
            </a:r>
            <a:r>
              <a:rPr lang="en-US" altLang="zh-CN"/>
              <a:t> M1-32B </a:t>
            </a:r>
            <a:r>
              <a:rPr lang="zh-CN" altLang="en-US"/>
              <a:t>在所有任务上的性能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10000"/>
            <a:ext cx="10969200" cy="705600"/>
          </a:xfrm>
        </p:spPr>
        <p:txBody>
          <a:bodyPr/>
          <a:p>
            <a:r>
              <a:rPr lang="en-US" altLang="zh-CN" b="1"/>
              <a:t>MAS </a:t>
            </a:r>
            <a:r>
              <a:rPr lang="zh-CN" altLang="en-US" b="1"/>
              <a:t>中的</a:t>
            </a:r>
            <a:r>
              <a:rPr lang="en-US" altLang="zh-CN" b="1"/>
              <a:t>“</a:t>
            </a:r>
            <a:r>
              <a:rPr lang="zh-CN" altLang="en-US" b="1"/>
              <a:t>顿悟时刻</a:t>
            </a:r>
            <a:r>
              <a:rPr lang="en-US" altLang="zh-CN" b="1"/>
              <a:t>”</a:t>
            </a:r>
            <a:r>
              <a:rPr lang="zh-CN" altLang="en-US" b="1"/>
              <a:t>（</a:t>
            </a:r>
            <a:r>
              <a:rPr lang="en-US" altLang="zh-CN" b="1"/>
              <a:t>Aha Moment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32175" y="1489765"/>
            <a:ext cx="10969200" cy="4759200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在使用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M1-32B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MAS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中，我们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观察到智能体有时会表现出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涌现行为</a:t>
            </a:r>
            <a:r>
              <a:rPr lang="en-US" altLang="zh-CN"/>
              <a:t> </a:t>
            </a:r>
            <a:r>
              <a:rPr lang="zh-CN" altLang="en-US"/>
              <a:t>，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主动帮助验证和改进协作过程，即使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这不是明确要求的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实验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065" y="1343025"/>
            <a:ext cx="7226935" cy="550100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60010" y="3896995"/>
            <a:ext cx="6886575" cy="39052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45560"/>
            <a:ext cx="10969200" cy="705600"/>
          </a:xfrm>
        </p:spPr>
        <p:txBody>
          <a:bodyPr/>
          <a:p>
            <a:r>
              <a:rPr lang="en-US" altLang="zh-CN" b="1"/>
              <a:t>MAS </a:t>
            </a:r>
            <a:r>
              <a:rPr lang="zh-CN" altLang="en-US" b="1"/>
              <a:t>中协作和推理的扩展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通过系统地调整总迭代次数、批评迭代次数、总智能体数量和最大标记限制</a:t>
            </a:r>
            <a:r>
              <a:rPr lang="en-US" altLang="zh-CN"/>
              <a:t> </a:t>
            </a:r>
            <a:r>
              <a:rPr lang="zh-CN" altLang="en-US"/>
              <a:t>，研究了协作和推理的扩展如何影响</a:t>
            </a:r>
            <a:r>
              <a:rPr lang="en-US" altLang="zh-CN"/>
              <a:t> M1-32B </a:t>
            </a:r>
            <a:r>
              <a:rPr lang="zh-CN" altLang="en-US"/>
              <a:t>在</a:t>
            </a:r>
            <a:r>
              <a:rPr lang="en-US" altLang="zh-CN"/>
              <a:t> MAS </a:t>
            </a:r>
            <a:r>
              <a:rPr lang="zh-CN" altLang="en-US"/>
              <a:t>中的性能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额外的</a:t>
              </a: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发现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3247390"/>
            <a:ext cx="11449685" cy="23094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8330" y="5810250"/>
            <a:ext cx="6597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通过增加问题解决者之间的交互来增强协作，可显著提高性能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370330" y="2632075"/>
            <a:ext cx="10272395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l"/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增加迭代次数</a:t>
            </a:r>
            <a:r>
              <a:rPr lang="en-US" altLang="zh-CN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  </a:t>
            </a:r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增加批评次数</a:t>
            </a:r>
            <a:r>
              <a:rPr lang="en-US" altLang="zh-CN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   </a:t>
            </a:r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增加智能体</a:t>
            </a:r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数目</a:t>
            </a:r>
            <a:endParaRPr lang="zh-CN" altLang="en-US" sz="32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45560"/>
            <a:ext cx="10969200" cy="705600"/>
          </a:xfrm>
        </p:spPr>
        <p:txBody>
          <a:bodyPr/>
          <a:p>
            <a:r>
              <a:rPr lang="en-US" altLang="zh-CN" b="1"/>
              <a:t>MAS </a:t>
            </a:r>
            <a:r>
              <a:rPr lang="zh-CN" altLang="en-US" b="1"/>
              <a:t>中协作和推理的扩展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通过系统地调整总迭代次数、批评迭代次数、总智能体数量和最大标记限制</a:t>
            </a:r>
            <a:r>
              <a:rPr lang="en-US" altLang="zh-CN"/>
              <a:t> </a:t>
            </a:r>
            <a:r>
              <a:rPr lang="zh-CN" altLang="en-US"/>
              <a:t>，研究了协作和推理的扩展如何影响</a:t>
            </a:r>
            <a:r>
              <a:rPr lang="en-US" altLang="zh-CN"/>
              <a:t> M1-32B </a:t>
            </a:r>
            <a:r>
              <a:rPr lang="zh-CN" altLang="en-US"/>
              <a:t>在</a:t>
            </a:r>
            <a:r>
              <a:rPr lang="en-US" altLang="zh-CN"/>
              <a:t> MAS </a:t>
            </a:r>
            <a:r>
              <a:rPr lang="zh-CN" altLang="en-US"/>
              <a:t>中的性能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额外的</a:t>
              </a: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发现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2302510"/>
            <a:ext cx="6286500" cy="35744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03300" y="5718810"/>
            <a:ext cx="6271260" cy="530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通过增加每个智能体的最大允许标记来增强推理能力，可以有效地提高</a:t>
            </a:r>
            <a:r>
              <a:rPr lang="en-US" altLang="zh-CN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MAS 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性能</a:t>
            </a:r>
            <a:endParaRPr lang="zh-CN" altLang="en-US" sz="24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2400"/>
              <a:t>在本文中，作者引入了一种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自适应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TTS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</a:t>
            </a:r>
            <a:r>
              <a:rPr lang="zh-CN" altLang="en-US" sz="2400"/>
              <a:t>来增强多智能体协作推理能力</a:t>
            </a:r>
            <a:r>
              <a:rPr lang="en-US" altLang="zh-CN" sz="2400"/>
              <a:t> </a:t>
            </a:r>
            <a:r>
              <a:rPr lang="zh-CN" altLang="en-US" sz="2400"/>
              <a:t>。我们通过自动生成过程构建了专门用于多智能体协作推理任务的</a:t>
            </a:r>
            <a:r>
              <a:rPr lang="en-US" altLang="zh-CN" sz="2400"/>
              <a:t> M500 </a:t>
            </a:r>
            <a:r>
              <a:rPr lang="zh-CN" altLang="en-US" sz="2400"/>
              <a:t>数据集</a:t>
            </a:r>
            <a:r>
              <a:rPr lang="en-US" altLang="zh-CN" sz="2400"/>
              <a:t> </a:t>
            </a:r>
            <a:r>
              <a:rPr lang="zh-CN" altLang="en-US" sz="2400"/>
              <a:t>，并在此数据集上微调了</a:t>
            </a:r>
            <a:r>
              <a:rPr lang="en-US" altLang="zh-CN" sz="2400"/>
              <a:t> Qwen2.5-32B-Instruct </a:t>
            </a:r>
            <a:r>
              <a:rPr lang="zh-CN" altLang="en-US" sz="2400"/>
              <a:t>模型</a:t>
            </a:r>
            <a:r>
              <a:rPr lang="en-US" altLang="zh-CN" sz="2400"/>
              <a:t> </a:t>
            </a:r>
            <a:r>
              <a:rPr lang="zh-CN" altLang="en-US" sz="2400"/>
              <a:t>，得到了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适用于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MAS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协作推理的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M1-32B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模型</a:t>
            </a:r>
            <a:r>
              <a:rPr lang="en-US" altLang="zh-CN" sz="2400"/>
              <a:t> </a:t>
            </a:r>
            <a:r>
              <a:rPr lang="zh-CN" altLang="en-US" sz="2400"/>
              <a:t>。此外，我们提出了一个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CEO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智能体</a:t>
            </a:r>
            <a:r>
              <a:rPr lang="en-US" altLang="zh-CN" sz="2400"/>
              <a:t> </a:t>
            </a:r>
            <a:r>
              <a:rPr lang="zh-CN" altLang="en-US" sz="2400"/>
              <a:t>，旨在自适应地管理协作和推理资源</a:t>
            </a:r>
            <a:r>
              <a:rPr lang="en-US" altLang="zh-CN" sz="2400"/>
              <a:t> 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进一步提高了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M1-32B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在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MAS 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内的性能</a:t>
            </a:r>
            <a:r>
              <a:rPr lang="en-US" altLang="zh-CN" sz="2400"/>
              <a:t> </a:t>
            </a:r>
            <a:r>
              <a:rPr lang="zh-CN" altLang="en-US" sz="2400"/>
              <a:t>。广泛的实验结果表明，我们的方法显著超越了</a:t>
            </a:r>
            <a:r>
              <a:rPr lang="en-US" altLang="zh-CN" sz="2400"/>
              <a:t> Qwen2.5-32B-Instruct </a:t>
            </a:r>
            <a:r>
              <a:rPr lang="zh-CN" altLang="en-US" sz="2400"/>
              <a:t>和</a:t>
            </a:r>
            <a:r>
              <a:rPr lang="en-US" altLang="zh-CN" sz="2400"/>
              <a:t> s1.1-32B </a:t>
            </a:r>
            <a:r>
              <a:rPr lang="zh-CN" altLang="en-US" sz="2400"/>
              <a:t>模型在</a:t>
            </a:r>
            <a:r>
              <a:rPr lang="en-US" altLang="zh-CN" sz="2400"/>
              <a:t> MAS </a:t>
            </a:r>
            <a:r>
              <a:rPr lang="zh-CN" altLang="en-US" sz="2400"/>
              <a:t>中的性能。</a:t>
            </a:r>
            <a:endParaRPr lang="zh-CN" altLang="en-US" sz="2400"/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结论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05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本文选用的</a:t>
            </a:r>
            <a:r>
              <a:rPr lang="en-US" altLang="zh-CN"/>
              <a:t>“</a:t>
            </a:r>
            <a:r>
              <a:rPr lang="zh-CN" altLang="en-US"/>
              <a:t>问题解决者</a:t>
            </a:r>
            <a:r>
              <a:rPr lang="en-US" altLang="zh-CN"/>
              <a:t>”</a:t>
            </a:r>
            <a:r>
              <a:rPr lang="zh-CN" altLang="en-US"/>
              <a:t>仅仅是未经特定领域知识，根据</a:t>
            </a:r>
            <a:r>
              <a:rPr lang="en-US" altLang="zh-CN"/>
              <a:t>QA</a:t>
            </a:r>
            <a:r>
              <a:rPr lang="zh-CN" altLang="en-US"/>
              <a:t>轨迹进行微调过的大模型，只是</a:t>
            </a:r>
            <a:r>
              <a:rPr lang="zh-CN" altLang="en-US"/>
              <a:t>提前用</a:t>
            </a:r>
            <a:r>
              <a:rPr lang="en-US" altLang="zh-CN"/>
              <a:t>prompt</a:t>
            </a:r>
            <a:r>
              <a:rPr lang="zh-CN" altLang="en-US"/>
              <a:t>赋予了普通大模型</a:t>
            </a:r>
            <a:r>
              <a:rPr lang="en-US" altLang="zh-CN"/>
              <a:t>“xx</a:t>
            </a:r>
            <a:r>
              <a:rPr lang="zh-CN" altLang="en-US"/>
              <a:t>领域专家</a:t>
            </a:r>
            <a:r>
              <a:rPr lang="en-US" altLang="zh-CN"/>
              <a:t>”</a:t>
            </a:r>
            <a:r>
              <a:rPr lang="zh-CN" altLang="en-US"/>
              <a:t>的身份，让他回答问题。如果有合适的语料或专业领域知识，可以明显改进本文中对不同领域的解决</a:t>
            </a:r>
            <a:r>
              <a:rPr lang="zh-CN" altLang="en-US"/>
              <a:t>效率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动态资源分配的必要性：</a:t>
            </a:r>
            <a:r>
              <a:rPr lang="en-US" altLang="zh-CN"/>
              <a:t> </a:t>
            </a:r>
            <a:r>
              <a:rPr lang="zh-CN" altLang="en-US"/>
              <a:t>实验证明，最佳的推理深度（最大标记数）会因任务而异</a:t>
            </a:r>
            <a:r>
              <a:rPr lang="en-US" altLang="zh-CN"/>
              <a:t> </a:t>
            </a:r>
            <a:r>
              <a:rPr lang="zh-CN" altLang="en-US"/>
              <a:t>。因此，使用像</a:t>
            </a:r>
            <a:r>
              <a:rPr lang="en-US" altLang="zh-CN"/>
              <a:t> CEO </a:t>
            </a:r>
            <a:r>
              <a:rPr lang="zh-CN" altLang="en-US"/>
              <a:t>智能体这样的自适应机制来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动态调整资源分配</a:t>
            </a:r>
            <a:r>
              <a:rPr lang="zh-CN" altLang="en-US"/>
              <a:t>，能够实现计算资源的最优化利用</a:t>
            </a:r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0" y="-635"/>
            <a:ext cx="12192000" cy="707390"/>
            <a:chOff x="0" y="0"/>
            <a:chExt cx="19200" cy="1114"/>
          </a:xfrm>
        </p:grpSpPr>
        <p:sp>
          <p:nvSpPr>
            <p:cNvPr id="38" name="矩形 37"/>
            <p:cNvSpPr/>
            <p:nvPr/>
          </p:nvSpPr>
          <p:spPr>
            <a:xfrm>
              <a:off x="0" y="0"/>
              <a:ext cx="19200" cy="10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396" y="83"/>
              <a:ext cx="1335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我的一些</a:t>
              </a:r>
              <a:r>
                <a:rPr lang="zh-CN" altLang="en-US" sz="3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想法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0" y="1"/>
              <a:ext cx="1292" cy="11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06</a:t>
              </a:r>
              <a:endPara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4726</Words>
  <Application>WPS 演示</Application>
  <PresentationFormat>宽屏</PresentationFormat>
  <Paragraphs>234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研究动机</vt:lpstr>
      <vt:lpstr>背景知识介绍</vt:lpstr>
      <vt:lpstr>背景知识介绍</vt:lpstr>
      <vt:lpstr>背景知识介绍</vt:lpstr>
      <vt:lpstr>背景知识</vt:lpstr>
      <vt:lpstr>背景知识</vt:lpstr>
      <vt:lpstr>背景知识</vt:lpstr>
      <vt:lpstr>背景知识</vt:lpstr>
      <vt:lpstr>2.1多智能体协作推理数据的自动生成</vt:lpstr>
      <vt:lpstr>2.1多智能体协作推理数据的自动生成</vt:lpstr>
      <vt:lpstr>推理轨迹样例</vt:lpstr>
      <vt:lpstr>2.2通过监督微调增强 LLM 协作推理</vt:lpstr>
      <vt:lpstr>2.3 自适应测试时扩展</vt:lpstr>
      <vt:lpstr>对实验方法的评估</vt:lpstr>
      <vt:lpstr>实验结果</vt:lpstr>
      <vt:lpstr>MAS 中的“顿悟时刻”（Aha Moment）</vt:lpstr>
      <vt:lpstr>MAS 中协作和推理的扩展。</vt:lpstr>
      <vt:lpstr>MAS 中协作和推理的扩展。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Administrator</cp:lastModifiedBy>
  <cp:revision>159</cp:revision>
  <dcterms:created xsi:type="dcterms:W3CDTF">2019-06-19T02:08:00Z</dcterms:created>
  <dcterms:modified xsi:type="dcterms:W3CDTF">2025-12-13T19:27:03Z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104BF77F05B34CB69C17784075E9BB2A_11</vt:lpwstr>
  </property>
</Properties>
</file>