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6" r:id="rId3"/>
    <p:sldId id="256" r:id="rId4"/>
    <p:sldId id="258" r:id="rId5"/>
    <p:sldId id="259" r:id="rId6"/>
    <p:sldId id="268" r:id="rId7"/>
    <p:sldId id="278" r:id="rId8"/>
    <p:sldId id="269" r:id="rId9"/>
    <p:sldId id="275" r:id="rId10"/>
    <p:sldId id="270" r:id="rId11"/>
    <p:sldId id="276" r:id="rId12"/>
    <p:sldId id="279" r:id="rId13"/>
    <p:sldId id="271" r:id="rId14"/>
    <p:sldId id="272" r:id="rId15"/>
    <p:sldId id="273" r:id="rId16"/>
    <p:sldId id="274" r:id="rId17"/>
    <p:sldId id="260" r:id="rId18"/>
    <p:sldId id="277"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1499870"/>
            <a:ext cx="12192000" cy="2051050"/>
            <a:chOff x="0" y="2362"/>
            <a:chExt cx="19200" cy="3230"/>
          </a:xfrm>
          <a:solidFill>
            <a:schemeClr val="accent6">
              <a:lumMod val="50000"/>
            </a:schemeClr>
          </a:solidFill>
        </p:grpSpPr>
        <p:sp>
          <p:nvSpPr>
            <p:cNvPr id="3" name="矩形 2"/>
            <p:cNvSpPr/>
            <p:nvPr/>
          </p:nvSpPr>
          <p:spPr>
            <a:xfrm>
              <a:off x="0" y="3188"/>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0" y="4390"/>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0" y="2362"/>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标题 15"/>
          <p:cNvSpPr>
            <a:spLocks noGrp="1"/>
          </p:cNvSpPr>
          <p:nvPr>
            <p:ph type="ctrTitle"/>
          </p:nvPr>
        </p:nvSpPr>
        <p:spPr>
          <a:xfrm>
            <a:off x="852170" y="2391410"/>
            <a:ext cx="10961370" cy="1159510"/>
          </a:xfrm>
        </p:spPr>
        <p:txBody>
          <a:bodyPr>
            <a:normAutofit fontScale="90000"/>
          </a:bodyPr>
          <a:p>
            <a:r>
              <a:rPr lang="en-US" altLang="zh-CN" sz="6665" b="1" dirty="0">
                <a:solidFill>
                  <a:schemeClr val="bg1"/>
                </a:solidFill>
                <a:latin typeface="微软雅黑" panose="020B0503020204020204" charset="-122"/>
                <a:ea typeface="微软雅黑" panose="020B0503020204020204" charset="-122"/>
              </a:rPr>
              <a:t>Biomni: A General-Purpose Biomedical AI Agent</a:t>
            </a:r>
            <a:endParaRPr lang="en-US" altLang="zh-CN" sz="6665" b="1" dirty="0">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3003550" y="3759200"/>
            <a:ext cx="6096000" cy="645160"/>
          </a:xfrm>
          <a:prstGeom prst="rect">
            <a:avLst/>
          </a:prstGeom>
          <a:noFill/>
        </p:spPr>
        <p:txBody>
          <a:bodyPr wrap="square" rtlCol="0" anchor="t">
            <a:spAutoFit/>
          </a:bodyPr>
          <a:p>
            <a:pPr algn="ctr"/>
            <a:r>
              <a:rPr lang="en-US" altLang="zh-CN"/>
              <a:t>https://doi.org/10.1101/2025.05.30.6</a:t>
            </a:r>
            <a:endParaRPr lang="en-US" altLang="zh-CN"/>
          </a:p>
          <a:p>
            <a:pPr algn="ctr"/>
            <a:r>
              <a:rPr lang="en-US" altLang="zh-CN"/>
              <a:t>https://biomni.stanford.edu</a:t>
            </a:r>
            <a:endParaRPr lang="en-US" altLang="zh-CN"/>
          </a:p>
        </p:txBody>
      </p:sp>
      <p:sp>
        <p:nvSpPr>
          <p:cNvPr id="20" name="文本占位符 3"/>
          <p:cNvSpPr txBox="1"/>
          <p:nvPr/>
        </p:nvSpPr>
        <p:spPr>
          <a:xfrm>
            <a:off x="3234055" y="4679315"/>
            <a:ext cx="5723255" cy="1372235"/>
          </a:xfrm>
          <a:prstGeom prst="rect">
            <a:avLst/>
          </a:prstGeom>
        </p:spPr>
        <p:txBody>
          <a:bodyPr>
            <a:noAutofit/>
          </a:bodyPr>
          <a:lstStyle>
            <a:lvl1pPr marL="0" indent="0" algn="l" defTabSz="914400" rtl="0" eaLnBrk="1" latinLnBrk="0" hangingPunct="1">
              <a:lnSpc>
                <a:spcPct val="120000"/>
              </a:lnSpc>
              <a:spcBef>
                <a:spcPts val="0"/>
              </a:spcBef>
              <a:spcAft>
                <a:spcPts val="600"/>
              </a:spcAft>
              <a:buFont typeface="Arial" panose="020B0604020202020204" pitchFamily="34" charset="0"/>
              <a:buNone/>
              <a:defRPr sz="1800" b="1" kern="1200">
                <a:solidFill>
                  <a:schemeClr val="tx1"/>
                </a:solidFill>
                <a:latin typeface="楷体" panose="02010609060101010101" pitchFamily="49" charset="-122"/>
                <a:ea typeface="楷体" panose="02010609060101010101" pitchFamily="49"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ctr"/>
            <a:r>
              <a:rPr lang="zh-CN" alt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汪静雅</a:t>
            </a:r>
            <a:endParaRPr lang="en-US" altLang="zh-CN"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a:p>
            <a:pPr algn="ctr"/>
            <a:r>
              <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2025.09.17</a:t>
            </a:r>
            <a:endPar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descr="logo2"/>
          <p:cNvPicPr>
            <a:picLocks noChangeAspect="1"/>
          </p:cNvPicPr>
          <p:nvPr/>
        </p:nvPicPr>
        <p:blipFill>
          <a:blip r:embed="rId1"/>
          <a:stretch>
            <a:fillRect/>
          </a:stretch>
        </p:blipFill>
        <p:spPr>
          <a:xfrm>
            <a:off x="0" y="0"/>
            <a:ext cx="3053715" cy="6743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 name="组合 36"/>
          <p:cNvGrpSpPr/>
          <p:nvPr/>
        </p:nvGrpSpPr>
        <p:grpSpPr>
          <a:xfrm>
            <a:off x="0" y="-635"/>
            <a:ext cx="12192000" cy="707390"/>
            <a:chOff x="0" y="0"/>
            <a:chExt cx="19200" cy="1114"/>
          </a:xfrm>
        </p:grpSpPr>
        <p:sp>
          <p:nvSpPr>
            <p:cNvPr id="38" name="矩形 37"/>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A</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bstract</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01</a:t>
              </a:r>
              <a:endParaRPr lang="en-US" altLang="zh-CN" sz="4000" b="1">
                <a:solidFill>
                  <a:schemeClr val="bg1"/>
                </a:solidFill>
                <a:latin typeface="微软雅黑" panose="020B0503020204020204" charset="-122"/>
                <a:ea typeface="微软雅黑" panose="020B0503020204020204" charset="-122"/>
              </a:endParaRPr>
            </a:p>
          </p:txBody>
        </p:sp>
      </p:grpSp>
      <p:sp>
        <p:nvSpPr>
          <p:cNvPr id="14" name="文本框 13"/>
          <p:cNvSpPr txBox="1"/>
          <p:nvPr/>
        </p:nvSpPr>
        <p:spPr>
          <a:xfrm>
            <a:off x="886460" y="5010785"/>
            <a:ext cx="10500360" cy="1630045"/>
          </a:xfrm>
          <a:prstGeom prst="rect">
            <a:avLst/>
          </a:prstGeom>
        </p:spPr>
        <p:txBody>
          <a:bodyPr wrap="square">
            <a:spAutoFit/>
          </a:bodyPr>
          <a:p>
            <a:pPr marL="0" indent="0"/>
            <a:r>
              <a:rPr lang="zh-CN" altLang="en-US" sz="2000" b="1" i="0">
                <a:solidFill>
                  <a:schemeClr val="accent6">
                    <a:lumMod val="50000"/>
                  </a:schemeClr>
                </a:solidFill>
                <a:latin typeface="微软雅黑" panose="020B0503020204020204" charset="-122"/>
                <a:ea typeface="微软雅黑" panose="020B0503020204020204" charset="-122"/>
              </a:rPr>
              <a:t>研究成果：</a:t>
            </a:r>
            <a:endParaRPr lang="zh-CN" altLang="en-US" sz="2000" b="1" i="0">
              <a:solidFill>
                <a:schemeClr val="accent6">
                  <a:lumMod val="50000"/>
                </a:schemeClr>
              </a:solidFill>
              <a:latin typeface="微软雅黑" panose="020B0503020204020204" charset="-122"/>
              <a:ea typeface="微软雅黑" panose="020B0503020204020204" charset="-122"/>
            </a:endParaRPr>
          </a:p>
          <a:p>
            <a:pPr marL="285750" indent="-285750">
              <a:buFont typeface="Arial" panose="020B0604020202020204" pitchFamily="34" charset="0"/>
              <a:buChar char="•"/>
            </a:pPr>
            <a:r>
              <a:rPr lang="en-US" altLang="zh-CN" sz="2000" b="0" i="0">
                <a:latin typeface="微软雅黑" panose="020B0503020204020204" charset="-122"/>
                <a:ea typeface="微软雅黑" panose="020B0503020204020204" charset="-122"/>
              </a:rPr>
              <a:t>Benchmark</a:t>
            </a:r>
            <a:r>
              <a:rPr lang="zh-CN" altLang="en-US" sz="2000" b="0" i="0">
                <a:latin typeface="微软雅黑" panose="020B0503020204020204" charset="-122"/>
                <a:ea typeface="微软雅黑" panose="020B0503020204020204" charset="-122"/>
              </a:rPr>
              <a:t>表明：</a:t>
            </a:r>
            <a:r>
              <a:rPr lang="en-US" altLang="zh-CN" sz="2000" b="0" i="0">
                <a:latin typeface="微软雅黑" panose="020B0503020204020204" charset="-122"/>
                <a:ea typeface="微软雅黑" panose="020B0503020204020204" charset="-122"/>
              </a:rPr>
              <a:t>Biomni </a:t>
            </a:r>
            <a:r>
              <a:rPr lang="zh-CN" altLang="en-US" sz="2000" b="0" i="0">
                <a:latin typeface="微软雅黑" panose="020B0503020204020204" charset="-122"/>
                <a:ea typeface="微软雅黑" panose="020B0503020204020204" charset="-122"/>
              </a:rPr>
              <a:t>无需预设模板或固定流程，即可在多种异构生物医学任务（基因因果排序、药物重定位、罕见病诊断、微生物组分析、分子克隆等）上实现强泛化，且无需任务级提示调优；</a:t>
            </a:r>
            <a:endParaRPr lang="zh-CN" altLang="en-US" sz="2000" b="0" i="0">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sz="2000" b="0" i="0">
                <a:latin typeface="微软雅黑" panose="020B0503020204020204" charset="-122"/>
                <a:ea typeface="微软雅黑" panose="020B0503020204020204" charset="-122"/>
              </a:rPr>
              <a:t>真实案例表明：</a:t>
            </a:r>
            <a:r>
              <a:rPr lang="en-US" altLang="zh-CN" sz="2000" b="0" i="0">
                <a:latin typeface="微软雅黑" panose="020B0503020204020204" charset="-122"/>
                <a:ea typeface="微软雅黑" panose="020B0503020204020204" charset="-122"/>
              </a:rPr>
              <a:t>Biomni</a:t>
            </a:r>
            <a:r>
              <a:rPr lang="zh-CN" altLang="en-US" sz="2000" b="0" i="0">
                <a:latin typeface="微软雅黑" panose="020B0503020204020204" charset="-122"/>
                <a:ea typeface="微软雅黑" panose="020B0503020204020204" charset="-122"/>
              </a:rPr>
              <a:t>能解读复杂多模态数据并自主生成可实验验证的方案。</a:t>
            </a:r>
            <a:endParaRPr lang="zh-CN" altLang="en-US" sz="2000" b="0" i="0">
              <a:latin typeface="微软雅黑" panose="020B0503020204020204" charset="-122"/>
              <a:ea typeface="微软雅黑" panose="020B0503020204020204" charset="-122"/>
            </a:endParaRPr>
          </a:p>
        </p:txBody>
      </p:sp>
      <p:sp>
        <p:nvSpPr>
          <p:cNvPr id="5" name="文本框 4"/>
          <p:cNvSpPr txBox="1"/>
          <p:nvPr/>
        </p:nvSpPr>
        <p:spPr>
          <a:xfrm>
            <a:off x="742950" y="880745"/>
            <a:ext cx="10781665" cy="1322070"/>
          </a:xfrm>
          <a:prstGeom prst="rect">
            <a:avLst/>
          </a:prstGeom>
        </p:spPr>
        <p:txBody>
          <a:bodyPr wrap="square">
            <a:spAutoFit/>
          </a:bodyPr>
          <a:p>
            <a:pPr marL="0" indent="0"/>
            <a:r>
              <a:rPr lang="zh-CN" altLang="en-US" sz="2000" b="1" i="0">
                <a:solidFill>
                  <a:schemeClr val="accent6">
                    <a:lumMod val="50000"/>
                  </a:schemeClr>
                </a:solidFill>
                <a:latin typeface="微软雅黑" panose="020B0503020204020204" charset="-122"/>
                <a:ea typeface="微软雅黑" panose="020B0503020204020204" charset="-122"/>
              </a:rPr>
              <a:t>研究背景</a:t>
            </a:r>
            <a:r>
              <a:rPr lang="en-US" altLang="zh-CN" sz="2000" b="1" i="0">
                <a:solidFill>
                  <a:schemeClr val="accent6">
                    <a:lumMod val="50000"/>
                  </a:schemeClr>
                </a:solidFill>
                <a:latin typeface="微软雅黑" panose="020B0503020204020204" charset="-122"/>
                <a:ea typeface="微软雅黑" panose="020B0503020204020204" charset="-122"/>
              </a:rPr>
              <a:t>:</a:t>
            </a:r>
            <a:r>
              <a:rPr lang="en-US" altLang="zh-CN" sz="2000" b="0" i="0">
                <a:latin typeface="微软雅黑" panose="020B0503020204020204" charset="-122"/>
                <a:ea typeface="微软雅黑" panose="020B0503020204020204" charset="-122"/>
              </a:rPr>
              <a:t> </a:t>
            </a:r>
            <a:r>
              <a:rPr lang="zh-CN" altLang="en-US" sz="2000" b="0" i="0">
                <a:latin typeface="微软雅黑" panose="020B0503020204020204" charset="-122"/>
                <a:ea typeface="微软雅黑" panose="020B0503020204020204" charset="-122"/>
              </a:rPr>
              <a:t>随着复杂的实验室实验、大型数据集、分析工具和大量文献的增长，生物医学研究越来越受到重复和分散的工作流程的限制，这些人工工作流程减缓了发现速度，限制了创新，这突显出需要一种全新的方式来释放</a:t>
            </a:r>
            <a:r>
              <a:rPr lang="zh-CN" altLang="en-US" sz="2000" b="0" i="0">
                <a:latin typeface="微软雅黑" panose="020B0503020204020204" charset="-122"/>
                <a:ea typeface="微软雅黑" panose="020B0503020204020204" charset="-122"/>
              </a:rPr>
              <a:t>研究潜力。</a:t>
            </a:r>
            <a:endParaRPr lang="zh-CN" altLang="en-US" sz="2000" b="0" i="0">
              <a:latin typeface="微软雅黑" panose="020B0503020204020204" charset="-122"/>
              <a:ea typeface="微软雅黑" panose="020B0503020204020204" charset="-122"/>
            </a:endParaRPr>
          </a:p>
          <a:p>
            <a:pPr marL="0" indent="0"/>
            <a:endParaRPr lang="en-US" altLang="zh-CN" sz="2000" b="0" i="0">
              <a:latin typeface="微软雅黑" panose="020B0503020204020204" charset="-122"/>
              <a:ea typeface="微软雅黑" panose="020B0503020204020204" charset="-122"/>
            </a:endParaRPr>
          </a:p>
        </p:txBody>
      </p:sp>
      <p:grpSp>
        <p:nvGrpSpPr>
          <p:cNvPr id="2" name="组合 1"/>
          <p:cNvGrpSpPr/>
          <p:nvPr/>
        </p:nvGrpSpPr>
        <p:grpSpPr>
          <a:xfrm>
            <a:off x="742950" y="2048510"/>
            <a:ext cx="10708640" cy="2712720"/>
            <a:chOff x="1170" y="3226"/>
            <a:chExt cx="16864" cy="4272"/>
          </a:xfrm>
        </p:grpSpPr>
        <p:sp>
          <p:nvSpPr>
            <p:cNvPr id="18" name="圆角矩形 17"/>
            <p:cNvSpPr/>
            <p:nvPr/>
          </p:nvSpPr>
          <p:spPr>
            <a:xfrm>
              <a:off x="1871" y="3966"/>
              <a:ext cx="5144" cy="3533"/>
            </a:xfrm>
            <a:prstGeom prst="roundRect">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Wingdings" panose="05000000000000000000" charset="0"/>
                <a:buNone/>
              </a:pPr>
              <a:r>
                <a:rPr lang="en-US" altLang="zh-CN">
                  <a:solidFill>
                    <a:schemeClr val="tx1"/>
                  </a:solidFill>
                  <a:latin typeface="微软雅黑" panose="020B0503020204020204" charset="-122"/>
                  <a:ea typeface="微软雅黑" panose="020B0503020204020204" charset="-122"/>
                </a:rPr>
                <a:t> </a:t>
              </a:r>
              <a:r>
                <a:rPr lang="zh-CN" altLang="en-US">
                  <a:solidFill>
                    <a:schemeClr val="tx1"/>
                  </a:solidFill>
                  <a:latin typeface="微软雅黑" panose="020B0503020204020204" charset="-122"/>
                  <a:ea typeface="微软雅黑" panose="020B0503020204020204" charset="-122"/>
                </a:rPr>
                <a:t>从</a:t>
              </a:r>
              <a:r>
                <a:rPr lang="en-US" altLang="zh-CN">
                  <a:solidFill>
                    <a:schemeClr val="tx1"/>
                  </a:solidFill>
                  <a:latin typeface="微软雅黑" panose="020B0503020204020204" charset="-122"/>
                  <a:ea typeface="微软雅黑" panose="020B0503020204020204" charset="-122"/>
                </a:rPr>
                <a:t>25</a:t>
              </a:r>
              <a:r>
                <a:rPr lang="zh-CN" altLang="en-US">
                  <a:solidFill>
                    <a:schemeClr val="tx1"/>
                  </a:solidFill>
                  <a:latin typeface="微软雅黑" panose="020B0503020204020204" charset="-122"/>
                  <a:ea typeface="微软雅黑" panose="020B0503020204020204" charset="-122"/>
                </a:rPr>
                <a:t>个生物医学领域的大量论文中创建了首个统一的</a:t>
              </a:r>
              <a:r>
                <a:rPr lang="en-US" altLang="zh-CN">
                  <a:solidFill>
                    <a:schemeClr val="tx1"/>
                  </a:solidFill>
                  <a:latin typeface="微软雅黑" panose="020B0503020204020204" charset="-122"/>
                  <a:ea typeface="微软雅黑" panose="020B0503020204020204" charset="-122"/>
                </a:rPr>
                <a:t>Agentic</a:t>
              </a:r>
              <a:r>
                <a:rPr lang="zh-CN" altLang="en-US">
                  <a:solidFill>
                    <a:schemeClr val="tx1"/>
                  </a:solidFill>
                  <a:latin typeface="微软雅黑" panose="020B0503020204020204" charset="-122"/>
                  <a:ea typeface="微软雅黑" panose="020B0503020204020204" charset="-122"/>
                </a:rPr>
                <a:t>环境：</a:t>
              </a:r>
              <a:endParaRPr lang="zh-CN" altLang="en-US">
                <a:solidFill>
                  <a:schemeClr val="tx1"/>
                </a:solidFill>
                <a:latin typeface="微软雅黑" panose="020B0503020204020204" charset="-122"/>
                <a:ea typeface="微软雅黑" panose="020B0503020204020204" charset="-122"/>
              </a:endParaRPr>
            </a:p>
            <a:p>
              <a:pPr marL="285750" indent="-285750" algn="ctr">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核心工具</a:t>
              </a:r>
              <a:r>
                <a:rPr lang="en-US" altLang="zh-CN">
                  <a:solidFill>
                    <a:schemeClr val="tx1"/>
                  </a:solidFill>
                  <a:latin typeface="微软雅黑" panose="020B0503020204020204" charset="-122"/>
                  <a:ea typeface="微软雅黑" panose="020B0503020204020204" charset="-122"/>
                </a:rPr>
                <a:t>, </a:t>
              </a:r>
              <a:endParaRPr lang="en-US" altLang="zh-CN">
                <a:solidFill>
                  <a:schemeClr val="tx1"/>
                </a:solidFill>
                <a:latin typeface="微软雅黑" panose="020B0503020204020204" charset="-122"/>
                <a:ea typeface="微软雅黑" panose="020B0503020204020204" charset="-122"/>
              </a:endParaRPr>
            </a:p>
            <a:p>
              <a:pPr marL="285750" indent="-285750" algn="ctr">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数据库</a:t>
              </a:r>
              <a:r>
                <a:rPr lang="en-US" altLang="zh-CN">
                  <a:solidFill>
                    <a:schemeClr val="tx1"/>
                  </a:solidFill>
                  <a:latin typeface="微软雅黑" panose="020B0503020204020204" charset="-122"/>
                  <a:ea typeface="微软雅黑" panose="020B0503020204020204" charset="-122"/>
                </a:rPr>
                <a:t>, </a:t>
              </a:r>
              <a:endParaRPr lang="en-US" altLang="zh-CN">
                <a:solidFill>
                  <a:schemeClr val="tx1"/>
                </a:solidFill>
                <a:latin typeface="微软雅黑" panose="020B0503020204020204" charset="-122"/>
                <a:ea typeface="微软雅黑" panose="020B0503020204020204" charset="-122"/>
              </a:endParaRPr>
            </a:p>
            <a:p>
              <a:pPr marL="285750" indent="-285750" algn="ctr">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实验步骤</a:t>
              </a:r>
              <a:r>
                <a:rPr lang="en-US" altLang="zh-CN">
                  <a:solidFill>
                    <a:schemeClr val="tx1"/>
                  </a:solidFill>
                  <a:latin typeface="微软雅黑" panose="020B0503020204020204" charset="-122"/>
                  <a:ea typeface="微软雅黑" panose="020B0503020204020204" charset="-122"/>
                </a:rPr>
                <a:t> </a:t>
              </a:r>
              <a:endParaRPr lang="en-US" altLang="zh-CN">
                <a:solidFill>
                  <a:schemeClr val="tx1"/>
                </a:solidFill>
                <a:latin typeface="微软雅黑" panose="020B0503020204020204" charset="-122"/>
                <a:ea typeface="微软雅黑" panose="020B0503020204020204" charset="-122"/>
              </a:endParaRPr>
            </a:p>
          </p:txBody>
        </p:sp>
        <p:sp>
          <p:nvSpPr>
            <p:cNvPr id="9" name="圆角矩形 8"/>
            <p:cNvSpPr/>
            <p:nvPr/>
          </p:nvSpPr>
          <p:spPr>
            <a:xfrm>
              <a:off x="11374" y="4719"/>
              <a:ext cx="6660" cy="1689"/>
            </a:xfrm>
            <a:prstGeom prst="roundRect">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Wingdings" panose="05000000000000000000" charset="0"/>
                <a:buNone/>
              </a:pPr>
              <a:r>
                <a:rPr lang="zh-CN" altLang="en-US">
                  <a:solidFill>
                    <a:schemeClr val="tx1"/>
                  </a:solidFill>
                  <a:latin typeface="微软雅黑" panose="020B0503020204020204" charset="-122"/>
                  <a:ea typeface="微软雅黑" panose="020B0503020204020204" charset="-122"/>
                </a:rPr>
                <a:t>动态组合并执行复杂的生物医学工作流。</a:t>
              </a:r>
              <a:endParaRPr lang="zh-CN" altLang="en-US">
                <a:solidFill>
                  <a:schemeClr val="tx1"/>
                </a:solidFill>
                <a:latin typeface="微软雅黑" panose="020B0503020204020204" charset="-122"/>
                <a:ea typeface="微软雅黑" panose="020B0503020204020204" charset="-122"/>
              </a:endParaRPr>
            </a:p>
          </p:txBody>
        </p:sp>
        <p:grpSp>
          <p:nvGrpSpPr>
            <p:cNvPr id="17" name="组合 16"/>
            <p:cNvGrpSpPr/>
            <p:nvPr/>
          </p:nvGrpSpPr>
          <p:grpSpPr>
            <a:xfrm>
              <a:off x="7257" y="4611"/>
              <a:ext cx="3572" cy="2243"/>
              <a:chOff x="7362" y="4116"/>
              <a:chExt cx="3572" cy="2243"/>
            </a:xfrm>
          </p:grpSpPr>
          <p:grpSp>
            <p:nvGrpSpPr>
              <p:cNvPr id="13" name="组合 12"/>
              <p:cNvGrpSpPr/>
              <p:nvPr/>
            </p:nvGrpSpPr>
            <p:grpSpPr>
              <a:xfrm rot="0">
                <a:off x="7467" y="4819"/>
                <a:ext cx="3362" cy="1540"/>
                <a:chOff x="6404" y="4544"/>
                <a:chExt cx="3081" cy="1540"/>
              </a:xfrm>
            </p:grpSpPr>
            <p:sp>
              <p:nvSpPr>
                <p:cNvPr id="11" name="右箭头 10"/>
                <p:cNvSpPr/>
                <p:nvPr/>
              </p:nvSpPr>
              <p:spPr>
                <a:xfrm>
                  <a:off x="6946" y="4544"/>
                  <a:ext cx="1998" cy="499"/>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6404" y="5043"/>
                  <a:ext cx="3081" cy="1041"/>
                </a:xfrm>
                <a:prstGeom prst="rect">
                  <a:avLst/>
                </a:prstGeom>
                <a:noFill/>
              </p:spPr>
              <p:txBody>
                <a:bodyPr wrap="square" rtlCol="0">
                  <a:noAutofit/>
                </a:bodyPr>
                <a:p>
                  <a:pPr marL="342900" indent="-342900" algn="ctr">
                    <a:buFont typeface="Arial" panose="020B0604020202020204" pitchFamily="34" charset="0"/>
                    <a:buChar char="•"/>
                  </a:pPr>
                  <a:r>
                    <a:rPr lang="zh-CN" altLang="en-US" b="1">
                      <a:latin typeface="微软雅黑" panose="020B0503020204020204" charset="-122"/>
                      <a:ea typeface="微软雅黑" panose="020B0503020204020204" charset="-122"/>
                    </a:rPr>
                    <a:t>检索增强</a:t>
                  </a:r>
                  <a:r>
                    <a:rPr lang="zh-CN" altLang="en-US" b="1">
                      <a:latin typeface="微软雅黑" panose="020B0503020204020204" charset="-122"/>
                      <a:ea typeface="微软雅黑" panose="020B0503020204020204" charset="-122"/>
                    </a:rPr>
                    <a:t>规划</a:t>
                  </a:r>
                  <a:endParaRPr lang="zh-CN" altLang="en-US" b="1">
                    <a:latin typeface="微软雅黑" panose="020B0503020204020204" charset="-122"/>
                    <a:ea typeface="微软雅黑" panose="020B0503020204020204" charset="-122"/>
                  </a:endParaRPr>
                </a:p>
                <a:p>
                  <a:pPr marL="342900" indent="-342900" algn="ctr">
                    <a:buFont typeface="Arial" panose="020B0604020202020204" pitchFamily="34" charset="0"/>
                    <a:buChar char="•"/>
                  </a:pPr>
                  <a:r>
                    <a:rPr lang="zh-CN" altLang="en-US" b="1">
                      <a:latin typeface="微软雅黑" panose="020B0503020204020204" charset="-122"/>
                      <a:ea typeface="微软雅黑" panose="020B0503020204020204" charset="-122"/>
                    </a:rPr>
                    <a:t>基于代码的</a:t>
                  </a:r>
                  <a:r>
                    <a:rPr lang="zh-CN" altLang="en-US" b="1">
                      <a:latin typeface="微软雅黑" panose="020B0503020204020204" charset="-122"/>
                      <a:ea typeface="微软雅黑" panose="020B0503020204020204" charset="-122"/>
                    </a:rPr>
                    <a:t>执行</a:t>
                  </a:r>
                  <a:endParaRPr lang="zh-CN" altLang="en-US" b="1">
                    <a:latin typeface="微软雅黑" panose="020B0503020204020204" charset="-122"/>
                    <a:ea typeface="微软雅黑" panose="020B0503020204020204" charset="-122"/>
                  </a:endParaRPr>
                </a:p>
              </p:txBody>
            </p:sp>
          </p:grpSp>
          <p:sp>
            <p:nvSpPr>
              <p:cNvPr id="6" name="文本框 5"/>
              <p:cNvSpPr txBox="1"/>
              <p:nvPr/>
            </p:nvSpPr>
            <p:spPr>
              <a:xfrm>
                <a:off x="7362" y="4116"/>
                <a:ext cx="3572" cy="638"/>
              </a:xfrm>
              <a:prstGeom prst="rect">
                <a:avLst/>
              </a:prstGeom>
              <a:noFill/>
            </p:spPr>
            <p:txBody>
              <a:bodyPr wrap="square" rtlCol="0" anchor="t">
                <a:noAutofit/>
              </a:bodyPr>
              <a:p>
                <a:pPr indent="0" algn="ctr">
                  <a:buFont typeface="Arial" panose="020B0604020202020204" pitchFamily="34" charset="0"/>
                  <a:buNone/>
                </a:pPr>
                <a:r>
                  <a:rPr lang="en-US" altLang="zh-CN" sz="2400" b="1">
                    <a:latin typeface="微软雅黑" panose="020B0503020204020204" charset="-122"/>
                    <a:ea typeface="微软雅黑" panose="020B0503020204020204" charset="-122"/>
                    <a:sym typeface="+mn-ea"/>
                  </a:rPr>
                  <a:t>LLM</a:t>
                </a:r>
                <a:endParaRPr lang="en-US" altLang="zh-CN" sz="2400" b="1">
                  <a:latin typeface="微软雅黑" panose="020B0503020204020204" charset="-122"/>
                  <a:ea typeface="微软雅黑" panose="020B0503020204020204" charset="-122"/>
                  <a:sym typeface="+mn-ea"/>
                </a:endParaRPr>
              </a:p>
            </p:txBody>
          </p:sp>
        </p:grpSp>
        <p:sp>
          <p:nvSpPr>
            <p:cNvPr id="19" name="文本框 18"/>
            <p:cNvSpPr txBox="1"/>
            <p:nvPr/>
          </p:nvSpPr>
          <p:spPr>
            <a:xfrm>
              <a:off x="1170" y="3226"/>
              <a:ext cx="5086" cy="596"/>
            </a:xfrm>
            <a:prstGeom prst="rect">
              <a:avLst/>
            </a:prstGeom>
            <a:noFill/>
          </p:spPr>
          <p:txBody>
            <a:bodyPr wrap="square" rtlCol="0" anchor="t">
              <a:noAutofit/>
            </a:bodyPr>
            <a:p>
              <a:pPr algn="l"/>
              <a:r>
                <a:rPr lang="zh-CN" altLang="en-US" sz="2000" b="1">
                  <a:solidFill>
                    <a:schemeClr val="accent6">
                      <a:lumMod val="50000"/>
                    </a:schemeClr>
                  </a:solidFill>
                  <a:latin typeface="微软雅黑" panose="020B0503020204020204" charset="-122"/>
                  <a:ea typeface="微软雅黑" panose="020B0503020204020204" charset="-122"/>
                  <a:sym typeface="+mn-ea"/>
                </a:rPr>
                <a:t>研究重点</a:t>
              </a:r>
              <a:r>
                <a:rPr lang="en-US" altLang="zh-CN" sz="2000" b="1">
                  <a:solidFill>
                    <a:schemeClr val="accent6">
                      <a:lumMod val="50000"/>
                    </a:schemeClr>
                  </a:solidFill>
                  <a:latin typeface="微软雅黑" panose="020B0503020204020204" charset="-122"/>
                  <a:ea typeface="微软雅黑" panose="020B0503020204020204" charset="-122"/>
                  <a:sym typeface="+mn-ea"/>
                </a:rPr>
                <a:t>:</a:t>
              </a:r>
              <a:endParaRPr lang="en-US" altLang="zh-CN" sz="2000" b="1">
                <a:solidFill>
                  <a:schemeClr val="accent6">
                    <a:lumMod val="50000"/>
                  </a:schemeClr>
                </a:solidFill>
                <a:latin typeface="微软雅黑" panose="020B0503020204020204" charset="-122"/>
                <a:ea typeface="微软雅黑" panose="020B0503020204020204" charset="-122"/>
                <a:sym typeface="+mn-ea"/>
              </a:endParaRPr>
            </a:p>
          </p:txBody>
        </p:sp>
      </p:grpSp>
      <p:pic>
        <p:nvPicPr>
          <p:cNvPr id="4" name="图片 3" descr="logo"/>
          <p:cNvPicPr>
            <a:picLocks noChangeAspect="1"/>
          </p:cNvPicPr>
          <p:nvPr/>
        </p:nvPicPr>
        <p:blipFill>
          <a:blip r:embed="rId1"/>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strips(down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trips(down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 name="组合 6"/>
          <p:cNvGrpSpPr/>
          <p:nvPr/>
        </p:nvGrpSpPr>
        <p:grpSpPr>
          <a:xfrm rot="0">
            <a:off x="266065" y="833120"/>
            <a:ext cx="5097642" cy="5762625"/>
            <a:chOff x="770" y="1830"/>
            <a:chExt cx="5005" cy="9075"/>
          </a:xfrm>
        </p:grpSpPr>
        <p:sp>
          <p:nvSpPr>
            <p:cNvPr id="18" name="圆角矩形 17"/>
            <p:cNvSpPr/>
            <p:nvPr/>
          </p:nvSpPr>
          <p:spPr>
            <a:xfrm>
              <a:off x="770" y="2753"/>
              <a:ext cx="4828" cy="8152"/>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处理庞大的生物医学任务会带来重大技术挑战，需要极大时间精力</a:t>
              </a:r>
              <a:r>
                <a:rPr lang="zh-CN" altLang="en-US">
                  <a:solidFill>
                    <a:schemeClr val="tx1"/>
                  </a:solidFill>
                  <a:latin typeface="微软雅黑" panose="020B0503020204020204" charset="-122"/>
                  <a:ea typeface="微软雅黑" panose="020B0503020204020204" charset="-122"/>
                </a:rPr>
                <a:t>成本；</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之前的智能体依赖固定的工作流，导致其只能处理及其受限的任务而</a:t>
              </a:r>
              <a:r>
                <a:rPr lang="zh-CN" altLang="en-US">
                  <a:solidFill>
                    <a:schemeClr val="tx1"/>
                  </a:solidFill>
                  <a:latin typeface="微软雅黑" panose="020B0503020204020204" charset="-122"/>
                  <a:ea typeface="微软雅黑" panose="020B0503020204020204" charset="-122"/>
                </a:rPr>
                <a:t>无法泛化；</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大型语言模型（</a:t>
              </a:r>
              <a:r>
                <a:rPr lang="en-US" altLang="zh-CN">
                  <a:solidFill>
                    <a:schemeClr val="tx1"/>
                  </a:solidFill>
                  <a:latin typeface="微软雅黑" panose="020B0503020204020204" charset="-122"/>
                  <a:ea typeface="微软雅黑" panose="020B0503020204020204" charset="-122"/>
                </a:rPr>
                <a:t>LLM</a:t>
              </a:r>
              <a:r>
                <a:rPr lang="zh-CN" altLang="en-US">
                  <a:solidFill>
                    <a:schemeClr val="tx1"/>
                  </a:solidFill>
                  <a:latin typeface="微软雅黑" panose="020B0503020204020204" charset="-122"/>
                  <a:ea typeface="微软雅黑" panose="020B0503020204020204" charset="-122"/>
                </a:rPr>
                <a:t>）的推理能力</a:t>
              </a:r>
              <a:r>
                <a:rPr lang="zh-CN" altLang="en-US">
                  <a:solidFill>
                    <a:schemeClr val="tx1"/>
                  </a:solidFill>
                  <a:latin typeface="微软雅黑" panose="020B0503020204020204" charset="-122"/>
                  <a:ea typeface="微软雅黑" panose="020B0503020204020204" charset="-122"/>
                </a:rPr>
                <a:t>依赖一个明确定义了</a:t>
              </a:r>
              <a:r>
                <a:rPr lang="en-US" altLang="zh-CN">
                  <a:solidFill>
                    <a:schemeClr val="tx1"/>
                  </a:solidFill>
                  <a:latin typeface="微软雅黑" panose="020B0503020204020204" charset="-122"/>
                  <a:ea typeface="微软雅黑" panose="020B0503020204020204" charset="-122"/>
                </a:rPr>
                <a:t>“</a:t>
              </a:r>
              <a:r>
                <a:rPr lang="zh-CN" altLang="en-US">
                  <a:solidFill>
                    <a:schemeClr val="tx1"/>
                  </a:solidFill>
                  <a:latin typeface="微软雅黑" panose="020B0503020204020204" charset="-122"/>
                  <a:ea typeface="微软雅黑" panose="020B0503020204020204" charset="-122"/>
                </a:rPr>
                <a:t>生物医学</a:t>
              </a:r>
              <a:r>
                <a:rPr lang="en-US" altLang="zh-CN">
                  <a:solidFill>
                    <a:schemeClr val="tx1"/>
                  </a:solidFill>
                  <a:latin typeface="微软雅黑" panose="020B0503020204020204" charset="-122"/>
                  <a:ea typeface="微软雅黑" panose="020B0503020204020204" charset="-122"/>
                </a:rPr>
                <a:t>”</a:t>
              </a:r>
              <a:r>
                <a:rPr lang="zh-CN" altLang="en-US">
                  <a:solidFill>
                    <a:schemeClr val="tx1"/>
                  </a:solidFill>
                  <a:latin typeface="微软雅黑" panose="020B0503020204020204" charset="-122"/>
                  <a:ea typeface="微软雅黑" panose="020B0503020204020204" charset="-122"/>
                </a:rPr>
                <a:t>的环境。</a:t>
              </a:r>
              <a:endParaRPr lang="zh-CN" altLang="en-US">
                <a:solidFill>
                  <a:schemeClr val="tx1"/>
                </a:solidFill>
                <a:latin typeface="微软雅黑" panose="020B0503020204020204" charset="-122"/>
                <a:ea typeface="微软雅黑" panose="020B0503020204020204" charset="-122"/>
              </a:endParaRPr>
            </a:p>
            <a:p>
              <a:pPr indent="0" algn="l" fontAlgn="auto">
                <a:lnSpc>
                  <a:spcPct val="150000"/>
                </a:lnSpc>
                <a:buFont typeface="Arial" panose="020B0604020202020204" pitchFamily="34" charset="0"/>
                <a:buNone/>
              </a:pP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Wingdings" panose="05000000000000000000" charset="0"/>
                <a:buChar char="Ø"/>
              </a:pPr>
              <a:r>
                <a:rPr lang="zh-CN" altLang="en-US">
                  <a:solidFill>
                    <a:schemeClr val="tx1"/>
                  </a:solidFill>
                  <a:latin typeface="微软雅黑" panose="020B0503020204020204" charset="-122"/>
                  <a:ea typeface="微软雅黑" panose="020B0503020204020204" charset="-122"/>
                </a:rPr>
                <a:t>一个真正具备能力的</a:t>
              </a:r>
              <a:r>
                <a:rPr lang="zh-CN" altLang="en-US">
                  <a:solidFill>
                    <a:schemeClr val="tx1"/>
                  </a:solidFill>
                  <a:latin typeface="微软雅黑" panose="020B0503020204020204" charset="-122"/>
                  <a:ea typeface="微软雅黑" panose="020B0503020204020204" charset="-122"/>
                </a:rPr>
                <a:t>系统需要一种智能体架构，能够原生地与该生物医学环境交互，自主选择和组合动作，并运用其推理能力来规划与执行多样化任务，而无需依赖僵化、预定义的工作流。</a:t>
              </a:r>
              <a:endParaRPr lang="zh-CN" altLang="en-US">
                <a:solidFill>
                  <a:schemeClr val="tx1"/>
                </a:solidFill>
                <a:latin typeface="微软雅黑" panose="020B0503020204020204" charset="-122"/>
                <a:ea typeface="微软雅黑" panose="020B0503020204020204" charset="-122"/>
              </a:endParaRPr>
            </a:p>
          </p:txBody>
        </p:sp>
        <p:sp>
          <p:nvSpPr>
            <p:cNvPr id="4" name="文本框 3"/>
            <p:cNvSpPr txBox="1"/>
            <p:nvPr/>
          </p:nvSpPr>
          <p:spPr>
            <a:xfrm>
              <a:off x="770" y="1830"/>
              <a:ext cx="5005" cy="725"/>
            </a:xfrm>
            <a:prstGeom prst="rect">
              <a:avLst/>
            </a:prstGeom>
            <a:noFill/>
          </p:spPr>
          <p:txBody>
            <a:bodyPr wrap="square" rtlCol="0">
              <a:spAutoFit/>
            </a:bodyPr>
            <a:p>
              <a:r>
                <a:rPr lang="zh-CN" altLang="en-US" sz="2400" b="1">
                  <a:solidFill>
                    <a:schemeClr val="accent6">
                      <a:lumMod val="50000"/>
                    </a:schemeClr>
                  </a:solidFill>
                  <a:latin typeface="微软雅黑" panose="020B0503020204020204" charset="-122"/>
                  <a:ea typeface="微软雅黑" panose="020B0503020204020204" charset="-122"/>
                </a:rPr>
                <a:t>目前</a:t>
              </a:r>
              <a:r>
                <a:rPr lang="zh-CN" altLang="en-US" sz="2400" b="1">
                  <a:solidFill>
                    <a:schemeClr val="accent6">
                      <a:lumMod val="50000"/>
                    </a:schemeClr>
                  </a:solidFill>
                  <a:latin typeface="微软雅黑" panose="020B0503020204020204" charset="-122"/>
                  <a:ea typeface="微软雅黑" panose="020B0503020204020204" charset="-122"/>
                </a:rPr>
                <a:t>研究局限：</a:t>
              </a:r>
              <a:endParaRPr lang="zh-CN" altLang="en-US" sz="2400" b="1">
                <a:solidFill>
                  <a:schemeClr val="accent6">
                    <a:lumMod val="50000"/>
                  </a:schemeClr>
                </a:solidFill>
                <a:latin typeface="微软雅黑" panose="020B0503020204020204" charset="-122"/>
                <a:ea typeface="微软雅黑" panose="020B0503020204020204" charset="-122"/>
              </a:endParaRPr>
            </a:p>
          </p:txBody>
        </p:sp>
      </p:grpSp>
      <p:grpSp>
        <p:nvGrpSpPr>
          <p:cNvPr id="11" name="组合 10"/>
          <p:cNvGrpSpPr/>
          <p:nvPr/>
        </p:nvGrpSpPr>
        <p:grpSpPr>
          <a:xfrm>
            <a:off x="5331460" y="826770"/>
            <a:ext cx="6510020" cy="5819140"/>
            <a:chOff x="8396" y="1302"/>
            <a:chExt cx="10252" cy="9164"/>
          </a:xfrm>
        </p:grpSpPr>
        <p:sp>
          <p:nvSpPr>
            <p:cNvPr id="5" name="文本框 4"/>
            <p:cNvSpPr txBox="1"/>
            <p:nvPr/>
          </p:nvSpPr>
          <p:spPr>
            <a:xfrm>
              <a:off x="8947" y="1302"/>
              <a:ext cx="8028" cy="725"/>
            </a:xfrm>
            <a:prstGeom prst="rect">
              <a:avLst/>
            </a:prstGeom>
            <a:noFill/>
          </p:spPr>
          <p:txBody>
            <a:bodyPr wrap="square" rtlCol="0">
              <a:spAutoFit/>
            </a:bodyPr>
            <a:p>
              <a:r>
                <a:rPr lang="en-US" altLang="zh-CN" sz="2400" b="1">
                  <a:solidFill>
                    <a:schemeClr val="accent6">
                      <a:lumMod val="50000"/>
                    </a:schemeClr>
                  </a:solidFill>
                  <a:latin typeface="微软雅黑" panose="020B0503020204020204" charset="-122"/>
                  <a:ea typeface="微软雅黑" panose="020B0503020204020204" charset="-122"/>
                  <a:sym typeface="+mn-ea"/>
                </a:rPr>
                <a:t>Biomni</a:t>
              </a:r>
              <a:r>
                <a:rPr lang="zh-CN" altLang="en-US" sz="2400" b="1">
                  <a:solidFill>
                    <a:schemeClr val="accent6">
                      <a:lumMod val="50000"/>
                    </a:schemeClr>
                  </a:solidFill>
                  <a:latin typeface="微软雅黑" panose="020B0503020204020204" charset="-122"/>
                  <a:ea typeface="微软雅黑" panose="020B0503020204020204" charset="-122"/>
                  <a:sym typeface="+mn-ea"/>
                </a:rPr>
                <a:t>架构：</a:t>
              </a:r>
              <a:endParaRPr lang="en-US" altLang="zh-CN" sz="2400" b="1">
                <a:latin typeface="微软雅黑" panose="020B0503020204020204" charset="-122"/>
                <a:ea typeface="微软雅黑" panose="020B0503020204020204" charset="-122"/>
              </a:endParaRPr>
            </a:p>
          </p:txBody>
        </p:sp>
        <p:grpSp>
          <p:nvGrpSpPr>
            <p:cNvPr id="16" name="组合 15"/>
            <p:cNvGrpSpPr/>
            <p:nvPr/>
          </p:nvGrpSpPr>
          <p:grpSpPr>
            <a:xfrm>
              <a:off x="8396" y="2235"/>
              <a:ext cx="4004" cy="2081"/>
              <a:chOff x="8396" y="2235"/>
              <a:chExt cx="4004" cy="2081"/>
            </a:xfrm>
          </p:grpSpPr>
          <p:sp>
            <p:nvSpPr>
              <p:cNvPr id="3" name="圆角矩形 2"/>
              <p:cNvSpPr/>
              <p:nvPr/>
            </p:nvSpPr>
            <p:spPr>
              <a:xfrm>
                <a:off x="9051" y="2235"/>
                <a:ext cx="2695" cy="1402"/>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en-US" altLang="zh-CN" b="1">
                    <a:solidFill>
                      <a:schemeClr val="tx1"/>
                    </a:solidFill>
                    <a:latin typeface="微软雅黑" panose="020B0503020204020204" charset="-122"/>
                    <a:ea typeface="微软雅黑" panose="020B0503020204020204" charset="-122"/>
                  </a:rPr>
                  <a:t>Biomedical Action Space</a:t>
                </a:r>
                <a:endParaRPr lang="en-US" altLang="zh-CN" b="1">
                  <a:solidFill>
                    <a:schemeClr val="tx1"/>
                  </a:solidFill>
                  <a:latin typeface="微软雅黑" panose="020B0503020204020204" charset="-122"/>
                  <a:ea typeface="微软雅黑" panose="020B0503020204020204" charset="-122"/>
                </a:endParaRPr>
              </a:p>
            </p:txBody>
          </p:sp>
          <p:sp>
            <p:nvSpPr>
              <p:cNvPr id="6" name="文本框 5"/>
              <p:cNvSpPr txBox="1"/>
              <p:nvPr/>
            </p:nvSpPr>
            <p:spPr>
              <a:xfrm>
                <a:off x="8396" y="3786"/>
                <a:ext cx="4004" cy="531"/>
              </a:xfrm>
              <a:prstGeom prst="rect">
                <a:avLst/>
              </a:prstGeom>
            </p:spPr>
            <p:txBody>
              <a:bodyPr wrap="square">
                <a:spAutoFit/>
              </a:bodyPr>
              <a:p>
                <a:pPr marL="0" indent="0" algn="ctr"/>
                <a:r>
                  <a:rPr lang="en-US" altLang="zh-CN" sz="1600" b="0" i="0">
                    <a:latin typeface="微软雅黑" panose="020B0503020204020204" charset="-122"/>
                    <a:ea typeface="微软雅黑" panose="020B0503020204020204" charset="-122"/>
                  </a:rPr>
                  <a:t>analyze research papers</a:t>
                </a:r>
                <a:endParaRPr lang="en-US" altLang="zh-CN" sz="1600" b="0" i="0">
                  <a:latin typeface="微软雅黑" panose="020B0503020204020204" charset="-122"/>
                  <a:ea typeface="微软雅黑" panose="020B0503020204020204" charset="-122"/>
                </a:endParaRPr>
              </a:p>
            </p:txBody>
          </p:sp>
        </p:grpSp>
        <p:grpSp>
          <p:nvGrpSpPr>
            <p:cNvPr id="17" name="组合 16"/>
            <p:cNvGrpSpPr/>
            <p:nvPr/>
          </p:nvGrpSpPr>
          <p:grpSpPr>
            <a:xfrm>
              <a:off x="13136" y="2235"/>
              <a:ext cx="5513" cy="2102"/>
              <a:chOff x="8396" y="2235"/>
              <a:chExt cx="5513" cy="2102"/>
            </a:xfrm>
          </p:grpSpPr>
          <p:sp>
            <p:nvSpPr>
              <p:cNvPr id="19" name="圆角矩形 18"/>
              <p:cNvSpPr/>
              <p:nvPr/>
            </p:nvSpPr>
            <p:spPr>
              <a:xfrm>
                <a:off x="9051" y="2235"/>
                <a:ext cx="4667"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en-US" altLang="zh-CN" b="1">
                    <a:solidFill>
                      <a:schemeClr val="tx1"/>
                    </a:solidFill>
                    <a:latin typeface="微软雅黑" panose="020B0503020204020204" charset="-122"/>
                    <a:ea typeface="微软雅黑" panose="020B0503020204020204" charset="-122"/>
                  </a:rPr>
                  <a:t>Action Discovery Agent</a:t>
                </a:r>
                <a:endParaRPr lang="en-US" altLang="zh-CN" b="1">
                  <a:solidFill>
                    <a:schemeClr val="tx1"/>
                  </a:solidFill>
                  <a:latin typeface="微软雅黑" panose="020B0503020204020204" charset="-122"/>
                  <a:ea typeface="微软雅黑" panose="020B0503020204020204" charset="-122"/>
                </a:endParaRPr>
              </a:p>
            </p:txBody>
          </p:sp>
          <p:sp>
            <p:nvSpPr>
              <p:cNvPr id="20" name="文本框 19"/>
              <p:cNvSpPr txBox="1"/>
              <p:nvPr/>
            </p:nvSpPr>
            <p:spPr>
              <a:xfrm>
                <a:off x="8396" y="3418"/>
                <a:ext cx="5513" cy="919"/>
              </a:xfrm>
              <a:prstGeom prst="rect">
                <a:avLst/>
              </a:prstGeom>
            </p:spPr>
            <p:txBody>
              <a:bodyPr wrap="square">
                <a:spAutoFit/>
              </a:bodyPr>
              <a:p>
                <a:pPr marL="0" indent="0" algn="ctr"/>
                <a:r>
                  <a:rPr lang="en-US" altLang="zh-CN" sz="1600" b="0" i="0">
                    <a:latin typeface="微软雅黑" panose="020B0503020204020204" charset="-122"/>
                    <a:ea typeface="微软雅黑" panose="020B0503020204020204" charset="-122"/>
                  </a:rPr>
                  <a:t> read papers and extracting key tasks, tools, and databases</a:t>
                </a:r>
                <a:endParaRPr lang="en-US" altLang="zh-CN" sz="1600" b="0" i="0">
                  <a:latin typeface="微软雅黑" panose="020B0503020204020204" charset="-122"/>
                  <a:ea typeface="微软雅黑" panose="020B0503020204020204" charset="-122"/>
                </a:endParaRPr>
              </a:p>
            </p:txBody>
          </p:sp>
        </p:grpSp>
        <p:sp>
          <p:nvSpPr>
            <p:cNvPr id="21" name="右箭头 20"/>
            <p:cNvSpPr/>
            <p:nvPr/>
          </p:nvSpPr>
          <p:spPr>
            <a:xfrm>
              <a:off x="11963" y="2543"/>
              <a:ext cx="1710" cy="499"/>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2" name="组合 21"/>
            <p:cNvGrpSpPr/>
            <p:nvPr/>
          </p:nvGrpSpPr>
          <p:grpSpPr>
            <a:xfrm>
              <a:off x="9802" y="4992"/>
              <a:ext cx="6318" cy="2102"/>
              <a:chOff x="7994" y="2235"/>
              <a:chExt cx="6318" cy="2102"/>
            </a:xfrm>
          </p:grpSpPr>
          <p:sp>
            <p:nvSpPr>
              <p:cNvPr id="23" name="圆角矩形 22"/>
              <p:cNvSpPr/>
              <p:nvPr/>
            </p:nvSpPr>
            <p:spPr>
              <a:xfrm>
                <a:off x="10015" y="2235"/>
                <a:ext cx="2276"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en-US" altLang="zh-CN" b="1">
                    <a:solidFill>
                      <a:schemeClr val="tx1"/>
                    </a:solidFill>
                    <a:latin typeface="微软雅黑" panose="020B0503020204020204" charset="-122"/>
                    <a:ea typeface="微软雅黑" panose="020B0503020204020204" charset="-122"/>
                  </a:rPr>
                  <a:t>Biomni-E1</a:t>
                </a:r>
                <a:endParaRPr lang="en-US" altLang="zh-CN" b="1">
                  <a:solidFill>
                    <a:schemeClr val="tx1"/>
                  </a:solidFill>
                  <a:latin typeface="微软雅黑" panose="020B0503020204020204" charset="-122"/>
                  <a:ea typeface="微软雅黑" panose="020B0503020204020204" charset="-122"/>
                </a:endParaRPr>
              </a:p>
            </p:txBody>
          </p:sp>
          <p:sp>
            <p:nvSpPr>
              <p:cNvPr id="24" name="文本框 23"/>
              <p:cNvSpPr txBox="1"/>
              <p:nvPr/>
            </p:nvSpPr>
            <p:spPr>
              <a:xfrm>
                <a:off x="7994" y="3418"/>
                <a:ext cx="6318" cy="919"/>
              </a:xfrm>
              <a:prstGeom prst="rect">
                <a:avLst/>
              </a:prstGeom>
            </p:spPr>
            <p:txBody>
              <a:bodyPr wrap="square">
                <a:spAutoFit/>
              </a:bodyPr>
              <a:p>
                <a:pPr marL="0" indent="0" algn="ctr"/>
                <a:r>
                  <a:rPr lang="en-US" altLang="zh-CN" sz="1600" b="0" i="0">
                    <a:latin typeface="微软雅黑" panose="020B0503020204020204" charset="-122"/>
                    <a:ea typeface="微软雅黑" panose="020B0503020204020204" charset="-122"/>
                  </a:rPr>
                  <a:t>150 specialized biomedical tools, 105 software packages, and 59 databases</a:t>
                </a:r>
                <a:endParaRPr lang="en-US" altLang="zh-CN" sz="1600" b="0" i="0">
                  <a:latin typeface="微软雅黑" panose="020B0503020204020204" charset="-122"/>
                  <a:ea typeface="微软雅黑" panose="020B0503020204020204" charset="-122"/>
                </a:endParaRPr>
              </a:p>
            </p:txBody>
          </p:sp>
        </p:grpSp>
        <p:sp>
          <p:nvSpPr>
            <p:cNvPr id="25" name="右箭头 24"/>
            <p:cNvSpPr/>
            <p:nvPr/>
          </p:nvSpPr>
          <p:spPr>
            <a:xfrm rot="8160000">
              <a:off x="14433" y="4773"/>
              <a:ext cx="1710" cy="499"/>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6" name="组合 25"/>
            <p:cNvGrpSpPr/>
            <p:nvPr/>
          </p:nvGrpSpPr>
          <p:grpSpPr>
            <a:xfrm>
              <a:off x="9802" y="7976"/>
              <a:ext cx="6318" cy="2490"/>
              <a:chOff x="7994" y="2235"/>
              <a:chExt cx="6318" cy="2490"/>
            </a:xfrm>
          </p:grpSpPr>
          <p:sp>
            <p:nvSpPr>
              <p:cNvPr id="27" name="圆角矩形 26"/>
              <p:cNvSpPr/>
              <p:nvPr/>
            </p:nvSpPr>
            <p:spPr>
              <a:xfrm>
                <a:off x="10015" y="2235"/>
                <a:ext cx="2276"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en-US" altLang="zh-CN" b="1">
                    <a:solidFill>
                      <a:schemeClr val="tx1"/>
                    </a:solidFill>
                    <a:latin typeface="微软雅黑" panose="020B0503020204020204" charset="-122"/>
                    <a:ea typeface="微软雅黑" panose="020B0503020204020204" charset="-122"/>
                  </a:rPr>
                  <a:t>Biomni-A1</a:t>
                </a:r>
                <a:endParaRPr lang="en-US" altLang="zh-CN" b="1">
                  <a:solidFill>
                    <a:schemeClr val="tx1"/>
                  </a:solidFill>
                  <a:latin typeface="微软雅黑" panose="020B0503020204020204" charset="-122"/>
                  <a:ea typeface="微软雅黑" panose="020B0503020204020204" charset="-122"/>
                </a:endParaRPr>
              </a:p>
            </p:txBody>
          </p:sp>
          <p:sp>
            <p:nvSpPr>
              <p:cNvPr id="28" name="文本框 27"/>
              <p:cNvSpPr txBox="1"/>
              <p:nvPr/>
            </p:nvSpPr>
            <p:spPr>
              <a:xfrm>
                <a:off x="7994" y="3418"/>
                <a:ext cx="6318" cy="1307"/>
              </a:xfrm>
              <a:prstGeom prst="rect">
                <a:avLst/>
              </a:prstGeom>
            </p:spPr>
            <p:txBody>
              <a:bodyPr wrap="square">
                <a:spAutoFit/>
              </a:bodyPr>
              <a:p>
                <a:pPr marL="0" indent="0" algn="ctr"/>
                <a:r>
                  <a:rPr lang="en-US" altLang="zh-CN" sz="1600" b="0" i="0">
                    <a:latin typeface="微软雅黑" panose="020B0503020204020204" charset="-122"/>
                    <a:ea typeface="微软雅黑" panose="020B0503020204020204" charset="-122"/>
                  </a:rPr>
                  <a:t>general-purpose agent architecture capable of executing a broad spectrum of biomedical tasks</a:t>
                </a:r>
                <a:endParaRPr lang="en-US" altLang="zh-CN" sz="1600" b="0" i="0">
                  <a:latin typeface="微软雅黑" panose="020B0503020204020204" charset="-122"/>
                  <a:ea typeface="微软雅黑" panose="020B0503020204020204" charset="-122"/>
                </a:endParaRPr>
              </a:p>
            </p:txBody>
          </p:sp>
        </p:grpSp>
        <p:sp>
          <p:nvSpPr>
            <p:cNvPr id="29" name="右箭头 28"/>
            <p:cNvSpPr/>
            <p:nvPr/>
          </p:nvSpPr>
          <p:spPr>
            <a:xfrm rot="5400000">
              <a:off x="12585" y="7201"/>
              <a:ext cx="754" cy="499"/>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 name="组合 1"/>
          <p:cNvGrpSpPr/>
          <p:nvPr/>
        </p:nvGrpSpPr>
        <p:grpSpPr>
          <a:xfrm>
            <a:off x="0" y="-635"/>
            <a:ext cx="12192000" cy="707390"/>
            <a:chOff x="0" y="0"/>
            <a:chExt cx="19200" cy="1114"/>
          </a:xfrm>
        </p:grpSpPr>
        <p:sp>
          <p:nvSpPr>
            <p:cNvPr id="8" name="矩形 7"/>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I</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ntroduction</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02</a:t>
              </a:r>
              <a:endParaRPr lang="en-US" altLang="zh-CN" sz="4000" b="1">
                <a:solidFill>
                  <a:schemeClr val="bg1"/>
                </a:solidFill>
                <a:latin typeface="微软雅黑" panose="020B0503020204020204" charset="-122"/>
                <a:ea typeface="微软雅黑" panose="020B0503020204020204" charset="-122"/>
              </a:endParaRPr>
            </a:p>
          </p:txBody>
        </p:sp>
      </p:grpSp>
      <p:pic>
        <p:nvPicPr>
          <p:cNvPr id="12" name="图片 11" descr="logo"/>
          <p:cNvPicPr>
            <a:picLocks noChangeAspect="1"/>
          </p:cNvPicPr>
          <p:nvPr/>
        </p:nvPicPr>
        <p:blipFill>
          <a:blip r:embed="rId1"/>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trips(down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 name="图片 28"/>
          <p:cNvPicPr>
            <a:picLocks noChangeAspect="1"/>
          </p:cNvPicPr>
          <p:nvPr/>
        </p:nvPicPr>
        <p:blipFill>
          <a:blip r:embed="rId1"/>
          <a:stretch>
            <a:fillRect/>
          </a:stretch>
        </p:blipFill>
        <p:spPr>
          <a:xfrm>
            <a:off x="671830" y="1282700"/>
            <a:ext cx="11101705" cy="5417820"/>
          </a:xfrm>
          <a:prstGeom prst="rect">
            <a:avLst/>
          </a:prstGeom>
        </p:spPr>
      </p:pic>
      <p:grpSp>
        <p:nvGrpSpPr>
          <p:cNvPr id="6" name="组合 5"/>
          <p:cNvGrpSpPr/>
          <p:nvPr/>
        </p:nvGrpSpPr>
        <p:grpSpPr>
          <a:xfrm>
            <a:off x="367665" y="789305"/>
            <a:ext cx="11218545" cy="404495"/>
            <a:chOff x="579" y="1243"/>
            <a:chExt cx="17667" cy="637"/>
          </a:xfrm>
        </p:grpSpPr>
        <p:sp>
          <p:nvSpPr>
            <p:cNvPr id="31" name="文本框 30"/>
            <p:cNvSpPr txBox="1"/>
            <p:nvPr/>
          </p:nvSpPr>
          <p:spPr>
            <a:xfrm>
              <a:off x="579" y="1252"/>
              <a:ext cx="5161" cy="628"/>
            </a:xfrm>
            <a:prstGeom prst="rect">
              <a:avLst/>
            </a:prstGeom>
            <a:noFill/>
          </p:spPr>
          <p:txBody>
            <a:bodyPr wrap="square" rtlCol="0" anchor="t">
              <a:spAutoFit/>
            </a:bodyPr>
            <a:p>
              <a:pPr algn="ctr"/>
              <a:r>
                <a:rPr lang="zh-CN" altLang="en-US" sz="2000">
                  <a:latin typeface="微软雅黑" panose="020B0503020204020204" charset="-122"/>
                  <a:ea typeface="微软雅黑" panose="020B0503020204020204" charset="-122"/>
                </a:rPr>
                <a:t>行动空间的系统化构建流程</a:t>
              </a:r>
              <a:endParaRPr lang="zh-CN" altLang="en-US" sz="2000">
                <a:latin typeface="微软雅黑" panose="020B0503020204020204" charset="-122"/>
                <a:ea typeface="微软雅黑" panose="020B0503020204020204" charset="-122"/>
              </a:endParaRPr>
            </a:p>
          </p:txBody>
        </p:sp>
        <p:sp>
          <p:nvSpPr>
            <p:cNvPr id="32" name="文本框 31"/>
            <p:cNvSpPr txBox="1"/>
            <p:nvPr/>
          </p:nvSpPr>
          <p:spPr>
            <a:xfrm>
              <a:off x="5936" y="1250"/>
              <a:ext cx="6572" cy="628"/>
            </a:xfrm>
            <a:prstGeom prst="rect">
              <a:avLst/>
            </a:prstGeom>
            <a:noFill/>
          </p:spPr>
          <p:txBody>
            <a:bodyPr wrap="square" rtlCol="0" anchor="t">
              <a:spAutoFit/>
            </a:bodyPr>
            <a:p>
              <a:pPr algn="ctr"/>
              <a:r>
                <a:rPr lang="zh-CN" altLang="en-US" sz="2000">
                  <a:latin typeface="微软雅黑" panose="020B0503020204020204" charset="-122"/>
                  <a:ea typeface="微软雅黑" panose="020B0503020204020204" charset="-122"/>
                </a:rPr>
                <a:t>统一行动空间的多领域覆盖</a:t>
              </a:r>
              <a:endParaRPr lang="zh-CN" altLang="en-US" sz="2000">
                <a:latin typeface="微软雅黑" panose="020B0503020204020204" charset="-122"/>
                <a:ea typeface="微软雅黑" panose="020B0503020204020204" charset="-122"/>
              </a:endParaRPr>
            </a:p>
          </p:txBody>
        </p:sp>
        <p:sp>
          <p:nvSpPr>
            <p:cNvPr id="33" name="文本框 32"/>
            <p:cNvSpPr txBox="1"/>
            <p:nvPr/>
          </p:nvSpPr>
          <p:spPr>
            <a:xfrm>
              <a:off x="12080" y="1243"/>
              <a:ext cx="6167" cy="628"/>
            </a:xfrm>
            <a:prstGeom prst="rect">
              <a:avLst/>
            </a:prstGeom>
            <a:noFill/>
          </p:spPr>
          <p:txBody>
            <a:bodyPr wrap="square" rtlCol="0" anchor="t">
              <a:spAutoFit/>
            </a:bodyPr>
            <a:p>
              <a:pPr algn="ctr"/>
              <a:r>
                <a:rPr lang="en-US" altLang="zh-CN" sz="2000">
                  <a:latin typeface="微软雅黑" panose="020B0503020204020204" charset="-122"/>
                  <a:ea typeface="微软雅黑" panose="020B0503020204020204" charset="-122"/>
                </a:rPr>
                <a:t>Biomni </a:t>
              </a:r>
              <a:r>
                <a:rPr lang="zh-CN" altLang="en-US" sz="2000">
                  <a:latin typeface="微软雅黑" panose="020B0503020204020204" charset="-122"/>
                  <a:ea typeface="微软雅黑" panose="020B0503020204020204" charset="-122"/>
                </a:rPr>
                <a:t>的推理与行动组合示例</a:t>
              </a:r>
              <a:endParaRPr lang="zh-CN" altLang="en-US" sz="2000">
                <a:latin typeface="微软雅黑" panose="020B0503020204020204" charset="-122"/>
                <a:ea typeface="微软雅黑" panose="020B0503020204020204" charset="-122"/>
              </a:endParaRPr>
            </a:p>
          </p:txBody>
        </p:sp>
      </p:grpSp>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pic>
        <p:nvPicPr>
          <p:cNvPr id="7" name="图片 6" descr="logo"/>
          <p:cNvPicPr>
            <a:picLocks noChangeAspect="1"/>
          </p:cNvPicPr>
          <p:nvPr/>
        </p:nvPicPr>
        <p:blipFill>
          <a:blip r:embed="rId2"/>
          <a:stretch>
            <a:fillRect/>
          </a:stretch>
        </p:blipFill>
        <p:spPr>
          <a:xfrm>
            <a:off x="8810625" y="33655"/>
            <a:ext cx="3314700" cy="673100"/>
          </a:xfrm>
          <a:prstGeom prst="rect">
            <a:avLst/>
          </a:prstGeom>
        </p:spPr>
      </p:pic>
      <p:pic>
        <p:nvPicPr>
          <p:cNvPr id="8" name="图片 7"/>
          <p:cNvPicPr>
            <a:picLocks noChangeAspect="1"/>
          </p:cNvPicPr>
          <p:nvPr/>
        </p:nvPicPr>
        <p:blipFill>
          <a:blip r:embed="rId3"/>
          <a:srcRect t="10874" b="39026"/>
          <a:stretch>
            <a:fillRect/>
          </a:stretch>
        </p:blipFill>
        <p:spPr>
          <a:xfrm>
            <a:off x="8329930" y="3515995"/>
            <a:ext cx="2597785" cy="951230"/>
          </a:xfrm>
          <a:prstGeom prst="rect">
            <a:avLst/>
          </a:prstGeom>
        </p:spPr>
      </p:pic>
      <p:pic>
        <p:nvPicPr>
          <p:cNvPr id="9" name="图片 8"/>
          <p:cNvPicPr>
            <a:picLocks noChangeAspect="1"/>
          </p:cNvPicPr>
          <p:nvPr/>
        </p:nvPicPr>
        <p:blipFill>
          <a:blip r:embed="rId4"/>
          <a:srcRect t="39538" r="11126"/>
          <a:stretch>
            <a:fillRect/>
          </a:stretch>
        </p:blipFill>
        <p:spPr>
          <a:xfrm>
            <a:off x="8329930" y="5547995"/>
            <a:ext cx="2623820" cy="314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strips(down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nvGrpSpPr>
        <p:grpSpPr>
          <a:xfrm rot="0">
            <a:off x="3886835" y="1760220"/>
            <a:ext cx="7889240" cy="4471035"/>
            <a:chOff x="7161" y="1782"/>
            <a:chExt cx="10457" cy="7372"/>
          </a:xfrm>
        </p:grpSpPr>
        <p:sp>
          <p:nvSpPr>
            <p:cNvPr id="27" name="圆角矩形 26"/>
            <p:cNvSpPr/>
            <p:nvPr/>
          </p:nvSpPr>
          <p:spPr>
            <a:xfrm>
              <a:off x="8989" y="1782"/>
              <a:ext cx="6800"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400" b="1">
                  <a:solidFill>
                    <a:schemeClr val="accent6">
                      <a:lumMod val="50000"/>
                    </a:schemeClr>
                  </a:solidFill>
                  <a:latin typeface="微软雅黑" panose="020B0503020204020204" charset="-122"/>
                  <a:ea typeface="微软雅黑" panose="020B0503020204020204" charset="-122"/>
                </a:rPr>
                <a:t>Action Discovery LLM Agent</a:t>
              </a:r>
              <a:endParaRPr lang="en-US" altLang="zh-CN" sz="2400" b="1">
                <a:solidFill>
                  <a:schemeClr val="accent6">
                    <a:lumMod val="50000"/>
                  </a:schemeClr>
                </a:solidFill>
                <a:latin typeface="微软雅黑" panose="020B0503020204020204" charset="-122"/>
                <a:ea typeface="微软雅黑" panose="020B0503020204020204" charset="-122"/>
              </a:endParaRPr>
            </a:p>
          </p:txBody>
        </p:sp>
        <p:sp>
          <p:nvSpPr>
            <p:cNvPr id="28" name="文本框 27"/>
            <p:cNvSpPr txBox="1"/>
            <p:nvPr/>
          </p:nvSpPr>
          <p:spPr>
            <a:xfrm>
              <a:off x="7161" y="2816"/>
              <a:ext cx="10457" cy="6338"/>
            </a:xfrm>
            <a:prstGeom prst="rect">
              <a:avLst/>
            </a:prstGeom>
          </p:spPr>
          <p:txBody>
            <a:bodyPr wrap="square">
              <a:spAutoFit/>
            </a:bodyPr>
            <a:p>
              <a:pPr marL="342900" indent="-342900" algn="l">
                <a:buAutoNum type="arabicPeriod"/>
              </a:pPr>
              <a:endParaRPr lang="en-US" altLang="zh-CN" sz="16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以</a:t>
              </a:r>
              <a:r>
                <a:rPr lang="en-US" altLang="zh-CN" sz="2000" b="0" i="0">
                  <a:latin typeface="微软雅黑" panose="020B0503020204020204" charset="-122"/>
                  <a:ea typeface="微软雅黑" panose="020B0503020204020204" charset="-122"/>
                </a:rPr>
                <a:t>2024</a:t>
              </a:r>
              <a:r>
                <a:rPr lang="zh-CN" altLang="en-US" sz="2000" b="0" i="0">
                  <a:latin typeface="微软雅黑" panose="020B0503020204020204" charset="-122"/>
                  <a:ea typeface="微软雅黑" panose="020B0503020204020204" charset="-122"/>
                </a:rPr>
                <a:t>年</a:t>
              </a:r>
              <a:r>
                <a:rPr lang="en-US" altLang="zh-CN" sz="2000" b="1" i="0">
                  <a:solidFill>
                    <a:schemeClr val="accent6">
                      <a:lumMod val="50000"/>
                    </a:schemeClr>
                  </a:solidFill>
                  <a:latin typeface="微软雅黑" panose="020B0503020204020204" charset="-122"/>
                  <a:ea typeface="微软雅黑" panose="020B0503020204020204" charset="-122"/>
                </a:rPr>
                <a:t>bioRxiv</a:t>
              </a:r>
              <a:r>
                <a:rPr lang="zh-CN" altLang="en-US" sz="2000" b="0" i="0">
                  <a:latin typeface="微软雅黑" panose="020B0503020204020204" charset="-122"/>
                  <a:ea typeface="微软雅黑" panose="020B0503020204020204" charset="-122"/>
                </a:rPr>
                <a:t>的</a:t>
              </a:r>
              <a:r>
                <a:rPr lang="en-US" altLang="zh-CN" sz="2000" b="1" i="0">
                  <a:solidFill>
                    <a:schemeClr val="accent6">
                      <a:lumMod val="50000"/>
                    </a:schemeClr>
                  </a:solidFill>
                  <a:latin typeface="微软雅黑" panose="020B0503020204020204" charset="-122"/>
                  <a:ea typeface="微软雅黑" panose="020B0503020204020204" charset="-122"/>
                </a:rPr>
                <a:t>25</a:t>
              </a:r>
              <a:r>
                <a:rPr lang="zh-CN" altLang="en-US" sz="2000" b="1" i="0">
                  <a:solidFill>
                    <a:schemeClr val="accent6">
                      <a:lumMod val="50000"/>
                    </a:schemeClr>
                  </a:solidFill>
                  <a:latin typeface="微软雅黑" panose="020B0503020204020204" charset="-122"/>
                  <a:ea typeface="微软雅黑" panose="020B0503020204020204" charset="-122"/>
                </a:rPr>
                <a:t>个学科</a:t>
              </a:r>
              <a:r>
                <a:rPr lang="zh-CN" altLang="en-US" sz="2000" b="0" i="0">
                  <a:latin typeface="微软雅黑" panose="020B0503020204020204" charset="-122"/>
                  <a:ea typeface="微软雅黑" panose="020B0503020204020204" charset="-122"/>
                </a:rPr>
                <a:t>分类为框架，每类选取最新</a:t>
              </a:r>
              <a:r>
                <a:rPr lang="en-US" altLang="zh-CN" sz="2000" b="1" i="0">
                  <a:solidFill>
                    <a:schemeClr val="accent6">
                      <a:lumMod val="50000"/>
                    </a:schemeClr>
                  </a:solidFill>
                  <a:latin typeface="微软雅黑" panose="020B0503020204020204" charset="-122"/>
                  <a:ea typeface="微软雅黑" panose="020B0503020204020204" charset="-122"/>
                </a:rPr>
                <a:t>100</a:t>
              </a:r>
              <a:r>
                <a:rPr lang="zh-CN" altLang="en-US" sz="2000" b="0" i="0">
                  <a:latin typeface="微软雅黑" panose="020B0503020204020204" charset="-122"/>
                  <a:ea typeface="微软雅黑" panose="020B0503020204020204" charset="-122"/>
                </a:rPr>
                <a:t>篇预印本；</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由</a:t>
              </a:r>
              <a:r>
                <a:rPr lang="en-US" altLang="zh-CN" sz="2000" b="1" i="0">
                  <a:solidFill>
                    <a:schemeClr val="accent6">
                      <a:lumMod val="50000"/>
                    </a:schemeClr>
                  </a:solidFill>
                  <a:latin typeface="微软雅黑" panose="020B0503020204020204" charset="-122"/>
                  <a:ea typeface="微软雅黑" panose="020B0503020204020204" charset="-122"/>
                </a:rPr>
                <a:t>Action Discovery LLM Agent</a:t>
              </a:r>
              <a:r>
                <a:rPr lang="zh-CN" altLang="en-US" sz="2000" b="0" i="0">
                  <a:latin typeface="微软雅黑" panose="020B0503020204020204" charset="-122"/>
                  <a:ea typeface="微软雅黑" panose="020B0503020204020204" charset="-122"/>
                </a:rPr>
                <a:t>逐篇</a:t>
              </a:r>
              <a:r>
                <a:rPr lang="zh-CN" altLang="en-US" sz="2000">
                  <a:latin typeface="微软雅黑" panose="020B0503020204020204" charset="-122"/>
                  <a:ea typeface="微软雅黑" panose="020B0503020204020204" charset="-122"/>
                  <a:sym typeface="+mn-ea"/>
                </a:rPr>
                <a:t>提取和解析它们的</a:t>
              </a:r>
              <a:r>
                <a:rPr lang="en-US" altLang="zh-CN" sz="2000">
                  <a:latin typeface="微软雅黑" panose="020B0503020204020204" charset="-122"/>
                  <a:ea typeface="微软雅黑" panose="020B0503020204020204" charset="-122"/>
                  <a:sym typeface="+mn-ea"/>
                </a:rPr>
                <a:t> PDF </a:t>
              </a:r>
              <a:r>
                <a:rPr lang="zh-CN" altLang="en-US" sz="2000">
                  <a:latin typeface="微软雅黑" panose="020B0503020204020204" charset="-122"/>
                  <a:ea typeface="微软雅黑" panose="020B0503020204020204" charset="-122"/>
                  <a:sym typeface="+mn-ea"/>
                </a:rPr>
                <a:t>内容。</a:t>
              </a:r>
              <a:endParaRPr lang="zh-CN" altLang="en-US" sz="2000">
                <a:latin typeface="微软雅黑" panose="020B0503020204020204" charset="-122"/>
                <a:ea typeface="微软雅黑" panose="020B0503020204020204" charset="-122"/>
                <a:sym typeface="+mn-ea"/>
              </a:endParaRPr>
            </a:p>
            <a:p>
              <a:pPr marL="342900" indent="-342900" algn="l">
                <a:buAutoNum type="arabicPeriod"/>
              </a:pPr>
              <a:r>
                <a:rPr lang="zh-CN" altLang="en-US" sz="2000">
                  <a:latin typeface="微软雅黑" panose="020B0503020204020204" charset="-122"/>
                  <a:ea typeface="微软雅黑" panose="020B0503020204020204" charset="-122"/>
                  <a:sym typeface="+mn-ea"/>
                </a:rPr>
                <a:t>每篇论文都分块处理，由一个专门的提示引导大型语言模型（</a:t>
              </a:r>
              <a:r>
                <a:rPr lang="en-US" altLang="zh-CN" sz="2000">
                  <a:latin typeface="微软雅黑" panose="020B0503020204020204" charset="-122"/>
                  <a:ea typeface="微软雅黑" panose="020B0503020204020204" charset="-122"/>
                  <a:sym typeface="+mn-ea"/>
                </a:rPr>
                <a:t>LLM</a:t>
              </a:r>
              <a:r>
                <a:rPr lang="zh-CN" altLang="en-US" sz="2000">
                  <a:latin typeface="微软雅黑" panose="020B0503020204020204" charset="-122"/>
                  <a:ea typeface="微软雅黑" panose="020B0503020204020204" charset="-122"/>
                  <a:sym typeface="+mn-ea"/>
                </a:rPr>
                <a:t>）逐块明确识别并提取</a:t>
              </a:r>
              <a:r>
                <a:rPr lang="en-US" altLang="zh-CN" sz="2000" b="1">
                  <a:solidFill>
                    <a:schemeClr val="accent6">
                      <a:lumMod val="50000"/>
                    </a:schemeClr>
                  </a:solidFill>
                  <a:latin typeface="微软雅黑" panose="020B0503020204020204" charset="-122"/>
                  <a:ea typeface="微软雅黑" panose="020B0503020204020204" charset="-122"/>
                  <a:sym typeface="+mn-ea"/>
                </a:rPr>
                <a:t>任务、软件和数据库</a:t>
              </a:r>
              <a:r>
                <a:rPr lang="zh-CN" altLang="en-US" sz="2000">
                  <a:latin typeface="微软雅黑" panose="020B0503020204020204" charset="-122"/>
                  <a:ea typeface="微软雅黑" panose="020B0503020204020204" charset="-122"/>
                  <a:sym typeface="+mn-ea"/>
                </a:rPr>
                <a:t>。（对于任务，</a:t>
              </a:r>
              <a:r>
                <a:rPr lang="en-US" altLang="zh-CN" sz="2000">
                  <a:latin typeface="微软雅黑" panose="020B0503020204020204" charset="-122"/>
                  <a:ea typeface="微软雅黑" panose="020B0503020204020204" charset="-122"/>
                  <a:sym typeface="+mn-ea"/>
                </a:rPr>
                <a:t>LLM </a:t>
              </a:r>
              <a:r>
                <a:rPr lang="zh-CN" altLang="en-US" sz="2000">
                  <a:latin typeface="微软雅黑" panose="020B0503020204020204" charset="-122"/>
                  <a:ea typeface="微软雅黑" panose="020B0503020204020204" charset="-122"/>
                  <a:sym typeface="+mn-ea"/>
                </a:rPr>
                <a:t>被指示突出显示在生物医学研究工作流程中需要专门实现的重复任务）</a:t>
              </a:r>
              <a:endParaRPr lang="zh-CN" altLang="en-US" sz="2000">
                <a:latin typeface="微软雅黑" panose="020B0503020204020204" charset="-122"/>
                <a:ea typeface="微软雅黑" panose="020B0503020204020204" charset="-122"/>
                <a:sym typeface="+mn-ea"/>
              </a:endParaRPr>
            </a:p>
            <a:p>
              <a:pPr marL="342900" indent="-342900" algn="l">
                <a:buAutoNum type="arabicPeriod"/>
              </a:pPr>
              <a:r>
                <a:rPr lang="zh-CN" altLang="en-US" sz="2000" b="0" i="0">
                  <a:latin typeface="微软雅黑" panose="020B0503020204020204" charset="-122"/>
                  <a:ea typeface="微软雅黑" panose="020B0503020204020204" charset="-122"/>
                </a:rPr>
                <a:t>这些资源共同构成完成大量生物学研究任务所必不可少的</a:t>
              </a:r>
              <a:r>
                <a:rPr lang="en-US" altLang="zh-CN" sz="2000" b="0" i="0">
                  <a:latin typeface="微软雅黑" panose="020B0503020204020204" charset="-122"/>
                  <a:ea typeface="微软雅黑" panose="020B0503020204020204" charset="-122"/>
                </a:rPr>
                <a:t>“</a:t>
              </a:r>
              <a:r>
                <a:rPr lang="en-US" altLang="zh-CN" sz="2000" b="1" i="0">
                  <a:solidFill>
                    <a:schemeClr val="accent6">
                      <a:lumMod val="50000"/>
                    </a:schemeClr>
                  </a:solidFill>
                  <a:latin typeface="微软雅黑" panose="020B0503020204020204" charset="-122"/>
                  <a:ea typeface="微软雅黑" panose="020B0503020204020204" charset="-122"/>
                </a:rPr>
                <a:t>动作”集合</a:t>
              </a:r>
              <a:r>
                <a:rPr lang="zh-CN" altLang="en-US" sz="2000" b="0" i="0">
                  <a:latin typeface="微软雅黑" panose="020B0503020204020204" charset="-122"/>
                  <a:ea typeface="微软雅黑" panose="020B0503020204020204" charset="-122"/>
                </a:rPr>
                <a:t>。</a:t>
              </a:r>
              <a:endParaRPr lang="zh-CN" altLang="en-US" sz="2000" b="0" i="0">
                <a:latin typeface="微软雅黑" panose="020B0503020204020204" charset="-122"/>
                <a:ea typeface="微软雅黑" panose="020B0503020204020204" charset="-122"/>
              </a:endParaRPr>
            </a:p>
          </p:txBody>
        </p:sp>
      </p:grpSp>
      <p:pic>
        <p:nvPicPr>
          <p:cNvPr id="5" name="图片 4"/>
          <p:cNvPicPr>
            <a:picLocks noChangeAspect="1"/>
          </p:cNvPicPr>
          <p:nvPr/>
        </p:nvPicPr>
        <p:blipFill>
          <a:blip r:embed="rId1"/>
          <a:srcRect t="3404" b="2924"/>
          <a:stretch>
            <a:fillRect/>
          </a:stretch>
        </p:blipFill>
        <p:spPr>
          <a:xfrm>
            <a:off x="153670" y="745490"/>
            <a:ext cx="3281045" cy="5933440"/>
          </a:xfrm>
          <a:prstGeom prst="rect">
            <a:avLst/>
          </a:prstGeom>
        </p:spPr>
      </p:pic>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2"/>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strips(downLeft)">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圆角矩形 26"/>
          <p:cNvSpPr/>
          <p:nvPr/>
        </p:nvSpPr>
        <p:spPr>
          <a:xfrm>
            <a:off x="284480" y="901700"/>
            <a:ext cx="5130800" cy="627380"/>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400" b="1">
                <a:solidFill>
                  <a:schemeClr val="accent6">
                    <a:lumMod val="50000"/>
                  </a:schemeClr>
                </a:solidFill>
                <a:latin typeface="微软雅黑" panose="020B0503020204020204" charset="-122"/>
                <a:ea typeface="微软雅黑" panose="020B0503020204020204" charset="-122"/>
                <a:sym typeface="+mn-ea"/>
              </a:rPr>
              <a:t>Action Discovery LLM Agent</a:t>
            </a:r>
            <a:endParaRPr lang="zh-CN" altLang="en-US" sz="2400" b="1">
              <a:solidFill>
                <a:schemeClr val="accent6">
                  <a:lumMod val="50000"/>
                </a:schemeClr>
              </a:solidFill>
              <a:latin typeface="微软雅黑" panose="020B0503020204020204" charset="-122"/>
              <a:ea typeface="微软雅黑" panose="020B0503020204020204" charset="-122"/>
            </a:endParaRPr>
          </a:p>
        </p:txBody>
      </p:sp>
      <p:grpSp>
        <p:nvGrpSpPr>
          <p:cNvPr id="3" name="组合 2"/>
          <p:cNvGrpSpPr/>
          <p:nvPr/>
        </p:nvGrpSpPr>
        <p:grpSpPr>
          <a:xfrm>
            <a:off x="0" y="-635"/>
            <a:ext cx="12192000" cy="707390"/>
            <a:chOff x="0" y="0"/>
            <a:chExt cx="19200" cy="1114"/>
          </a:xfrm>
        </p:grpSpPr>
        <p:sp>
          <p:nvSpPr>
            <p:cNvPr id="4" name="矩形 3"/>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284480" y="1724025"/>
            <a:ext cx="6209030" cy="4702810"/>
            <a:chOff x="448" y="2715"/>
            <a:chExt cx="9778" cy="7406"/>
          </a:xfrm>
        </p:grpSpPr>
        <p:pic>
          <p:nvPicPr>
            <p:cNvPr id="7" name="图片 6"/>
            <p:cNvPicPr>
              <a:picLocks noChangeAspect="1"/>
            </p:cNvPicPr>
            <p:nvPr/>
          </p:nvPicPr>
          <p:blipFill>
            <a:blip r:embed="rId1"/>
            <a:stretch>
              <a:fillRect/>
            </a:stretch>
          </p:blipFill>
          <p:spPr>
            <a:xfrm>
              <a:off x="448" y="2715"/>
              <a:ext cx="9779" cy="5152"/>
            </a:xfrm>
            <a:prstGeom prst="rect">
              <a:avLst/>
            </a:prstGeom>
          </p:spPr>
        </p:pic>
        <p:sp>
          <p:nvSpPr>
            <p:cNvPr id="9" name="文本框 8"/>
            <p:cNvSpPr txBox="1"/>
            <p:nvPr/>
          </p:nvSpPr>
          <p:spPr>
            <a:xfrm>
              <a:off x="448" y="8039"/>
              <a:ext cx="9521" cy="2082"/>
            </a:xfrm>
            <a:prstGeom prst="rect">
              <a:avLst/>
            </a:prstGeom>
            <a:noFill/>
          </p:spPr>
          <p:txBody>
            <a:bodyPr wrap="square" rtlCol="0">
              <a:spAutoFit/>
            </a:bodyPr>
            <a:p>
              <a:r>
                <a:rPr lang="zh-CN" altLang="en-US" sz="1600" b="1">
                  <a:latin typeface="微软雅黑" panose="020B0503020204020204" charset="-122"/>
                  <a:ea typeface="微软雅黑" panose="020B0503020204020204" charset="-122"/>
                  <a:cs typeface="微软雅黑" panose="020B0503020204020204" charset="-122"/>
                </a:rPr>
                <a:t>两种任务提示词：</a:t>
              </a:r>
              <a:endParaRPr lang="zh-CN" altLang="en-US" sz="1600" b="1">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en-US" altLang="zh-CN" sz="1600" b="1">
                  <a:latin typeface="微软雅黑" panose="020B0503020204020204" charset="-122"/>
                  <a:ea typeface="微软雅黑" panose="020B0503020204020204" charset="-122"/>
                  <a:cs typeface="微软雅黑" panose="020B0503020204020204" charset="-122"/>
                </a:rPr>
                <a:t>analyzing paper chunks</a:t>
              </a:r>
              <a:r>
                <a:rPr lang="zh-CN" altLang="en-US" sz="1600" b="1">
                  <a:latin typeface="微软雅黑" panose="020B0503020204020204" charset="-122"/>
                  <a:ea typeface="微软雅黑" panose="020B0503020204020204" charset="-122"/>
                  <a:cs typeface="微软雅黑" panose="020B0503020204020204" charset="-122"/>
                </a:rPr>
                <a:t>：</a:t>
              </a:r>
              <a:r>
                <a:rPr lang="zh-CN" altLang="en-US" sz="1600">
                  <a:latin typeface="微软雅黑" panose="020B0503020204020204" charset="-122"/>
                  <a:ea typeface="微软雅黑" panose="020B0503020204020204" charset="-122"/>
                  <a:cs typeface="微软雅黑" panose="020B0503020204020204" charset="-122"/>
                </a:rPr>
                <a:t>用于从论文片段中提取专业和常见的任务、数据集、软件</a:t>
              </a:r>
              <a:endParaRPr lang="zh-CN" altLang="en-US" sz="160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en-US" altLang="zh-CN" sz="1600" b="1">
                  <a:latin typeface="微软雅黑" panose="020B0503020204020204" charset="-122"/>
                  <a:ea typeface="微软雅黑" panose="020B0503020204020204" charset="-122"/>
                  <a:cs typeface="微软雅黑" panose="020B0503020204020204" charset="-122"/>
                </a:rPr>
                <a:t>consolidating tasks：</a:t>
              </a:r>
              <a:r>
                <a:rPr lang="zh-CN" altLang="en-US" sz="1600">
                  <a:latin typeface="微软雅黑" panose="020B0503020204020204" charset="-122"/>
                  <a:ea typeface="微软雅黑" panose="020B0503020204020204" charset="-122"/>
                  <a:cs typeface="微软雅黑" panose="020B0503020204020204" charset="-122"/>
                </a:rPr>
                <a:t>根据任务列表将信息规范成</a:t>
              </a:r>
              <a:r>
                <a:rPr lang="en-US" altLang="zh-CN" sz="1600">
                  <a:latin typeface="微软雅黑" panose="020B0503020204020204" charset="-122"/>
                  <a:ea typeface="微软雅黑" panose="020B0503020204020204" charset="-122"/>
                  <a:cs typeface="微软雅黑" panose="020B0503020204020204" charset="-122"/>
                </a:rPr>
                <a:t>json</a:t>
              </a:r>
              <a:r>
                <a:rPr lang="zh-CN" altLang="en-US" sz="1600">
                  <a:latin typeface="微软雅黑" panose="020B0503020204020204" charset="-122"/>
                  <a:ea typeface="微软雅黑" panose="020B0503020204020204" charset="-122"/>
                  <a:cs typeface="微软雅黑" panose="020B0503020204020204" charset="-122"/>
                </a:rPr>
                <a:t>格式</a:t>
              </a:r>
              <a:endParaRPr lang="en-US" altLang="zh-CN" sz="160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en-US" altLang="zh-CN" sz="1600">
                <a:latin typeface="微软雅黑" panose="020B0503020204020204" charset="-122"/>
                <a:ea typeface="微软雅黑" panose="020B0503020204020204" charset="-122"/>
                <a:cs typeface="微软雅黑" panose="020B0503020204020204" charset="-122"/>
              </a:endParaRPr>
            </a:p>
          </p:txBody>
        </p:sp>
      </p:grpSp>
      <p:grpSp>
        <p:nvGrpSpPr>
          <p:cNvPr id="17" name="组合 16"/>
          <p:cNvGrpSpPr/>
          <p:nvPr/>
        </p:nvGrpSpPr>
        <p:grpSpPr>
          <a:xfrm>
            <a:off x="6634480" y="1142365"/>
            <a:ext cx="5275580" cy="5284470"/>
            <a:chOff x="10448" y="1799"/>
            <a:chExt cx="8308" cy="8322"/>
          </a:xfrm>
        </p:grpSpPr>
        <p:pic>
          <p:nvPicPr>
            <p:cNvPr id="8" name="图片 7"/>
            <p:cNvPicPr>
              <a:picLocks noChangeAspect="1"/>
            </p:cNvPicPr>
            <p:nvPr/>
          </p:nvPicPr>
          <p:blipFill>
            <a:blip r:embed="rId2"/>
            <a:stretch>
              <a:fillRect/>
            </a:stretch>
          </p:blipFill>
          <p:spPr>
            <a:xfrm>
              <a:off x="10448" y="1799"/>
              <a:ext cx="8085" cy="6068"/>
            </a:xfrm>
            <a:prstGeom prst="rect">
              <a:avLst/>
            </a:prstGeom>
          </p:spPr>
        </p:pic>
        <p:sp>
          <p:nvSpPr>
            <p:cNvPr id="10" name="文本框 9"/>
            <p:cNvSpPr txBox="1"/>
            <p:nvPr/>
          </p:nvSpPr>
          <p:spPr>
            <a:xfrm>
              <a:off x="10448" y="8039"/>
              <a:ext cx="8308" cy="2082"/>
            </a:xfrm>
            <a:prstGeom prst="rect">
              <a:avLst/>
            </a:prstGeom>
            <a:noFill/>
          </p:spPr>
          <p:txBody>
            <a:bodyPr wrap="square" rtlCol="0">
              <a:spAutoFit/>
            </a:bodyPr>
            <a:p>
              <a:pPr marL="342900" indent="-342900">
                <a:buFont typeface="Arial" panose="020B0604020202020204" pitchFamily="34" charset="0"/>
                <a:buAutoNum type="arabicPeriod"/>
              </a:pPr>
              <a:r>
                <a:rPr lang="zh-CN" altLang="en-US" sz="1600">
                  <a:latin typeface="微软雅黑" panose="020B0503020204020204" charset="-122"/>
                  <a:ea typeface="微软雅黑" panose="020B0503020204020204" charset="-122"/>
                  <a:cs typeface="微软雅黑" panose="020B0503020204020204" charset="-122"/>
                </a:rPr>
                <a:t>调用</a:t>
              </a:r>
              <a:r>
                <a:rPr lang="en-US" altLang="zh-CN" sz="1600">
                  <a:latin typeface="微软雅黑" panose="020B0503020204020204" charset="-122"/>
                  <a:ea typeface="微软雅黑" panose="020B0503020204020204" charset="-122"/>
                  <a:cs typeface="微软雅黑" panose="020B0503020204020204" charset="-122"/>
                </a:rPr>
                <a:t>LangChain</a:t>
              </a:r>
              <a:r>
                <a:rPr lang="zh-CN" altLang="en-US" sz="1600">
                  <a:latin typeface="微软雅黑" panose="020B0503020204020204" charset="-122"/>
                  <a:ea typeface="微软雅黑" panose="020B0503020204020204" charset="-122"/>
                  <a:cs typeface="微软雅黑" panose="020B0503020204020204" charset="-122"/>
                </a:rPr>
                <a:t>的</a:t>
              </a:r>
              <a:r>
                <a:rPr lang="en-US" altLang="zh-CN" sz="1600" b="1">
                  <a:latin typeface="微软雅黑" panose="020B0503020204020204" charset="-122"/>
                  <a:ea typeface="微软雅黑" panose="020B0503020204020204" charset="-122"/>
                  <a:cs typeface="微软雅黑" panose="020B0503020204020204" charset="-122"/>
                </a:rPr>
                <a:t>RecursiveCharacterTextSplitter</a:t>
              </a:r>
              <a:r>
                <a:rPr lang="zh-CN" altLang="en-US" sz="1600">
                  <a:latin typeface="微软雅黑" panose="020B0503020204020204" charset="-122"/>
                  <a:ea typeface="微软雅黑" panose="020B0503020204020204" charset="-122"/>
                  <a:cs typeface="微软雅黑" panose="020B0503020204020204" charset="-122"/>
                </a:rPr>
                <a:t>对论文进行分块；</a:t>
              </a:r>
              <a:endParaRPr lang="en-US" altLang="zh-CN" sz="160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AutoNum type="arabicPeriod"/>
              </a:pPr>
              <a:r>
                <a:rPr lang="zh-CN" altLang="en-US" sz="1600">
                  <a:latin typeface="微软雅黑" panose="020B0503020204020204" charset="-122"/>
                  <a:ea typeface="微软雅黑" panose="020B0503020204020204" charset="-122"/>
                  <a:cs typeface="微软雅黑" panose="020B0503020204020204" charset="-122"/>
                </a:rPr>
                <a:t>对分块论文进行</a:t>
              </a:r>
              <a:r>
                <a:rPr lang="en-US" altLang="zh-CN" sz="1600" b="1">
                  <a:latin typeface="微软雅黑" panose="020B0503020204020204" charset="-122"/>
                  <a:ea typeface="微软雅黑" panose="020B0503020204020204" charset="-122"/>
                  <a:cs typeface="微软雅黑" panose="020B0503020204020204" charset="-122"/>
                </a:rPr>
                <a:t>_process_chunk</a:t>
              </a:r>
              <a:r>
                <a:rPr lang="zh-CN" altLang="en-US" sz="1600">
                  <a:latin typeface="微软雅黑" panose="020B0503020204020204" charset="-122"/>
                  <a:ea typeface="微软雅黑" panose="020B0503020204020204" charset="-122"/>
                  <a:cs typeface="微软雅黑" panose="020B0503020204020204" charset="-122"/>
                </a:rPr>
                <a:t>处理</a:t>
              </a:r>
              <a:endParaRPr lang="zh-CN" altLang="en-US" sz="160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AutoNum type="arabicPeriod"/>
              </a:pPr>
              <a:r>
                <a:rPr lang="zh-CN" altLang="en-US" sz="1600">
                  <a:latin typeface="微软雅黑" panose="020B0503020204020204" charset="-122"/>
                  <a:ea typeface="微软雅黑" panose="020B0503020204020204" charset="-122"/>
                  <a:cs typeface="微软雅黑" panose="020B0503020204020204" charset="-122"/>
                </a:rPr>
                <a:t>对</a:t>
              </a:r>
              <a:r>
                <a:rPr lang="en-US" altLang="zh-CN" sz="1600">
                  <a:latin typeface="微软雅黑" panose="020B0503020204020204" charset="-122"/>
                  <a:ea typeface="微软雅黑" panose="020B0503020204020204" charset="-122"/>
                  <a:cs typeface="微软雅黑" panose="020B0503020204020204" charset="-122"/>
                </a:rPr>
                <a:t>2</a:t>
              </a:r>
              <a:r>
                <a:rPr lang="zh-CN" altLang="en-US" sz="1600">
                  <a:latin typeface="微软雅黑" panose="020B0503020204020204" charset="-122"/>
                  <a:ea typeface="微软雅黑" panose="020B0503020204020204" charset="-122"/>
                  <a:cs typeface="微软雅黑" panose="020B0503020204020204" charset="-122"/>
                </a:rPr>
                <a:t>中得到的任务列表进行</a:t>
              </a:r>
              <a:r>
                <a:rPr lang="en-US" altLang="zh-CN" sz="1600" b="1">
                  <a:latin typeface="微软雅黑" panose="020B0503020204020204" charset="-122"/>
                  <a:ea typeface="微软雅黑" panose="020B0503020204020204" charset="-122"/>
                  <a:cs typeface="微软雅黑" panose="020B0503020204020204" charset="-122"/>
                </a:rPr>
                <a:t>_consolidate_tasks</a:t>
              </a:r>
              <a:r>
                <a:rPr lang="zh-CN" altLang="en-US" sz="1600">
                  <a:latin typeface="微软雅黑" panose="020B0503020204020204" charset="-122"/>
                  <a:ea typeface="微软雅黑" panose="020B0503020204020204" charset="-122"/>
                  <a:cs typeface="微软雅黑" panose="020B0503020204020204" charset="-122"/>
                </a:rPr>
                <a:t>处理</a:t>
              </a:r>
              <a:endParaRPr lang="en-US" altLang="zh-CN" sz="160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en-US" altLang="zh-CN" sz="1600">
                <a:latin typeface="微软雅黑" panose="020B0503020204020204" charset="-122"/>
                <a:ea typeface="微软雅黑" panose="020B0503020204020204" charset="-122"/>
                <a:cs typeface="微软雅黑" panose="020B0503020204020204" charset="-122"/>
              </a:endParaRPr>
            </a:p>
          </p:txBody>
        </p:sp>
      </p:grpSp>
      <p:grpSp>
        <p:nvGrpSpPr>
          <p:cNvPr id="18" name="组合 17"/>
          <p:cNvGrpSpPr/>
          <p:nvPr/>
        </p:nvGrpSpPr>
        <p:grpSpPr>
          <a:xfrm>
            <a:off x="351155" y="6282055"/>
            <a:ext cx="12183745" cy="337185"/>
            <a:chOff x="88" y="9893"/>
            <a:chExt cx="19187" cy="531"/>
          </a:xfrm>
        </p:grpSpPr>
        <p:sp>
          <p:nvSpPr>
            <p:cNvPr id="11" name="文本框 10"/>
            <p:cNvSpPr txBox="1"/>
            <p:nvPr/>
          </p:nvSpPr>
          <p:spPr>
            <a:xfrm>
              <a:off x="12760" y="9893"/>
              <a:ext cx="6515" cy="531"/>
            </a:xfrm>
            <a:prstGeom prst="rect">
              <a:avLst/>
            </a:prstGeom>
            <a:noFill/>
          </p:spPr>
          <p:txBody>
            <a:bodyPr wrap="square" rtlCol="0">
              <a:spAutoFit/>
            </a:bodyPr>
            <a:p>
              <a:pPr indent="0" algn="l">
                <a:buFont typeface="Arial" panose="020B0604020202020204" pitchFamily="34" charset="0"/>
                <a:buNone/>
              </a:pPr>
              <a:r>
                <a:rPr lang="en-US" altLang="zh-CN" sz="1600" b="1">
                  <a:latin typeface="微软雅黑" panose="020B0503020204020204" charset="-122"/>
                  <a:ea typeface="微软雅黑" panose="020B0503020204020204" charset="-122"/>
                  <a:cs typeface="微软雅黑" panose="020B0503020204020204" charset="-122"/>
                  <a:sym typeface="+mn-ea"/>
                </a:rPr>
                <a:t>generate</a:t>
              </a:r>
              <a:r>
                <a:rPr lang="en-US" altLang="zh-CN" sz="1600" b="1">
                  <a:latin typeface="微软雅黑" panose="020B0503020204020204" charset="-122"/>
                  <a:ea typeface="微软雅黑" panose="020B0503020204020204" charset="-122"/>
                  <a:cs typeface="微软雅黑" panose="020B0503020204020204" charset="-122"/>
                </a:rPr>
                <a:t>_</a:t>
              </a:r>
              <a:r>
                <a:rPr lang="en-US" altLang="zh-CN" sz="1600" b="1">
                  <a:latin typeface="微软雅黑" panose="020B0503020204020204" charset="-122"/>
                  <a:ea typeface="微软雅黑" panose="020B0503020204020204" charset="-122"/>
                  <a:cs typeface="微软雅黑" panose="020B0503020204020204" charset="-122"/>
                  <a:sym typeface="+mn-ea"/>
                </a:rPr>
                <a:t>function</a:t>
              </a:r>
              <a:r>
                <a:rPr lang="en-US" altLang="zh-CN" sz="1600" b="1">
                  <a:latin typeface="微软雅黑" panose="020B0503020204020204" charset="-122"/>
                  <a:ea typeface="微软雅黑" panose="020B0503020204020204" charset="-122"/>
                  <a:cs typeface="微软雅黑" panose="020B0503020204020204" charset="-122"/>
                </a:rPr>
                <a:t>.py</a:t>
              </a:r>
              <a:r>
                <a:rPr lang="zh-CN" altLang="en-US" sz="1600">
                  <a:latin typeface="微软雅黑" panose="020B0503020204020204" charset="-122"/>
                  <a:ea typeface="微软雅黑" panose="020B0503020204020204" charset="-122"/>
                  <a:cs typeface="微软雅黑" panose="020B0503020204020204" charset="-122"/>
                </a:rPr>
                <a:t>（</a:t>
              </a:r>
              <a:r>
                <a:rPr lang="zh-CN" altLang="en-US" sz="1600">
                  <a:latin typeface="微软雅黑" panose="020B0503020204020204" charset="-122"/>
                  <a:ea typeface="微软雅黑" panose="020B0503020204020204" charset="-122"/>
                  <a:cs typeface="微软雅黑" panose="020B0503020204020204" charset="-122"/>
                </a:rPr>
                <a:t>代码生成）</a:t>
              </a:r>
              <a:endParaRPr lang="zh-CN" altLang="en-US" sz="1600" b="1">
                <a:latin typeface="微软雅黑" panose="020B0503020204020204" charset="-122"/>
                <a:ea typeface="微软雅黑" panose="020B0503020204020204" charset="-122"/>
                <a:cs typeface="微软雅黑" panose="020B0503020204020204" charset="-122"/>
              </a:endParaRPr>
            </a:p>
          </p:txBody>
        </p:sp>
        <p:cxnSp>
          <p:nvCxnSpPr>
            <p:cNvPr id="12" name="直接箭头连接符 11"/>
            <p:cNvCxnSpPr/>
            <p:nvPr/>
          </p:nvCxnSpPr>
          <p:spPr>
            <a:xfrm>
              <a:off x="5192" y="10159"/>
              <a:ext cx="536" cy="0"/>
            </a:xfrm>
            <a:prstGeom prst="straightConnector1">
              <a:avLst/>
            </a:prstGeom>
            <a:ln w="28575" cmpd="sng">
              <a:solidFill>
                <a:schemeClr val="accent6">
                  <a:lumMod val="50000"/>
                </a:schemeClr>
              </a:solidFill>
              <a:prstDash val="solid"/>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88" y="9893"/>
              <a:ext cx="5025" cy="531"/>
            </a:xfrm>
            <a:prstGeom prst="rect">
              <a:avLst/>
            </a:prstGeom>
            <a:noFill/>
          </p:spPr>
          <p:txBody>
            <a:bodyPr wrap="square" rtlCol="0" anchor="t">
              <a:spAutoFit/>
            </a:bodyPr>
            <a:p>
              <a:r>
                <a:rPr lang="en-US" altLang="zh-CN" sz="1600" b="1">
                  <a:latin typeface="微软雅黑" panose="020B0503020204020204" charset="-122"/>
                  <a:ea typeface="微软雅黑" panose="020B0503020204020204" charset="-122"/>
                  <a:cs typeface="微软雅黑" panose="020B0503020204020204" charset="-122"/>
                  <a:sym typeface="+mn-ea"/>
                </a:rPr>
                <a:t>env_collection.py</a:t>
              </a:r>
              <a:r>
                <a:rPr lang="zh-CN" altLang="en-US" sz="1600">
                  <a:latin typeface="微软雅黑" panose="020B0503020204020204" charset="-122"/>
                  <a:ea typeface="微软雅黑" panose="020B0503020204020204" charset="-122"/>
                  <a:cs typeface="微软雅黑" panose="020B0503020204020204" charset="-122"/>
                  <a:sym typeface="+mn-ea"/>
                </a:rPr>
                <a:t>（智能体</a:t>
              </a:r>
              <a:r>
                <a:rPr lang="zh-CN" altLang="en-US" sz="1600">
                  <a:latin typeface="微软雅黑" panose="020B0503020204020204" charset="-122"/>
                  <a:ea typeface="微软雅黑" panose="020B0503020204020204" charset="-122"/>
                  <a:cs typeface="微软雅黑" panose="020B0503020204020204" charset="-122"/>
                  <a:sym typeface="+mn-ea"/>
                </a:rPr>
                <a:t>设置）</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5728" y="9893"/>
              <a:ext cx="6453" cy="531"/>
            </a:xfrm>
            <a:prstGeom prst="rect">
              <a:avLst/>
            </a:prstGeom>
            <a:noFill/>
          </p:spPr>
          <p:txBody>
            <a:bodyPr wrap="square" rtlCol="0" anchor="t">
              <a:spAutoFit/>
            </a:bodyPr>
            <a:p>
              <a:r>
                <a:rPr lang="en-US" altLang="zh-CN" sz="1600" b="1">
                  <a:latin typeface="微软雅黑" panose="020B0503020204020204" charset="-122"/>
                  <a:ea typeface="微软雅黑" panose="020B0503020204020204" charset="-122"/>
                  <a:cs typeface="微软雅黑" panose="020B0503020204020204" charset="-122"/>
                  <a:sym typeface="+mn-ea"/>
                </a:rPr>
                <a:t>extract_biorxiv_tasks.py</a:t>
              </a:r>
              <a:r>
                <a:rPr lang="zh-CN" altLang="en-US" sz="1600">
                  <a:latin typeface="微软雅黑" panose="020B0503020204020204" charset="-122"/>
                  <a:ea typeface="微软雅黑" panose="020B0503020204020204" charset="-122"/>
                  <a:cs typeface="微软雅黑" panose="020B0503020204020204" charset="-122"/>
                  <a:sym typeface="+mn-ea"/>
                </a:rPr>
                <a:t>（执行提取任务）</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cxnSp>
          <p:nvCxnSpPr>
            <p:cNvPr id="15" name="直接箭头连接符 14"/>
            <p:cNvCxnSpPr/>
            <p:nvPr/>
          </p:nvCxnSpPr>
          <p:spPr>
            <a:xfrm>
              <a:off x="12202" y="10159"/>
              <a:ext cx="536" cy="0"/>
            </a:xfrm>
            <a:prstGeom prst="straightConnector1">
              <a:avLst/>
            </a:prstGeom>
            <a:ln w="28575" cmpd="sng">
              <a:solidFill>
                <a:schemeClr val="accent6">
                  <a:lumMod val="50000"/>
                </a:schemeClr>
              </a:solidFill>
              <a:prstDash val="solid"/>
              <a:tailEnd type="arrow"/>
            </a:ln>
          </p:spPr>
          <p:style>
            <a:lnRef idx="2">
              <a:schemeClr val="accent1"/>
            </a:lnRef>
            <a:fillRef idx="0">
              <a:srgbClr val="FFFFFF"/>
            </a:fillRef>
            <a:effectRef idx="0">
              <a:srgbClr val="FFFFFF"/>
            </a:effectRef>
            <a:fontRef idx="minor">
              <a:schemeClr val="tx1"/>
            </a:fontRef>
          </p:style>
        </p:cxnSp>
      </p:grpSp>
      <p:pic>
        <p:nvPicPr>
          <p:cNvPr id="2" name="图片 1" descr="logo"/>
          <p:cNvPicPr>
            <a:picLocks noChangeAspect="1"/>
          </p:cNvPicPr>
          <p:nvPr/>
        </p:nvPicPr>
        <p:blipFill>
          <a:blip r:embed="rId3"/>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strips(down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down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down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strips(downLeft)">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nvGrpSpPr>
        <p:grpSpPr>
          <a:xfrm rot="0">
            <a:off x="5726542" y="1021144"/>
            <a:ext cx="6025672" cy="5425397"/>
            <a:chOff x="7994" y="564"/>
            <a:chExt cx="7986" cy="8946"/>
          </a:xfrm>
        </p:grpSpPr>
        <p:sp>
          <p:nvSpPr>
            <p:cNvPr id="27" name="圆角矩形 26"/>
            <p:cNvSpPr/>
            <p:nvPr/>
          </p:nvSpPr>
          <p:spPr>
            <a:xfrm>
              <a:off x="8586" y="564"/>
              <a:ext cx="6800"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800" b="1">
                  <a:solidFill>
                    <a:schemeClr val="accent6">
                      <a:lumMod val="50000"/>
                    </a:schemeClr>
                  </a:solidFill>
                  <a:latin typeface="微软雅黑" panose="020B0503020204020204" charset="-122"/>
                  <a:ea typeface="微软雅黑" panose="020B0503020204020204" charset="-122"/>
                </a:rPr>
                <a:t>Biomni-E1</a:t>
              </a:r>
              <a:endParaRPr lang="en-US" altLang="zh-CN" sz="2800" b="1">
                <a:solidFill>
                  <a:schemeClr val="accent6">
                    <a:lumMod val="50000"/>
                  </a:schemeClr>
                </a:solidFill>
                <a:latin typeface="微软雅黑" panose="020B0503020204020204" charset="-122"/>
                <a:ea typeface="微软雅黑" panose="020B0503020204020204" charset="-122"/>
              </a:endParaRPr>
            </a:p>
          </p:txBody>
        </p:sp>
        <p:sp>
          <p:nvSpPr>
            <p:cNvPr id="28" name="文本框 27"/>
            <p:cNvSpPr txBox="1"/>
            <p:nvPr/>
          </p:nvSpPr>
          <p:spPr>
            <a:xfrm>
              <a:off x="7994" y="1341"/>
              <a:ext cx="7986" cy="8169"/>
            </a:xfrm>
            <a:prstGeom prst="rect">
              <a:avLst/>
            </a:prstGeom>
          </p:spPr>
          <p:txBody>
            <a:bodyPr wrap="square">
              <a:spAutoFit/>
            </a:bodyPr>
            <a:p>
              <a:pPr marL="342900" indent="-342900" algn="l">
                <a:buAutoNum type="arabicPeriod"/>
              </a:pPr>
              <a:endParaRPr lang="en-US" altLang="zh-CN" sz="1600" b="0" i="0">
                <a:latin typeface="微软雅黑" panose="020B0503020204020204" charset="-122"/>
                <a:ea typeface="微软雅黑" panose="020B0503020204020204" charset="-122"/>
              </a:endParaRPr>
            </a:p>
            <a:p>
              <a:pPr marL="342900" indent="-342900" algn="l">
                <a:buFont typeface="Wingdings" panose="05000000000000000000" charset="0"/>
                <a:buChar char="Ø"/>
              </a:pPr>
              <a:r>
                <a:rPr lang="zh-CN" altLang="en-US" sz="2000" b="0" i="0">
                  <a:latin typeface="微软雅黑" panose="020B0503020204020204" charset="-122"/>
                  <a:ea typeface="微软雅黑" panose="020B0503020204020204" charset="-122"/>
                </a:rPr>
                <a:t>一个面向生物医学智能体的综合实验环境，包括</a:t>
              </a:r>
              <a:r>
                <a:rPr lang="en-US" altLang="zh-CN" sz="2000" b="1" i="0">
                  <a:solidFill>
                    <a:schemeClr val="accent6">
                      <a:lumMod val="50000"/>
                    </a:schemeClr>
                  </a:solidFill>
                  <a:latin typeface="微软雅黑" panose="020B0503020204020204" charset="-122"/>
                  <a:ea typeface="微软雅黑" panose="020B0503020204020204" charset="-122"/>
                </a:rPr>
                <a:t>150</a:t>
              </a:r>
              <a:r>
                <a:rPr lang="zh-CN" altLang="en-US" sz="2000" b="1" i="0">
                  <a:solidFill>
                    <a:schemeClr val="accent6">
                      <a:lumMod val="50000"/>
                    </a:schemeClr>
                  </a:solidFill>
                  <a:latin typeface="微软雅黑" panose="020B0503020204020204" charset="-122"/>
                  <a:ea typeface="微软雅黑" panose="020B0503020204020204" charset="-122"/>
                </a:rPr>
                <a:t>个</a:t>
              </a:r>
              <a:r>
                <a:rPr lang="en-US" altLang="zh-CN" sz="2000" b="1" i="0">
                  <a:solidFill>
                    <a:schemeClr val="accent6">
                      <a:lumMod val="50000"/>
                    </a:schemeClr>
                  </a:solidFill>
                  <a:latin typeface="微软雅黑" panose="020B0503020204020204" charset="-122"/>
                  <a:ea typeface="微软雅黑" panose="020B0503020204020204" charset="-122"/>
                </a:rPr>
                <a:t>专门的生物医学工具、105个软件和59个数据库。</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1" i="0">
                  <a:solidFill>
                    <a:schemeClr val="accent6">
                      <a:lumMod val="50000"/>
                    </a:schemeClr>
                  </a:solidFill>
                  <a:latin typeface="微软雅黑" panose="020B0503020204020204" charset="-122"/>
                  <a:ea typeface="微软雅黑" panose="020B0503020204020204" charset="-122"/>
                </a:rPr>
                <a:t>工具：</a:t>
              </a:r>
              <a:r>
                <a:rPr lang="zh-CN" altLang="en-US" sz="2000" b="0" i="0">
                  <a:latin typeface="微软雅黑" panose="020B0503020204020204" charset="-122"/>
                  <a:ea typeface="微软雅黑" panose="020B0503020204020204" charset="-122"/>
                </a:rPr>
                <a:t>所有入选工具均经人类专家严格验证，并配有对应测试用例。这些工具</a:t>
              </a:r>
              <a:r>
                <a:rPr lang="zh-CN" altLang="en-US" sz="2000" b="0" i="0">
                  <a:latin typeface="微软雅黑" panose="020B0503020204020204" charset="-122"/>
                  <a:ea typeface="微软雅黑" panose="020B0503020204020204" charset="-122"/>
                </a:rPr>
                <a:t>的特征包括：非平凡性，复杂代码、领域专有知识或专用</a:t>
              </a:r>
              <a:r>
                <a:rPr lang="en-US" altLang="zh-CN" sz="2000" b="0" i="0">
                  <a:latin typeface="微软雅黑" panose="020B0503020204020204" charset="-122"/>
                  <a:ea typeface="微软雅黑" panose="020B0503020204020204" charset="-122"/>
                </a:rPr>
                <a:t> AI </a:t>
              </a:r>
              <a:r>
                <a:rPr lang="zh-CN" altLang="en-US" sz="2000" b="0" i="0">
                  <a:latin typeface="微软雅黑" panose="020B0503020204020204" charset="-122"/>
                  <a:ea typeface="微软雅黑" panose="020B0503020204020204" charset="-122"/>
                </a:rPr>
                <a:t>模型。</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1" i="0">
                  <a:solidFill>
                    <a:schemeClr val="accent6">
                      <a:lumMod val="50000"/>
                    </a:schemeClr>
                  </a:solidFill>
                  <a:latin typeface="微软雅黑" panose="020B0503020204020204" charset="-122"/>
                  <a:ea typeface="微软雅黑" panose="020B0503020204020204" charset="-122"/>
                </a:rPr>
                <a:t>软件：</a:t>
              </a:r>
              <a:r>
                <a:rPr lang="zh-CN" altLang="en-US" sz="2000" b="0" i="0">
                  <a:latin typeface="微软雅黑" panose="020B0503020204020204" charset="-122"/>
                  <a:ea typeface="微软雅黑" panose="020B0503020204020204" charset="-122"/>
                </a:rPr>
                <a:t>在环境中预装了</a:t>
              </a:r>
              <a:r>
                <a:rPr lang="en-US" altLang="zh-CN" sz="2000" b="0" i="0">
                  <a:latin typeface="微软雅黑" panose="020B0503020204020204" charset="-122"/>
                  <a:ea typeface="微软雅黑" panose="020B0503020204020204" charset="-122"/>
                </a:rPr>
                <a:t> 105 </a:t>
              </a:r>
              <a:r>
                <a:rPr lang="zh-CN" altLang="en-US" sz="2000" b="0" i="0">
                  <a:latin typeface="微软雅黑" panose="020B0503020204020204" charset="-122"/>
                  <a:ea typeface="微软雅黑" panose="020B0503020204020204" charset="-122"/>
                </a:rPr>
                <a:t>个广泛使用的生物软件包，支持</a:t>
              </a:r>
              <a:r>
                <a:rPr lang="en-US" altLang="zh-CN" sz="2000" b="0" i="0">
                  <a:latin typeface="微软雅黑" panose="020B0503020204020204" charset="-122"/>
                  <a:ea typeface="微软雅黑" panose="020B0503020204020204" charset="-122"/>
                </a:rPr>
                <a:t> </a:t>
              </a:r>
              <a:r>
                <a:rPr lang="en-US" altLang="zh-CN" sz="2000" b="1" i="0">
                  <a:latin typeface="微软雅黑" panose="020B0503020204020204" charset="-122"/>
                  <a:ea typeface="微软雅黑" panose="020B0503020204020204" charset="-122"/>
                </a:rPr>
                <a:t>Python</a:t>
              </a:r>
              <a:r>
                <a:rPr lang="zh-CN" altLang="en-US" sz="2000" b="1" i="0">
                  <a:latin typeface="微软雅黑" panose="020B0503020204020204" charset="-122"/>
                  <a:ea typeface="微软雅黑" panose="020B0503020204020204" charset="-122"/>
                </a:rPr>
                <a:t>、</a:t>
              </a:r>
              <a:r>
                <a:rPr lang="en-US" altLang="zh-CN" sz="2000" b="1" i="0">
                  <a:latin typeface="微软雅黑" panose="020B0503020204020204" charset="-122"/>
                  <a:ea typeface="微软雅黑" panose="020B0503020204020204" charset="-122"/>
                </a:rPr>
                <a:t>R </a:t>
              </a:r>
              <a:r>
                <a:rPr lang="zh-CN" altLang="en-US" sz="2000" b="1" i="0">
                  <a:latin typeface="微软雅黑" panose="020B0503020204020204" charset="-122"/>
                  <a:ea typeface="微软雅黑" panose="020B0503020204020204" charset="-122"/>
                </a:rPr>
                <a:t>与</a:t>
              </a:r>
              <a:r>
                <a:rPr lang="en-US" altLang="zh-CN" sz="2000" b="1" i="0">
                  <a:latin typeface="微软雅黑" panose="020B0503020204020204" charset="-122"/>
                  <a:ea typeface="微软雅黑" panose="020B0503020204020204" charset="-122"/>
                </a:rPr>
                <a:t> Bash</a:t>
              </a:r>
              <a:r>
                <a:rPr lang="en-US" altLang="zh-CN" sz="2000" b="0" i="0">
                  <a:latin typeface="微软雅黑" panose="020B0503020204020204" charset="-122"/>
                  <a:ea typeface="微软雅黑" panose="020B0503020204020204" charset="-122"/>
                </a:rPr>
                <a:t> </a:t>
              </a:r>
              <a:r>
                <a:rPr lang="zh-CN" altLang="en-US" sz="2000" b="0" i="0">
                  <a:latin typeface="微软雅黑" panose="020B0503020204020204" charset="-122"/>
                  <a:ea typeface="微软雅黑" panose="020B0503020204020204" charset="-122"/>
                </a:rPr>
                <a:t>脚本。</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1" i="0">
                  <a:solidFill>
                    <a:schemeClr val="accent6">
                      <a:lumMod val="50000"/>
                    </a:schemeClr>
                  </a:solidFill>
                  <a:latin typeface="微软雅黑" panose="020B0503020204020204" charset="-122"/>
                  <a:ea typeface="微软雅黑" panose="020B0503020204020204" charset="-122"/>
                </a:rPr>
                <a:t>数据集：</a:t>
              </a:r>
              <a:endParaRPr lang="zh-CN" altLang="en-US" sz="2000" b="1" i="0">
                <a:solidFill>
                  <a:schemeClr val="accent6">
                    <a:lumMod val="50000"/>
                  </a:schemeClr>
                </a:solidFill>
                <a:latin typeface="微软雅黑" panose="020B0503020204020204" charset="-122"/>
                <a:ea typeface="微软雅黑" panose="020B0503020204020204" charset="-122"/>
              </a:endParaRPr>
            </a:p>
            <a:p>
              <a:pPr marL="914400" lvl="1" indent="-457200" algn="l">
                <a:buFont typeface="+mj-ea"/>
                <a:buAutoNum type="circleNumDbPlain"/>
              </a:pPr>
              <a:r>
                <a:rPr lang="en-US" altLang="zh-CN" sz="2000" b="0" i="0">
                  <a:latin typeface="微软雅黑" panose="020B0503020204020204" charset="-122"/>
                  <a:ea typeface="微软雅黑" panose="020B0503020204020204" charset="-122"/>
                </a:rPr>
                <a:t>通过 </a:t>
              </a:r>
              <a:r>
                <a:rPr lang="en-US" altLang="zh-CN" sz="2000" b="1" i="0">
                  <a:latin typeface="微软雅黑" panose="020B0503020204020204" charset="-122"/>
                  <a:ea typeface="微软雅黑" panose="020B0503020204020204" charset="-122"/>
                </a:rPr>
                <a:t>API 访问</a:t>
              </a:r>
              <a:r>
                <a:rPr lang="en-US" altLang="zh-CN" sz="2000" b="0" i="0">
                  <a:latin typeface="微软雅黑" panose="020B0503020204020204" charset="-122"/>
                  <a:ea typeface="微软雅黑" panose="020B0503020204020204" charset="-122"/>
                </a:rPr>
                <a:t>的开源数据库：为每库实现统一函数；函数接收自然语言查询，内部由大模型解析库表结构并动态生成可执行语句。</a:t>
              </a:r>
              <a:endParaRPr lang="en-US" altLang="zh-CN" sz="2000" b="0" i="0">
                <a:latin typeface="微软雅黑" panose="020B0503020204020204" charset="-122"/>
                <a:ea typeface="微软雅黑" panose="020B0503020204020204" charset="-122"/>
              </a:endParaRPr>
            </a:p>
            <a:p>
              <a:pPr marL="800100" lvl="1" indent="-342900" algn="l">
                <a:buAutoNum type="circleNumDbPlain"/>
              </a:pPr>
              <a:r>
                <a:rPr lang="en-US" altLang="zh-CN" sz="2000" b="1" i="0">
                  <a:latin typeface="微软雅黑" panose="020B0503020204020204" charset="-122"/>
                  <a:ea typeface="微软雅黑" panose="020B0503020204020204" charset="-122"/>
                </a:rPr>
                <a:t>无 Web 接口</a:t>
              </a:r>
              <a:r>
                <a:rPr lang="en-US" altLang="zh-CN" sz="2000" b="0" i="0">
                  <a:latin typeface="微软雅黑" panose="020B0503020204020204" charset="-122"/>
                  <a:ea typeface="微软雅黑" panose="020B0503020204020204" charset="-122"/>
                </a:rPr>
                <a:t>的数据库：下载至本地数据</a:t>
              </a:r>
              <a:r>
                <a:rPr lang="en-US" altLang="zh-CN" sz="2000" b="0" i="0">
                  <a:latin typeface="微软雅黑" panose="020B0503020204020204" charset="-122"/>
                  <a:ea typeface="微软雅黑" panose="020B0503020204020204" charset="-122"/>
                </a:rPr>
                <a:t>库，预处理为结构化 pandas DataFrame，与智能体无缝集成。</a:t>
              </a:r>
              <a:endParaRPr lang="en-US" altLang="zh-CN" sz="2000" b="0" i="0">
                <a:latin typeface="微软雅黑" panose="020B0503020204020204" charset="-122"/>
                <a:ea typeface="微软雅黑" panose="020B0503020204020204" charset="-122"/>
              </a:endParaRPr>
            </a:p>
          </p:txBody>
        </p:sp>
      </p:grpSp>
      <p:pic>
        <p:nvPicPr>
          <p:cNvPr id="2" name="图片 1"/>
          <p:cNvPicPr>
            <a:picLocks noChangeAspect="1"/>
          </p:cNvPicPr>
          <p:nvPr/>
        </p:nvPicPr>
        <p:blipFill>
          <a:blip r:embed="rId1"/>
          <a:srcRect l="2672"/>
          <a:stretch>
            <a:fillRect/>
          </a:stretch>
        </p:blipFill>
        <p:spPr>
          <a:xfrm>
            <a:off x="333375" y="862330"/>
            <a:ext cx="4879975" cy="5634355"/>
          </a:xfrm>
          <a:prstGeom prst="rect">
            <a:avLst/>
          </a:prstGeom>
        </p:spPr>
      </p:pic>
      <p:grpSp>
        <p:nvGrpSpPr>
          <p:cNvPr id="3" name="组合 2"/>
          <p:cNvGrpSpPr/>
          <p:nvPr/>
        </p:nvGrpSpPr>
        <p:grpSpPr>
          <a:xfrm>
            <a:off x="0" y="-635"/>
            <a:ext cx="12192000" cy="707390"/>
            <a:chOff x="0" y="0"/>
            <a:chExt cx="19200" cy="1114"/>
          </a:xfrm>
        </p:grpSpPr>
        <p:sp>
          <p:nvSpPr>
            <p:cNvPr id="4" name="矩形 3"/>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pic>
        <p:nvPicPr>
          <p:cNvPr id="7" name="图片 6" descr="logo"/>
          <p:cNvPicPr>
            <a:picLocks noChangeAspect="1"/>
          </p:cNvPicPr>
          <p:nvPr/>
        </p:nvPicPr>
        <p:blipFill>
          <a:blip r:embed="rId2"/>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strips(downLeft)">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nvGrpSpPr>
        <p:grpSpPr>
          <a:xfrm rot="0">
            <a:off x="172249" y="901764"/>
            <a:ext cx="11706524" cy="5114889"/>
            <a:chOff x="7936" y="564"/>
            <a:chExt cx="15515" cy="8434"/>
          </a:xfrm>
        </p:grpSpPr>
        <p:sp>
          <p:nvSpPr>
            <p:cNvPr id="27" name="圆角矩形 26"/>
            <p:cNvSpPr/>
            <p:nvPr/>
          </p:nvSpPr>
          <p:spPr>
            <a:xfrm>
              <a:off x="8085" y="564"/>
              <a:ext cx="6800"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400" b="1">
                  <a:solidFill>
                    <a:schemeClr val="accent6">
                      <a:lumMod val="50000"/>
                    </a:schemeClr>
                  </a:solidFill>
                  <a:latin typeface="微软雅黑" panose="020B0503020204020204" charset="-122"/>
                  <a:ea typeface="微软雅黑" panose="020B0503020204020204" charset="-122"/>
                </a:rPr>
                <a:t>Biomni-E1</a:t>
              </a:r>
              <a:r>
                <a:rPr lang="zh-CN" altLang="en-US" sz="2400" b="1">
                  <a:solidFill>
                    <a:schemeClr val="accent6">
                      <a:lumMod val="50000"/>
                    </a:schemeClr>
                  </a:solidFill>
                  <a:latin typeface="微软雅黑" panose="020B0503020204020204" charset="-122"/>
                  <a:ea typeface="微软雅黑" panose="020B0503020204020204" charset="-122"/>
                </a:rPr>
                <a:t>：工具的具体实现</a:t>
              </a:r>
              <a:endParaRPr lang="zh-CN" altLang="en-US" sz="2400" b="1">
                <a:solidFill>
                  <a:schemeClr val="accent6">
                    <a:lumMod val="50000"/>
                  </a:schemeClr>
                </a:solidFill>
                <a:latin typeface="微软雅黑" panose="020B0503020204020204" charset="-122"/>
                <a:ea typeface="微软雅黑" panose="020B0503020204020204" charset="-122"/>
              </a:endParaRPr>
            </a:p>
          </p:txBody>
        </p:sp>
        <p:sp>
          <p:nvSpPr>
            <p:cNvPr id="28" name="文本框 27"/>
            <p:cNvSpPr txBox="1"/>
            <p:nvPr/>
          </p:nvSpPr>
          <p:spPr>
            <a:xfrm>
              <a:off x="7936" y="1743"/>
              <a:ext cx="15515" cy="7255"/>
            </a:xfrm>
            <a:prstGeom prst="rect">
              <a:avLst/>
            </a:prstGeom>
          </p:spPr>
          <p:txBody>
            <a:bodyPr wrap="square">
              <a:spAutoFit/>
            </a:bodyPr>
            <a:p>
              <a:pPr marL="342900" indent="-342900" algn="l">
                <a:buAutoNum type="arabicPeriod"/>
              </a:pPr>
              <a:r>
                <a:rPr lang="zh-CN" altLang="en-US" sz="2000" b="1" i="0">
                  <a:solidFill>
                    <a:schemeClr val="accent6">
                      <a:lumMod val="50000"/>
                    </a:schemeClr>
                  </a:solidFill>
                  <a:latin typeface="微软雅黑" panose="020B0503020204020204" charset="-122"/>
                  <a:ea typeface="微软雅黑" panose="020B0503020204020204" charset="-122"/>
                </a:rPr>
                <a:t>工具筛选：</a:t>
              </a:r>
              <a:r>
                <a:rPr lang="zh-CN" altLang="en-US" sz="2000" b="0" i="0">
                  <a:latin typeface="微软雅黑" panose="020B0503020204020204" charset="-122"/>
                  <a:ea typeface="微软雅黑" panose="020B0503020204020204" charset="-122"/>
                </a:rPr>
                <a:t>根据</a:t>
              </a:r>
              <a:r>
                <a:rPr lang="zh-CN" altLang="en-US" sz="2000" b="1">
                  <a:latin typeface="微软雅黑" panose="020B0503020204020204" charset="-122"/>
                  <a:ea typeface="微软雅黑" panose="020B0503020204020204" charset="-122"/>
                  <a:sym typeface="+mn-ea"/>
                </a:rPr>
                <a:t>任务</a:t>
              </a:r>
              <a:r>
                <a:rPr lang="zh-CN" altLang="en-US" sz="2000" b="1" i="0">
                  <a:latin typeface="微软雅黑" panose="020B0503020204020204" charset="-122"/>
                  <a:ea typeface="微软雅黑" panose="020B0503020204020204" charset="-122"/>
                </a:rPr>
                <a:t>与主要研究兴趣的相关性</a:t>
              </a:r>
              <a:r>
                <a:rPr lang="zh-CN" altLang="en-US" sz="2000" b="0" i="0">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sym typeface="+mn-ea"/>
                </a:rPr>
                <a:t>药物发现和临床生物医学领域</a:t>
              </a:r>
              <a:r>
                <a:rPr lang="zh-CN" altLang="en-US" sz="2000" b="0" i="0">
                  <a:latin typeface="微软雅黑" panose="020B0503020204020204" charset="-122"/>
                  <a:ea typeface="微软雅黑" panose="020B0503020204020204" charset="-122"/>
                </a:rPr>
                <a:t>）进行筛选。随后，这些任务被缩小到大约</a:t>
              </a:r>
              <a:r>
                <a:rPr lang="en-US" altLang="zh-CN" sz="2000" b="0" i="0">
                  <a:latin typeface="微软雅黑" panose="020B0503020204020204" charset="-122"/>
                  <a:ea typeface="微软雅黑" panose="020B0503020204020204" charset="-122"/>
                </a:rPr>
                <a:t> 1,900 </a:t>
              </a:r>
              <a:r>
                <a:rPr lang="zh-CN" altLang="en-US" sz="2000" b="0" i="0">
                  <a:latin typeface="微软雅黑" panose="020B0503020204020204" charset="-122"/>
                  <a:ea typeface="微软雅黑" panose="020B0503020204020204" charset="-122"/>
                </a:rPr>
                <a:t>个常见的重复任务。这些任务经过进一步人工审查以消除冗余，强调选择需要</a:t>
              </a:r>
              <a:r>
                <a:rPr lang="zh-CN" altLang="en-US" sz="2000" b="1" i="0">
                  <a:latin typeface="微软雅黑" panose="020B0503020204020204" charset="-122"/>
                  <a:ea typeface="微软雅黑" panose="020B0503020204020204" charset="-122"/>
                </a:rPr>
                <a:t>显著领域专业知识的高度专业化任务</a:t>
              </a:r>
              <a:r>
                <a:rPr lang="zh-CN" altLang="en-US" sz="2000" b="0" i="0">
                  <a:latin typeface="微软雅黑" panose="020B0503020204020204" charset="-122"/>
                  <a:ea typeface="微软雅黑" panose="020B0503020204020204" charset="-122"/>
                </a:rPr>
                <a:t>。</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1" i="0">
                  <a:solidFill>
                    <a:schemeClr val="accent6">
                      <a:lumMod val="50000"/>
                    </a:schemeClr>
                  </a:solidFill>
                  <a:latin typeface="微软雅黑" panose="020B0503020204020204" charset="-122"/>
                  <a:ea typeface="微软雅黑" panose="020B0503020204020204" charset="-122"/>
                </a:rPr>
                <a:t>工具实现：</a:t>
              </a:r>
              <a:r>
                <a:rPr lang="zh-CN" altLang="en-US" sz="2000" b="0" i="0">
                  <a:latin typeface="微软雅黑" panose="020B0503020204020204" charset="-122"/>
                  <a:ea typeface="微软雅黑" panose="020B0503020204020204" charset="-122"/>
                </a:rPr>
                <a:t>人类科学家与具备网络搜索能力的软件工程</a:t>
              </a:r>
              <a:r>
                <a:rPr lang="en-US" altLang="zh-CN" sz="2000" b="0" i="0">
                  <a:latin typeface="微软雅黑" panose="020B0503020204020204" charset="-122"/>
                  <a:ea typeface="微软雅黑" panose="020B0503020204020204" charset="-122"/>
                </a:rPr>
                <a:t>Agent</a:t>
              </a:r>
              <a:r>
                <a:rPr lang="zh-CN" altLang="en-US" sz="2000" b="0" i="0">
                  <a:latin typeface="微软雅黑" panose="020B0503020204020204" charset="-122"/>
                  <a:ea typeface="微软雅黑" panose="020B0503020204020204" charset="-122"/>
                </a:rPr>
                <a:t>合作，以实现每个专业化工具。每个工具都经过严格的验证，需要一个明确定义的测试用例才能成功通过。这一严格的过程最终形成了一个包含</a:t>
              </a:r>
              <a:r>
                <a:rPr lang="en-US" altLang="zh-CN" sz="2000" b="0" i="0">
                  <a:latin typeface="微软雅黑" panose="020B0503020204020204" charset="-122"/>
                  <a:ea typeface="微软雅黑" panose="020B0503020204020204" charset="-122"/>
                </a:rPr>
                <a:t> </a:t>
              </a:r>
              <a:r>
                <a:rPr lang="zh-CN" altLang="en-US" sz="2000" b="1" i="0">
                  <a:latin typeface="微软雅黑" panose="020B0503020204020204" charset="-122"/>
                  <a:ea typeface="微软雅黑" panose="020B0503020204020204" charset="-122"/>
                </a:rPr>
                <a:t>150 个专业化工具</a:t>
              </a:r>
              <a:r>
                <a:rPr lang="zh-CN" altLang="en-US" sz="2000" b="0" i="0">
                  <a:latin typeface="微软雅黑" panose="020B0503020204020204" charset="-122"/>
                  <a:ea typeface="微软雅黑" panose="020B0503020204020204" charset="-122"/>
                </a:rPr>
                <a:t>的精选集合。此外，还包括了</a:t>
              </a:r>
              <a:r>
                <a:rPr lang="en-US" altLang="zh-CN" sz="2000" b="0" i="0">
                  <a:latin typeface="微软雅黑" panose="020B0503020204020204" charset="-122"/>
                  <a:ea typeface="微软雅黑" panose="020B0503020204020204" charset="-122"/>
                </a:rPr>
                <a:t> </a:t>
              </a:r>
              <a:r>
                <a:rPr lang="zh-CN" altLang="en-US" sz="2000" b="1" i="0">
                  <a:latin typeface="微软雅黑" panose="020B0503020204020204" charset="-122"/>
                  <a:ea typeface="微软雅黑" panose="020B0503020204020204" charset="-122"/>
                </a:rPr>
                <a:t>PubMed 和 Google Scholar</a:t>
              </a:r>
              <a:r>
                <a:rPr lang="en-US" altLang="zh-CN" sz="2000" b="0" i="0">
                  <a:latin typeface="微软雅黑" panose="020B0503020204020204" charset="-122"/>
                  <a:ea typeface="微软雅黑" panose="020B0503020204020204" charset="-122"/>
                </a:rPr>
                <a:t> </a:t>
              </a:r>
              <a:r>
                <a:rPr lang="zh-CN" altLang="en-US" sz="2000" b="0" i="0">
                  <a:latin typeface="微软雅黑" panose="020B0503020204020204" charset="-122"/>
                  <a:ea typeface="微软雅黑" panose="020B0503020204020204" charset="-122"/>
                </a:rPr>
                <a:t>等基本文献检索工具，并为未来的迭代扩展提供了准备。</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1" i="0">
                  <a:solidFill>
                    <a:schemeClr val="accent6">
                      <a:lumMod val="50000"/>
                    </a:schemeClr>
                  </a:solidFill>
                  <a:latin typeface="微软雅黑" panose="020B0503020204020204" charset="-122"/>
                  <a:ea typeface="微软雅黑" panose="020B0503020204020204" charset="-122"/>
                </a:rPr>
                <a:t>工具规范化：</a:t>
              </a:r>
              <a:r>
                <a:rPr lang="zh-CN" altLang="en-US" sz="2000" b="0" i="0">
                  <a:latin typeface="微软雅黑" panose="020B0503020204020204" charset="-122"/>
                  <a:ea typeface="微软雅黑" panose="020B0503020204020204" charset="-122"/>
                </a:rPr>
                <a:t>每个工具都使用一个全面的</a:t>
              </a:r>
              <a:r>
                <a:rPr lang="zh-CN" altLang="en-US" sz="2000" b="1" i="0">
                  <a:latin typeface="微软雅黑" panose="020B0503020204020204" charset="-122"/>
                  <a:ea typeface="微软雅黑" panose="020B0503020204020204" charset="-122"/>
                </a:rPr>
                <a:t>检查表</a:t>
              </a:r>
              <a:r>
                <a:rPr lang="zh-CN" altLang="en-US" sz="2000" b="0" i="0">
                  <a:latin typeface="微软雅黑" panose="020B0503020204020204" charset="-122"/>
                  <a:ea typeface="微软雅黑" panose="020B0503020204020204" charset="-122"/>
                </a:rPr>
                <a:t>进行严格定义，该检查表要求：</a:t>
              </a:r>
              <a:endParaRPr lang="zh-CN" altLang="en-US" sz="2000" b="0" i="0">
                <a:latin typeface="微软雅黑" panose="020B0503020204020204" charset="-122"/>
                <a:ea typeface="微软雅黑" panose="020B0503020204020204" charset="-122"/>
              </a:endParaRPr>
            </a:p>
            <a:p>
              <a:pPr marL="914400" lvl="1" indent="-457200" algn="l">
                <a:buFont typeface="+mj-ea"/>
                <a:buAutoNum type="circleNumDbPlain"/>
              </a:pPr>
              <a:r>
                <a:rPr lang="zh-CN" altLang="en-US" sz="2000" b="0" i="0">
                  <a:latin typeface="微软雅黑" panose="020B0503020204020204" charset="-122"/>
                  <a:ea typeface="微软雅黑" panose="020B0503020204020204" charset="-122"/>
                </a:rPr>
                <a:t>清晰且描述性的名称</a:t>
              </a:r>
              <a:endParaRPr lang="zh-CN" altLang="en-US" sz="2000" b="0" i="0">
                <a:latin typeface="微软雅黑" panose="020B0503020204020204" charset="-122"/>
                <a:ea typeface="微软雅黑" panose="020B0503020204020204" charset="-122"/>
              </a:endParaRPr>
            </a:p>
            <a:p>
              <a:pPr marL="914400" lvl="1" indent="-457200" algn="l">
                <a:buFont typeface="+mj-ea"/>
                <a:buAutoNum type="circleNumDbPlain"/>
              </a:pPr>
              <a:r>
                <a:rPr lang="zh-CN" altLang="en-US" sz="2000" b="0" i="0">
                  <a:latin typeface="微软雅黑" panose="020B0503020204020204" charset="-122"/>
                  <a:ea typeface="微软雅黑" panose="020B0503020204020204" charset="-122"/>
                </a:rPr>
                <a:t>详细的文档</a:t>
              </a:r>
              <a:endParaRPr lang="zh-CN" altLang="en-US" sz="2000" b="0" i="0">
                <a:latin typeface="微软雅黑" panose="020B0503020204020204" charset="-122"/>
                <a:ea typeface="微软雅黑" panose="020B0503020204020204" charset="-122"/>
              </a:endParaRPr>
            </a:p>
            <a:p>
              <a:pPr marL="914400" lvl="1" indent="-457200" algn="l">
                <a:buFont typeface="+mj-ea"/>
                <a:buAutoNum type="circleNumDbPlain"/>
              </a:pPr>
              <a:r>
                <a:rPr lang="zh-CN" altLang="en-US" sz="2000" b="0" i="0">
                  <a:latin typeface="微软雅黑" panose="020B0503020204020204" charset="-122"/>
                  <a:ea typeface="微软雅黑" panose="020B0503020204020204" charset="-122"/>
                </a:rPr>
                <a:t>为</a:t>
              </a:r>
              <a:r>
                <a:rPr lang="en-US" altLang="zh-CN" sz="2000" b="0" i="0">
                  <a:latin typeface="微软雅黑" panose="020B0503020204020204" charset="-122"/>
                  <a:ea typeface="微软雅黑" panose="020B0503020204020204" charset="-122"/>
                </a:rPr>
                <a:t> LLM </a:t>
              </a:r>
              <a:r>
                <a:rPr lang="zh-CN" altLang="en-US" sz="2000" b="0" i="0">
                  <a:latin typeface="微软雅黑" panose="020B0503020204020204" charset="-122"/>
                  <a:ea typeface="微软雅黑" panose="020B0503020204020204" charset="-122"/>
                </a:rPr>
                <a:t>解释优化的详细研究日志格式的输出</a:t>
              </a:r>
              <a:endParaRPr lang="zh-CN" altLang="en-US" sz="2000" b="0" i="0">
                <a:latin typeface="微软雅黑" panose="020B0503020204020204" charset="-122"/>
                <a:ea typeface="微软雅黑" panose="020B0503020204020204" charset="-122"/>
              </a:endParaRPr>
            </a:p>
            <a:p>
              <a:pPr marL="914400" lvl="1" indent="-457200" algn="l">
                <a:buFont typeface="+mj-ea"/>
                <a:buAutoNum type="circleNumDbPlain"/>
              </a:pPr>
              <a:r>
                <a:rPr lang="zh-CN" altLang="en-US" sz="2000" b="0" i="0">
                  <a:latin typeface="微软雅黑" panose="020B0503020204020204" charset="-122"/>
                  <a:ea typeface="微软雅黑" panose="020B0503020204020204" charset="-122"/>
                </a:rPr>
                <a:t>包含并成功通过特定测试用例</a:t>
              </a:r>
              <a:endParaRPr lang="en-US" altLang="zh-CN" sz="2000" b="0" i="0">
                <a:latin typeface="微软雅黑" panose="020B0503020204020204" charset="-122"/>
                <a:ea typeface="微软雅黑" panose="020B0503020204020204" charset="-122"/>
              </a:endParaRPr>
            </a:p>
            <a:p>
              <a:pPr marL="914400" lvl="1" indent="-457200" algn="l">
                <a:buFont typeface="+mj-ea"/>
                <a:buAutoNum type="circleNumDbPlain"/>
              </a:pPr>
              <a:r>
                <a:rPr lang="zh-CN" altLang="en-US" sz="2000" b="0" i="0">
                  <a:latin typeface="微软雅黑" panose="020B0503020204020204" charset="-122"/>
                  <a:ea typeface="微软雅黑" panose="020B0503020204020204" charset="-122"/>
                </a:rPr>
                <a:t>专业化标准：如果一个任务可以通过简短的</a:t>
              </a:r>
              <a:r>
                <a:rPr lang="en-US" altLang="zh-CN" sz="2000" b="0" i="0">
                  <a:latin typeface="微软雅黑" panose="020B0503020204020204" charset="-122"/>
                  <a:ea typeface="微软雅黑" panose="020B0503020204020204" charset="-122"/>
                </a:rPr>
                <a:t> LLM </a:t>
              </a:r>
              <a:r>
                <a:rPr lang="zh-CN" altLang="en-US" sz="2000" b="0" i="0">
                  <a:latin typeface="微软雅黑" panose="020B0503020204020204" charset="-122"/>
                  <a:ea typeface="微软雅黑" panose="020B0503020204020204" charset="-122"/>
                </a:rPr>
                <a:t>生成代码（例如，简单的数据库查询）轻松实现，则不创建专业化工具。</a:t>
              </a:r>
              <a:endParaRPr lang="zh-CN" altLang="en-US" sz="2000" b="0" i="0">
                <a:latin typeface="微软雅黑" panose="020B0503020204020204" charset="-122"/>
                <a:ea typeface="微软雅黑" panose="020B0503020204020204" charset="-122"/>
              </a:endParaRPr>
            </a:p>
          </p:txBody>
        </p:sp>
      </p:grpSp>
      <p:grpSp>
        <p:nvGrpSpPr>
          <p:cNvPr id="3" name="组合 2"/>
          <p:cNvGrpSpPr/>
          <p:nvPr/>
        </p:nvGrpSpPr>
        <p:grpSpPr>
          <a:xfrm>
            <a:off x="0" y="-635"/>
            <a:ext cx="12192000" cy="707390"/>
            <a:chOff x="0" y="0"/>
            <a:chExt cx="19200" cy="1114"/>
          </a:xfrm>
        </p:grpSpPr>
        <p:sp>
          <p:nvSpPr>
            <p:cNvPr id="4" name="矩形 3"/>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pic>
        <p:nvPicPr>
          <p:cNvPr id="2" name="图片 1" descr="logo"/>
          <p:cNvPicPr>
            <a:picLocks noChangeAspect="1"/>
          </p:cNvPicPr>
          <p:nvPr/>
        </p:nvPicPr>
        <p:blipFill>
          <a:blip r:embed="rId1"/>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strips(downLeft)">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nvGrpSpPr>
        <p:grpSpPr>
          <a:xfrm rot="0">
            <a:off x="5726542" y="1021144"/>
            <a:ext cx="6025672" cy="5117315"/>
            <a:chOff x="7994" y="564"/>
            <a:chExt cx="7986" cy="8438"/>
          </a:xfrm>
        </p:grpSpPr>
        <p:sp>
          <p:nvSpPr>
            <p:cNvPr id="27" name="圆角矩形 26"/>
            <p:cNvSpPr/>
            <p:nvPr/>
          </p:nvSpPr>
          <p:spPr>
            <a:xfrm>
              <a:off x="8586" y="564"/>
              <a:ext cx="6800"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800" b="1">
                  <a:solidFill>
                    <a:schemeClr val="accent6">
                      <a:lumMod val="50000"/>
                    </a:schemeClr>
                  </a:solidFill>
                  <a:latin typeface="微软雅黑" panose="020B0503020204020204" charset="-122"/>
                  <a:ea typeface="微软雅黑" panose="020B0503020204020204" charset="-122"/>
                </a:rPr>
                <a:t>Biomni-A1</a:t>
              </a:r>
              <a:endParaRPr lang="en-US" altLang="zh-CN" sz="2800" b="1">
                <a:solidFill>
                  <a:schemeClr val="accent6">
                    <a:lumMod val="50000"/>
                  </a:schemeClr>
                </a:solidFill>
                <a:latin typeface="微软雅黑" panose="020B0503020204020204" charset="-122"/>
                <a:ea typeface="微软雅黑" panose="020B0503020204020204" charset="-122"/>
              </a:endParaRPr>
            </a:p>
          </p:txBody>
        </p:sp>
        <p:sp>
          <p:nvSpPr>
            <p:cNvPr id="28" name="文本框 27"/>
            <p:cNvSpPr txBox="1"/>
            <p:nvPr/>
          </p:nvSpPr>
          <p:spPr>
            <a:xfrm>
              <a:off x="7994" y="1341"/>
              <a:ext cx="7986" cy="7661"/>
            </a:xfrm>
            <a:prstGeom prst="rect">
              <a:avLst/>
            </a:prstGeom>
          </p:spPr>
          <p:txBody>
            <a:bodyPr wrap="square">
              <a:spAutoFit/>
            </a:bodyPr>
            <a:p>
              <a:pPr marL="342900" indent="-342900" algn="l">
                <a:buAutoNum type="arabicPeriod"/>
              </a:pPr>
              <a:endParaRPr lang="en-US" altLang="zh-CN" sz="1600" b="0" i="0">
                <a:latin typeface="微软雅黑" panose="020B0503020204020204" charset="-122"/>
                <a:ea typeface="微软雅黑" panose="020B0503020204020204" charset="-122"/>
              </a:endParaRPr>
            </a:p>
            <a:p>
              <a:pPr marL="342900" indent="-342900" algn="l">
                <a:buFont typeface="Wingdings" panose="05000000000000000000" charset="0"/>
                <a:buChar char="Ø"/>
              </a:pPr>
              <a:r>
                <a:rPr lang="zh-CN" altLang="en-US" sz="2000" b="0" i="0">
                  <a:latin typeface="微软雅黑" panose="020B0503020204020204" charset="-122"/>
                  <a:ea typeface="微软雅黑" panose="020B0503020204020204" charset="-122"/>
                </a:rPr>
                <a:t>一种专门的</a:t>
              </a:r>
              <a:r>
                <a:rPr lang="zh-CN" altLang="en-US" sz="2000" b="1" i="0">
                  <a:solidFill>
                    <a:schemeClr val="accent6">
                      <a:lumMod val="50000"/>
                    </a:schemeClr>
                  </a:solidFill>
                  <a:latin typeface="微软雅黑" panose="020B0503020204020204" charset="-122"/>
                  <a:ea typeface="微软雅黑" panose="020B0503020204020204" charset="-122"/>
                </a:rPr>
                <a:t>智能体架构</a:t>
              </a:r>
              <a:r>
                <a:rPr lang="zh-CN" altLang="en-US" sz="2000" b="0" i="0">
                  <a:latin typeface="微软雅黑" panose="020B0503020204020204" charset="-122"/>
                  <a:ea typeface="微软雅黑" panose="020B0503020204020204" charset="-122"/>
                </a:rPr>
                <a:t>，</a:t>
              </a:r>
              <a:r>
                <a:rPr lang="zh-CN" altLang="en-US" sz="2000" b="0" i="0">
                  <a:latin typeface="微软雅黑" panose="020B0503020204020204" charset="-122"/>
                  <a:ea typeface="微软雅黑" panose="020B0503020204020204" charset="-122"/>
                </a:rPr>
                <a:t>它不再为每项任务硬编码固定流程，动态组合智能动作，与软件、数据及工具交互。</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引入了</a:t>
              </a:r>
              <a:r>
                <a:rPr lang="zh-CN" altLang="en-US" sz="2000" b="1" i="0">
                  <a:solidFill>
                    <a:schemeClr val="accent6">
                      <a:lumMod val="50000"/>
                    </a:schemeClr>
                  </a:solidFill>
                  <a:latin typeface="微软雅黑" panose="020B0503020204020204" charset="-122"/>
                  <a:ea typeface="微软雅黑" panose="020B0503020204020204" charset="-122"/>
                </a:rPr>
                <a:t>基于</a:t>
              </a:r>
              <a:r>
                <a:rPr lang="en-US" altLang="zh-CN" sz="2000" b="1" i="0">
                  <a:solidFill>
                    <a:schemeClr val="accent6">
                      <a:lumMod val="50000"/>
                    </a:schemeClr>
                  </a:solidFill>
                  <a:latin typeface="微软雅黑" panose="020B0503020204020204" charset="-122"/>
                  <a:ea typeface="微软雅黑" panose="020B0503020204020204" charset="-122"/>
                </a:rPr>
                <a:t> LLM </a:t>
              </a:r>
              <a:r>
                <a:rPr lang="zh-CN" altLang="en-US" sz="2000" b="1" i="0">
                  <a:solidFill>
                    <a:schemeClr val="accent6">
                      <a:lumMod val="50000"/>
                    </a:schemeClr>
                  </a:solidFill>
                  <a:latin typeface="微软雅黑" panose="020B0503020204020204" charset="-122"/>
                  <a:ea typeface="微软雅黑" panose="020B0503020204020204" charset="-122"/>
                </a:rPr>
                <a:t>的工具选择机制</a:t>
              </a:r>
              <a:r>
                <a:rPr lang="zh-CN" altLang="en-US" sz="2000" b="0" i="0">
                  <a:latin typeface="微软雅黑" panose="020B0503020204020204" charset="-122"/>
                  <a:ea typeface="微软雅黑" panose="020B0503020204020204" charset="-122"/>
                </a:rPr>
                <a:t>，可针对用户目标动态检索并定制所需的生物医学工具子集，以应对工具的高度复杂与专业性。</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以</a:t>
              </a:r>
              <a:r>
                <a:rPr lang="zh-CN" altLang="en-US" sz="2000" b="1" i="0">
                  <a:solidFill>
                    <a:schemeClr val="accent6">
                      <a:lumMod val="50000"/>
                    </a:schemeClr>
                  </a:solidFill>
                  <a:latin typeface="微软雅黑" panose="020B0503020204020204" charset="-122"/>
                  <a:ea typeface="微软雅黑" panose="020B0503020204020204" charset="-122"/>
                </a:rPr>
                <a:t>“代码”作为通用动作接口</a:t>
              </a:r>
              <a:r>
                <a:rPr lang="zh-CN" altLang="en-US" sz="2000" b="0" i="0">
                  <a:latin typeface="微软雅黑" panose="020B0503020204020204" charset="-122"/>
                  <a:ea typeface="微软雅黑" panose="020B0503020204020204" charset="-122"/>
                </a:rPr>
                <a:t>，可编排并执行包含循环、并行、条件分支等复杂工作流；该方式还能让智能体交错调用软件、工具、数据库及原始数据操作，即使这些资源没有预定义函数签名，也能灵活动态地整合异构资源。</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智能体采用</a:t>
              </a:r>
              <a:r>
                <a:rPr lang="zh-CN" altLang="en-US" sz="2000" b="1" i="0">
                  <a:solidFill>
                    <a:schemeClr val="accent6">
                      <a:lumMod val="50000"/>
                    </a:schemeClr>
                  </a:solidFill>
                  <a:latin typeface="微软雅黑" panose="020B0503020204020204" charset="-122"/>
                  <a:ea typeface="微软雅黑" panose="020B0503020204020204" charset="-122"/>
                </a:rPr>
                <a:t>自适应规划策略</a:t>
              </a:r>
              <a:r>
                <a:rPr lang="zh-CN" altLang="en-US" sz="2000" b="0" i="0">
                  <a:latin typeface="微软雅黑" panose="020B0503020204020204" charset="-122"/>
                  <a:ea typeface="微软雅黑" panose="020B0503020204020204" charset="-122"/>
                </a:rPr>
                <a:t>，先基于生物医学知识制定初始方案，并在执行过程中持续迭代优化，实现响应式、情境感知的行为。</a:t>
              </a:r>
              <a:endParaRPr lang="zh-CN" altLang="en-US" sz="2000" b="0" i="0">
                <a:latin typeface="微软雅黑" panose="020B0503020204020204" charset="-122"/>
                <a:ea typeface="微软雅黑" panose="020B0503020204020204" charset="-122"/>
              </a:endParaRPr>
            </a:p>
          </p:txBody>
        </p:sp>
      </p:grpSp>
      <p:grpSp>
        <p:nvGrpSpPr>
          <p:cNvPr id="4" name="组合 3"/>
          <p:cNvGrpSpPr/>
          <p:nvPr/>
        </p:nvGrpSpPr>
        <p:grpSpPr>
          <a:xfrm>
            <a:off x="0" y="-635"/>
            <a:ext cx="12192000" cy="707390"/>
            <a:chOff x="0" y="0"/>
            <a:chExt cx="19200" cy="1114"/>
          </a:xfrm>
        </p:grpSpPr>
        <p:sp>
          <p:nvSpPr>
            <p:cNvPr id="5" name="矩形 4"/>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grpSp>
        <p:nvGrpSpPr>
          <p:cNvPr id="10" name="组合 9"/>
          <p:cNvGrpSpPr/>
          <p:nvPr/>
        </p:nvGrpSpPr>
        <p:grpSpPr>
          <a:xfrm>
            <a:off x="508635" y="706755"/>
            <a:ext cx="4387850" cy="6032500"/>
            <a:chOff x="801" y="1113"/>
            <a:chExt cx="6910" cy="9500"/>
          </a:xfrm>
        </p:grpSpPr>
        <p:pic>
          <p:nvPicPr>
            <p:cNvPr id="3" name="图片 2"/>
            <p:cNvPicPr>
              <a:picLocks noChangeAspect="1"/>
            </p:cNvPicPr>
            <p:nvPr/>
          </p:nvPicPr>
          <p:blipFill>
            <a:blip r:embed="rId1"/>
            <a:srcRect t="1816" b="3424"/>
            <a:stretch>
              <a:fillRect/>
            </a:stretch>
          </p:blipFill>
          <p:spPr>
            <a:xfrm>
              <a:off x="801" y="1113"/>
              <a:ext cx="6911" cy="9500"/>
            </a:xfrm>
            <a:prstGeom prst="rect">
              <a:avLst/>
            </a:prstGeom>
          </p:spPr>
        </p:pic>
        <p:pic>
          <p:nvPicPr>
            <p:cNvPr id="8" name="图片 7"/>
            <p:cNvPicPr>
              <a:picLocks noChangeAspect="1"/>
            </p:cNvPicPr>
            <p:nvPr/>
          </p:nvPicPr>
          <p:blipFill>
            <a:blip r:embed="rId2"/>
            <a:srcRect t="10874" b="39026"/>
            <a:stretch>
              <a:fillRect/>
            </a:stretch>
          </p:blipFill>
          <p:spPr>
            <a:xfrm>
              <a:off x="1490" y="4817"/>
              <a:ext cx="4860" cy="1779"/>
            </a:xfrm>
            <a:prstGeom prst="rect">
              <a:avLst/>
            </a:prstGeom>
          </p:spPr>
        </p:pic>
        <p:pic>
          <p:nvPicPr>
            <p:cNvPr id="9" name="图片 8"/>
            <p:cNvPicPr>
              <a:picLocks noChangeAspect="1"/>
            </p:cNvPicPr>
            <p:nvPr/>
          </p:nvPicPr>
          <p:blipFill>
            <a:blip r:embed="rId3"/>
            <a:srcRect t="39538" r="11126"/>
            <a:stretch>
              <a:fillRect/>
            </a:stretch>
          </p:blipFill>
          <p:spPr>
            <a:xfrm>
              <a:off x="1490" y="8669"/>
              <a:ext cx="4705" cy="563"/>
            </a:xfrm>
            <a:prstGeom prst="rect">
              <a:avLst/>
            </a:prstGeom>
          </p:spPr>
        </p:pic>
      </p:grpSp>
      <p:pic>
        <p:nvPicPr>
          <p:cNvPr id="2" name="图片 1" descr="logo"/>
          <p:cNvPicPr>
            <a:picLocks noChangeAspect="1"/>
          </p:cNvPicPr>
          <p:nvPr/>
        </p:nvPicPr>
        <p:blipFill>
          <a:blip r:embed="rId4"/>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strips(downLeft)">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nvGrpSpPr>
        <p:grpSpPr>
          <a:xfrm rot="0">
            <a:off x="172249" y="901764"/>
            <a:ext cx="11706524" cy="3576298"/>
            <a:chOff x="7936" y="564"/>
            <a:chExt cx="15515" cy="5897"/>
          </a:xfrm>
        </p:grpSpPr>
        <p:sp>
          <p:nvSpPr>
            <p:cNvPr id="27" name="圆角矩形 26"/>
            <p:cNvSpPr/>
            <p:nvPr/>
          </p:nvSpPr>
          <p:spPr>
            <a:xfrm>
              <a:off x="8085" y="564"/>
              <a:ext cx="6800"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400" b="1">
                  <a:solidFill>
                    <a:schemeClr val="accent6">
                      <a:lumMod val="50000"/>
                    </a:schemeClr>
                  </a:solidFill>
                  <a:latin typeface="微软雅黑" panose="020B0503020204020204" charset="-122"/>
                  <a:ea typeface="微软雅黑" panose="020B0503020204020204" charset="-122"/>
                </a:rPr>
                <a:t>Biomni-A1</a:t>
              </a:r>
              <a:r>
                <a:rPr lang="zh-CN" altLang="en-US" sz="2400" b="1">
                  <a:solidFill>
                    <a:schemeClr val="accent6">
                      <a:lumMod val="50000"/>
                    </a:schemeClr>
                  </a:solidFill>
                  <a:latin typeface="微软雅黑" panose="020B0503020204020204" charset="-122"/>
                  <a:ea typeface="微软雅黑" panose="020B0503020204020204" charset="-122"/>
                </a:rPr>
                <a:t>：具体工作流程</a:t>
              </a:r>
              <a:endParaRPr lang="zh-CN" altLang="en-US" sz="2400" b="1">
                <a:solidFill>
                  <a:schemeClr val="accent6">
                    <a:lumMod val="50000"/>
                  </a:schemeClr>
                </a:solidFill>
                <a:latin typeface="微软雅黑" panose="020B0503020204020204" charset="-122"/>
                <a:ea typeface="微软雅黑" panose="020B0503020204020204" charset="-122"/>
              </a:endParaRPr>
            </a:p>
          </p:txBody>
        </p:sp>
        <p:sp>
          <p:nvSpPr>
            <p:cNvPr id="28" name="文本框 27"/>
            <p:cNvSpPr txBox="1"/>
            <p:nvPr/>
          </p:nvSpPr>
          <p:spPr>
            <a:xfrm>
              <a:off x="7936" y="1743"/>
              <a:ext cx="15515" cy="4718"/>
            </a:xfrm>
            <a:prstGeom prst="rect">
              <a:avLst/>
            </a:prstGeom>
          </p:spPr>
          <p:txBody>
            <a:bodyPr wrap="square">
              <a:spAutoFit/>
            </a:bodyPr>
            <a:p>
              <a:pPr marL="342900" indent="-342900" algn="l">
                <a:buAutoNum type="arabicPeriod"/>
              </a:pPr>
              <a:r>
                <a:rPr lang="zh-CN" altLang="en-US" sz="2000" b="0" i="0">
                  <a:latin typeface="微软雅黑" panose="020B0503020204020204" charset="-122"/>
                  <a:ea typeface="微软雅黑" panose="020B0503020204020204" charset="-122"/>
                </a:rPr>
                <a:t>基于</a:t>
              </a:r>
              <a:r>
                <a:rPr lang="en-US" altLang="zh-CN" sz="2000" b="0" i="0">
                  <a:latin typeface="微软雅黑" panose="020B0503020204020204" charset="-122"/>
                  <a:ea typeface="微软雅黑" panose="020B0503020204020204" charset="-122"/>
                </a:rPr>
                <a:t> </a:t>
              </a:r>
              <a:r>
                <a:rPr lang="en-US" altLang="zh-CN" sz="2000" b="1" i="0">
                  <a:latin typeface="微软雅黑" panose="020B0503020204020204" charset="-122"/>
                  <a:ea typeface="微软雅黑" panose="020B0503020204020204" charset="-122"/>
                </a:rPr>
                <a:t>CodeAct </a:t>
              </a:r>
              <a:r>
                <a:rPr lang="zh-CN" altLang="en-US" sz="2000" b="1" i="0">
                  <a:latin typeface="微软雅黑" panose="020B0503020204020204" charset="-122"/>
                  <a:ea typeface="微软雅黑" panose="020B0503020204020204" charset="-122"/>
                </a:rPr>
                <a:t>框架</a:t>
              </a:r>
              <a:r>
                <a:rPr lang="zh-CN" altLang="en-US" sz="2000" b="0" i="0">
                  <a:latin typeface="微软雅黑" panose="020B0503020204020204" charset="-122"/>
                  <a:ea typeface="微软雅黑" panose="020B0503020204020204" charset="-122"/>
                </a:rPr>
                <a:t>构建，旨在通过结合大型语言模型（</a:t>
              </a:r>
              <a:r>
                <a:rPr lang="en-US" altLang="zh-CN" sz="2000" b="0" i="0">
                  <a:latin typeface="微软雅黑" panose="020B0503020204020204" charset="-122"/>
                  <a:ea typeface="微软雅黑" panose="020B0503020204020204" charset="-122"/>
                </a:rPr>
                <a:t>LLMs</a:t>
              </a:r>
              <a:r>
                <a:rPr lang="zh-CN" altLang="en-US" sz="2000" b="0" i="0">
                  <a:latin typeface="微软雅黑" panose="020B0503020204020204" charset="-122"/>
                  <a:ea typeface="微软雅黑" panose="020B0503020204020204" charset="-122"/>
                </a:rPr>
                <a:t>）与交互式编码环境来系统地解决生物医学任务。</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给定用户查询，</a:t>
              </a:r>
              <a:r>
                <a:rPr lang="en-US" altLang="zh-CN" sz="2000" b="0" i="0">
                  <a:latin typeface="微软雅黑" panose="020B0503020204020204" charset="-122"/>
                  <a:ea typeface="微软雅黑" panose="020B0503020204020204" charset="-122"/>
                </a:rPr>
                <a:t>Biomni </a:t>
              </a:r>
              <a:r>
                <a:rPr lang="zh-CN" altLang="en-US" sz="2000" b="0" i="0">
                  <a:latin typeface="微软雅黑" panose="020B0503020204020204" charset="-122"/>
                  <a:ea typeface="微软雅黑" panose="020B0503020204020204" charset="-122"/>
                </a:rPr>
                <a:t>首先提示</a:t>
              </a:r>
              <a:r>
                <a:rPr lang="en-US" altLang="zh-CN" sz="2000" b="0" i="0">
                  <a:latin typeface="微软雅黑" panose="020B0503020204020204" charset="-122"/>
                  <a:ea typeface="微软雅黑" panose="020B0503020204020204" charset="-122"/>
                </a:rPr>
                <a:t> LLM </a:t>
              </a:r>
              <a:r>
                <a:rPr lang="zh-CN" altLang="en-US" sz="2000" b="0" i="0">
                  <a:latin typeface="微软雅黑" panose="020B0503020204020204" charset="-122"/>
                  <a:ea typeface="微软雅黑" panose="020B0503020204020204" charset="-122"/>
                </a:rPr>
                <a:t>生成一个清晰的、编号的</a:t>
              </a:r>
              <a:r>
                <a:rPr lang="en-US" altLang="zh-CN" sz="2000" b="1" i="0">
                  <a:latin typeface="微软雅黑" panose="020B0503020204020204" charset="-122"/>
                  <a:ea typeface="微软雅黑" panose="020B0503020204020204" charset="-122"/>
                </a:rPr>
                <a:t>步骤列表</a:t>
              </a:r>
              <a:r>
                <a:rPr lang="zh-CN" altLang="en-US" sz="2000" b="0" i="0">
                  <a:latin typeface="微软雅黑" panose="020B0503020204020204" charset="-122"/>
                  <a:ea typeface="微软雅黑" panose="020B0503020204020204" charset="-122"/>
                </a:rPr>
                <a:t>，详细说明解决给定问题所需的步骤，并仔细跟踪进度和调整。</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由于工具、软件和数据库空间非常庞大，查询任务可能仅使用这些资源的一小部分。为了避免过长的上下文，利用一个由</a:t>
              </a:r>
              <a:r>
                <a:rPr lang="en-US" altLang="zh-CN" sz="2000" b="1" i="0">
                  <a:latin typeface="微软雅黑" panose="020B0503020204020204" charset="-122"/>
                  <a:ea typeface="微软雅黑" panose="020B0503020204020204" charset="-122"/>
                </a:rPr>
                <a:t>单独的 LLM 提供支持的基于提示的检索器</a:t>
              </a:r>
              <a:r>
                <a:rPr lang="zh-CN" altLang="en-US" sz="2000" b="0" i="0">
                  <a:latin typeface="微软雅黑" panose="020B0503020204020204" charset="-122"/>
                  <a:ea typeface="微软雅黑" panose="020B0503020204020204" charset="-122"/>
                </a:rPr>
                <a:t>，智能体可以从可用资源中动态选择最相关的功能、数据集和软件库。</a:t>
              </a:r>
              <a:endParaRPr lang="zh-CN" altLang="en-US" sz="2000" b="0" i="0">
                <a:latin typeface="微软雅黑" panose="020B0503020204020204" charset="-122"/>
                <a:ea typeface="微软雅黑" panose="020B0503020204020204" charset="-122"/>
              </a:endParaRPr>
            </a:p>
            <a:p>
              <a:pPr marL="342900" indent="-342900" algn="l">
                <a:buAutoNum type="arabicPeriod"/>
              </a:pPr>
              <a:r>
                <a:rPr lang="zh-CN" altLang="en-US" sz="2000" b="0" i="0">
                  <a:latin typeface="微软雅黑" panose="020B0503020204020204" charset="-122"/>
                  <a:ea typeface="微软雅黑" panose="020B0503020204020204" charset="-122"/>
                </a:rPr>
                <a:t>在执行过程中，</a:t>
              </a:r>
              <a:r>
                <a:rPr lang="en-US" altLang="zh-CN" sz="2000" b="0" i="0">
                  <a:latin typeface="微软雅黑" panose="020B0503020204020204" charset="-122"/>
                  <a:ea typeface="微软雅黑" panose="020B0503020204020204" charset="-122"/>
                </a:rPr>
                <a:t>LLM </a:t>
              </a:r>
              <a:r>
                <a:rPr lang="zh-CN" altLang="en-US" sz="2000" b="0" i="0">
                  <a:latin typeface="微软雅黑" panose="020B0503020204020204" charset="-122"/>
                  <a:ea typeface="微软雅黑" panose="020B0503020204020204" charset="-122"/>
                </a:rPr>
                <a:t>生成代码，在编码环境（</a:t>
              </a:r>
              <a:r>
                <a:rPr lang="en-US" altLang="zh-CN" sz="2000" b="0" i="0">
                  <a:latin typeface="微软雅黑" panose="020B0503020204020204" charset="-122"/>
                  <a:ea typeface="微软雅黑" panose="020B0503020204020204" charset="-122"/>
                </a:rPr>
                <a:t>Python</a:t>
              </a:r>
              <a:r>
                <a:rPr lang="zh-CN" altLang="en-US" sz="2000" b="0" i="0">
                  <a:latin typeface="微软雅黑" panose="020B0503020204020204" charset="-122"/>
                  <a:ea typeface="微软雅黑" panose="020B0503020204020204" charset="-122"/>
                </a:rPr>
                <a:t>、</a:t>
              </a:r>
              <a:r>
                <a:rPr lang="en-US" altLang="zh-CN" sz="2000" b="0" i="0">
                  <a:latin typeface="微软雅黑" panose="020B0503020204020204" charset="-122"/>
                  <a:ea typeface="微软雅黑" panose="020B0503020204020204" charset="-122"/>
                </a:rPr>
                <a:t>R </a:t>
              </a:r>
              <a:r>
                <a:rPr lang="zh-CN" altLang="en-US" sz="2000" b="0" i="0">
                  <a:latin typeface="微软雅黑" panose="020B0503020204020204" charset="-122"/>
                  <a:ea typeface="微软雅黑" panose="020B0503020204020204" charset="-122"/>
                </a:rPr>
                <a:t>或</a:t>
              </a:r>
              <a:r>
                <a:rPr lang="en-US" altLang="zh-CN" sz="2000" b="0" i="0">
                  <a:latin typeface="微软雅黑" panose="020B0503020204020204" charset="-122"/>
                  <a:ea typeface="微软雅黑" panose="020B0503020204020204" charset="-122"/>
                </a:rPr>
                <a:t> Bash</a:t>
              </a:r>
              <a:r>
                <a:rPr lang="zh-CN" altLang="en-US" sz="2000" b="0" i="0">
                  <a:latin typeface="微软雅黑" panose="020B0503020204020204" charset="-122"/>
                  <a:ea typeface="微软雅黑" panose="020B0503020204020204" charset="-122"/>
                </a:rPr>
                <a:t>）中执行，并返回结果观察以指导后续推理。这种</a:t>
              </a:r>
              <a:r>
                <a:rPr lang="en-US" altLang="zh-CN" sz="2000" b="1" i="0">
                  <a:latin typeface="微软雅黑" panose="020B0503020204020204" charset="-122"/>
                  <a:ea typeface="微软雅黑" panose="020B0503020204020204" charset="-122"/>
                </a:rPr>
                <a:t>迭代方法</a:t>
              </a:r>
              <a:r>
                <a:rPr lang="zh-CN" altLang="en-US" sz="2000" b="0" i="0">
                  <a:latin typeface="微软雅黑" panose="020B0503020204020204" charset="-122"/>
                  <a:ea typeface="微软雅黑" panose="020B0503020204020204" charset="-122"/>
                </a:rPr>
                <a:t>持续进行，直到智能体收敛到一个准确、经过验证的解决方案。</a:t>
              </a:r>
              <a:endParaRPr lang="zh-CN" altLang="en-US" sz="2000" b="0" i="0">
                <a:latin typeface="微软雅黑" panose="020B0503020204020204" charset="-122"/>
                <a:ea typeface="微软雅黑" panose="020B0503020204020204" charset="-122"/>
              </a:endParaRPr>
            </a:p>
          </p:txBody>
        </p:sp>
      </p:grpSp>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grpSp>
        <p:nvGrpSpPr>
          <p:cNvPr id="12" name="组合 11"/>
          <p:cNvGrpSpPr/>
          <p:nvPr/>
        </p:nvGrpSpPr>
        <p:grpSpPr>
          <a:xfrm>
            <a:off x="820420" y="4683760"/>
            <a:ext cx="10413365" cy="1623060"/>
            <a:chOff x="1427" y="7376"/>
            <a:chExt cx="16399" cy="2556"/>
          </a:xfrm>
        </p:grpSpPr>
        <p:sp>
          <p:nvSpPr>
            <p:cNvPr id="6" name="圆角矩形 5"/>
            <p:cNvSpPr/>
            <p:nvPr/>
          </p:nvSpPr>
          <p:spPr>
            <a:xfrm>
              <a:off x="1427" y="7744"/>
              <a:ext cx="3838" cy="1821"/>
            </a:xfrm>
            <a:prstGeom prst="roundRect">
              <a:avLst/>
            </a:prstGeom>
            <a:ln w="28575" cmpd="sng">
              <a:solidFill>
                <a:schemeClr val="accent6">
                  <a:lumMod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zh-CN" altLang="en-US" sz="1600" b="1"/>
                <a:t>工具导入与</a:t>
              </a:r>
              <a:r>
                <a:rPr lang="zh-CN" altLang="en-US" sz="1600" b="1"/>
                <a:t>选择：</a:t>
              </a:r>
              <a:endParaRPr lang="zh-CN" altLang="en-US" sz="1600" b="1"/>
            </a:p>
            <a:p>
              <a:pPr algn="ctr"/>
              <a:r>
                <a:rPr lang="en-US" altLang="zh-CN" sz="1600"/>
                <a:t>read_module2api()</a:t>
              </a:r>
              <a:endParaRPr lang="en-US" altLang="zh-CN" sz="1600"/>
            </a:p>
            <a:p>
              <a:pPr algn="ctr"/>
              <a:r>
                <a:rPr lang="en-US" altLang="zh-CN" sz="1600"/>
                <a:t>ToolRegistry(module2api)</a:t>
              </a:r>
              <a:endParaRPr lang="en-US" altLang="zh-CN" sz="1600"/>
            </a:p>
            <a:p>
              <a:pPr algn="ctr"/>
              <a:r>
                <a:rPr lang="en-US" altLang="zh-CN" sz="1600"/>
                <a:t>ToolRetriever()</a:t>
              </a:r>
              <a:endParaRPr lang="en-US" altLang="zh-CN" sz="1600"/>
            </a:p>
          </p:txBody>
        </p:sp>
        <p:sp>
          <p:nvSpPr>
            <p:cNvPr id="8" name="圆角矩形 7"/>
            <p:cNvSpPr/>
            <p:nvPr/>
          </p:nvSpPr>
          <p:spPr>
            <a:xfrm>
              <a:off x="6879" y="7376"/>
              <a:ext cx="4667" cy="2556"/>
            </a:xfrm>
            <a:prstGeom prst="roundRect">
              <a:avLst/>
            </a:prstGeom>
            <a:ln w="28575" cmpd="sng">
              <a:solidFill>
                <a:schemeClr val="accent6">
                  <a:lumMod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zh-CN" altLang="en-US" sz="1600" b="1"/>
                <a:t>提示词</a:t>
              </a:r>
              <a:r>
                <a:rPr lang="zh-CN" altLang="en-US" sz="1600" b="1"/>
                <a:t>设置：</a:t>
              </a:r>
              <a:endParaRPr lang="zh-CN" altLang="en-US" sz="1600" b="1"/>
            </a:p>
            <a:p>
              <a:pPr algn="ctr"/>
              <a:r>
                <a:rPr lang="en-US" altLang="zh-CN" sz="1600"/>
                <a:t>A1._generate_system_prompt</a:t>
              </a:r>
              <a:endParaRPr lang="en-US" altLang="zh-CN" sz="1600"/>
            </a:p>
            <a:p>
              <a:pPr algn="ctr"/>
              <a:r>
                <a:rPr lang="zh-CN" altLang="en-US" sz="1600"/>
                <a:t>制定计划，并在每一步之后更新显示；在回复中可选择用</a:t>
              </a:r>
              <a:r>
                <a:rPr lang="en-US" altLang="zh-CN" sz="1600"/>
                <a:t>&lt;execute&gt;</a:t>
              </a:r>
              <a:r>
                <a:rPr lang="zh-CN" altLang="en-US" sz="1600"/>
                <a:t>执行代码，或用</a:t>
              </a:r>
              <a:r>
                <a:rPr lang="en-US" altLang="zh-CN" sz="1600"/>
                <a:t>&lt;solution&gt;</a:t>
              </a:r>
              <a:r>
                <a:rPr lang="zh-CN" altLang="en-US" sz="1600"/>
                <a:t>返回</a:t>
              </a:r>
              <a:r>
                <a:rPr lang="zh-CN" altLang="en-US" sz="1600"/>
                <a:t>最终回复</a:t>
              </a:r>
              <a:endParaRPr lang="zh-CN" altLang="en-US" sz="1600"/>
            </a:p>
          </p:txBody>
        </p:sp>
        <p:sp>
          <p:nvSpPr>
            <p:cNvPr id="9" name="右箭头 8"/>
            <p:cNvSpPr/>
            <p:nvPr/>
          </p:nvSpPr>
          <p:spPr>
            <a:xfrm>
              <a:off x="5553" y="8398"/>
              <a:ext cx="1038" cy="513"/>
            </a:xfrm>
            <a:prstGeom prst="rightArrow">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右箭头 9"/>
            <p:cNvSpPr/>
            <p:nvPr/>
          </p:nvSpPr>
          <p:spPr>
            <a:xfrm>
              <a:off x="11834" y="8398"/>
              <a:ext cx="1038" cy="513"/>
            </a:xfrm>
            <a:prstGeom prst="rightArrow">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圆角矩形 10"/>
            <p:cNvSpPr/>
            <p:nvPr/>
          </p:nvSpPr>
          <p:spPr>
            <a:xfrm>
              <a:off x="13160" y="7744"/>
              <a:ext cx="4667" cy="1820"/>
            </a:xfrm>
            <a:prstGeom prst="roundRect">
              <a:avLst/>
            </a:prstGeom>
            <a:ln w="28575" cmpd="sng">
              <a:solidFill>
                <a:schemeClr val="accent6">
                  <a:lumMod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zh-CN" altLang="en-US" sz="1600" b="1"/>
                <a:t>系统设置：</a:t>
              </a:r>
              <a:endParaRPr lang="zh-CN" altLang="en-US" sz="1600" b="1"/>
            </a:p>
            <a:p>
              <a:pPr algn="ctr"/>
              <a:r>
                <a:rPr lang="en-US" altLang="zh-CN" sz="1600"/>
                <a:t>A1.configure</a:t>
              </a:r>
              <a:endParaRPr lang="en-US" altLang="zh-CN" sz="1600"/>
            </a:p>
            <a:p>
              <a:pPr algn="ctr"/>
              <a:r>
                <a:rPr lang="zh-CN" altLang="en-US" sz="1600"/>
                <a:t>设置数据、工具、</a:t>
              </a:r>
              <a:r>
                <a:rPr lang="zh-CN" altLang="en-US" sz="1600"/>
                <a:t>软件</a:t>
              </a:r>
              <a:endParaRPr lang="zh-CN" altLang="en-US" sz="1600"/>
            </a:p>
            <a:p>
              <a:pPr algn="ctr"/>
              <a:r>
                <a:rPr lang="zh-CN" altLang="en-US" sz="1600"/>
                <a:t>更新</a:t>
              </a:r>
              <a:r>
                <a:rPr lang="zh-CN" altLang="en-US" sz="1600"/>
                <a:t>系统提示词</a:t>
              </a:r>
              <a:endParaRPr lang="zh-CN" altLang="en-US" sz="1600"/>
            </a:p>
          </p:txBody>
        </p:sp>
      </p:grpSp>
      <p:pic>
        <p:nvPicPr>
          <p:cNvPr id="7" name="图片 6" descr="logo"/>
          <p:cNvPicPr>
            <a:picLocks noChangeAspect="1"/>
          </p:cNvPicPr>
          <p:nvPr/>
        </p:nvPicPr>
        <p:blipFill>
          <a:blip r:embed="rId1"/>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strips(down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Results-Overview of Biomni</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grpSp>
        <p:nvGrpSpPr>
          <p:cNvPr id="22" name="组合 21"/>
          <p:cNvGrpSpPr/>
          <p:nvPr/>
        </p:nvGrpSpPr>
        <p:grpSpPr>
          <a:xfrm>
            <a:off x="474980" y="1696085"/>
            <a:ext cx="10777220" cy="3724910"/>
            <a:chOff x="748" y="2671"/>
            <a:chExt cx="16972" cy="5866"/>
          </a:xfrm>
        </p:grpSpPr>
        <p:sp>
          <p:nvSpPr>
            <p:cNvPr id="29" name="矩形 28"/>
            <p:cNvSpPr/>
            <p:nvPr/>
          </p:nvSpPr>
          <p:spPr>
            <a:xfrm>
              <a:off x="748" y="2671"/>
              <a:ext cx="16972" cy="5867"/>
            </a:xfrm>
            <a:prstGeom prst="rect">
              <a:avLst/>
            </a:prstGeom>
            <a:solidFill>
              <a:schemeClr val="bg1">
                <a:lumMod val="95000"/>
                <a:alpha val="2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5" name="组合 24"/>
            <p:cNvGrpSpPr/>
            <p:nvPr/>
          </p:nvGrpSpPr>
          <p:grpSpPr>
            <a:xfrm>
              <a:off x="979" y="2882"/>
              <a:ext cx="16473" cy="5398"/>
              <a:chOff x="977" y="3419"/>
              <a:chExt cx="16473" cy="5398"/>
            </a:xfrm>
          </p:grpSpPr>
          <p:grpSp>
            <p:nvGrpSpPr>
              <p:cNvPr id="19" name="组合 18"/>
              <p:cNvGrpSpPr/>
              <p:nvPr/>
            </p:nvGrpSpPr>
            <p:grpSpPr>
              <a:xfrm>
                <a:off x="2262" y="3419"/>
                <a:ext cx="15189" cy="5399"/>
                <a:chOff x="448" y="2827"/>
                <a:chExt cx="15189" cy="5399"/>
              </a:xfrm>
            </p:grpSpPr>
            <p:sp>
              <p:nvSpPr>
                <p:cNvPr id="6" name="圆角矩形 5"/>
                <p:cNvSpPr/>
                <p:nvPr/>
              </p:nvSpPr>
              <p:spPr>
                <a:xfrm>
                  <a:off x="2569" y="3825"/>
                  <a:ext cx="3838" cy="1821"/>
                </a:xfrm>
                <a:prstGeom prst="roundRect">
                  <a:avLst/>
                </a:prstGeom>
                <a:ln w="28575" cmpd="sng">
                  <a:solidFill>
                    <a:schemeClr val="accent6">
                      <a:lumMod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en-US" altLang="zh-CN" sz="2000" b="1">
                      <a:solidFill>
                        <a:schemeClr val="accent6">
                          <a:lumMod val="50000"/>
                        </a:schemeClr>
                      </a:solidFill>
                      <a:latin typeface="微软雅黑" panose="020B0503020204020204" charset="-122"/>
                      <a:ea typeface="微软雅黑" panose="020B0503020204020204" charset="-122"/>
                      <a:cs typeface="微软雅黑" panose="020B0503020204020204" charset="-122"/>
                    </a:rPr>
                    <a:t>Gnerate</a:t>
                  </a:r>
                  <a:r>
                    <a:rPr lang="zh-CN" altLang="en-US" sz="2000" b="1">
                      <a:solidFill>
                        <a:schemeClr val="accent6">
                          <a:lumMod val="50000"/>
                        </a:schemeClr>
                      </a:solidFill>
                      <a:latin typeface="微软雅黑" panose="020B0503020204020204" charset="-122"/>
                      <a:ea typeface="微软雅黑" panose="020B0503020204020204" charset="-122"/>
                      <a:cs typeface="微软雅黑" panose="020B0503020204020204" charset="-122"/>
                    </a:rPr>
                    <a:t>节点：</a:t>
                  </a:r>
                  <a:endParaRPr lang="zh-CN" altLang="en-US" sz="2000" b="1">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1600" b="1">
                      <a:latin typeface="微软雅黑" panose="020B0503020204020204" charset="-122"/>
                      <a:ea typeface="微软雅黑" panose="020B0503020204020204" charset="-122"/>
                      <a:cs typeface="微软雅黑" panose="020B0503020204020204" charset="-122"/>
                    </a:rPr>
                    <a:t>产生</a:t>
                  </a:r>
                  <a:r>
                    <a:rPr lang="zh-CN" altLang="en-US" sz="1600" b="1">
                      <a:latin typeface="微软雅黑" panose="020B0503020204020204" charset="-122"/>
                      <a:ea typeface="微软雅黑" panose="020B0503020204020204" charset="-122"/>
                      <a:cs typeface="微软雅黑" panose="020B0503020204020204" charset="-122"/>
                    </a:rPr>
                    <a:t>回复，匹配标签</a:t>
                  </a:r>
                  <a:r>
                    <a:rPr lang="en-US" altLang="zh-CN" sz="1600">
                      <a:latin typeface="微软雅黑" panose="020B0503020204020204" charset="-122"/>
                      <a:ea typeface="微软雅黑" panose="020B0503020204020204" charset="-122"/>
                      <a:cs typeface="微软雅黑" panose="020B0503020204020204" charset="-122"/>
                    </a:rPr>
                    <a:t>&lt;think&gt;&lt;execute&gt;</a:t>
                  </a:r>
                  <a:endParaRPr lang="en-US" altLang="zh-CN" sz="1600">
                    <a:latin typeface="微软雅黑" panose="020B0503020204020204" charset="-122"/>
                    <a:ea typeface="微软雅黑" panose="020B0503020204020204" charset="-122"/>
                    <a:cs typeface="微软雅黑" panose="020B0503020204020204" charset="-122"/>
                  </a:endParaRPr>
                </a:p>
                <a:p>
                  <a:pPr algn="ctr"/>
                  <a:r>
                    <a:rPr lang="en-US" altLang="zh-CN" sz="1600">
                      <a:latin typeface="微软雅黑" panose="020B0503020204020204" charset="-122"/>
                      <a:ea typeface="微软雅黑" panose="020B0503020204020204" charset="-122"/>
                      <a:cs typeface="微软雅黑" panose="020B0503020204020204" charset="-122"/>
                    </a:rPr>
                    <a:t>&lt;solution&gt;</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10" name="右箭头 9"/>
                <p:cNvSpPr/>
                <p:nvPr/>
              </p:nvSpPr>
              <p:spPr>
                <a:xfrm>
                  <a:off x="7191" y="4479"/>
                  <a:ext cx="1760" cy="513"/>
                </a:xfrm>
                <a:prstGeom prst="rightArrow">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圆角矩形 10"/>
                <p:cNvSpPr/>
                <p:nvPr/>
              </p:nvSpPr>
              <p:spPr>
                <a:xfrm>
                  <a:off x="9735" y="3173"/>
                  <a:ext cx="5902" cy="3126"/>
                </a:xfrm>
                <a:prstGeom prst="roundRect">
                  <a:avLst/>
                </a:prstGeom>
                <a:ln w="28575" cmpd="sng">
                  <a:solidFill>
                    <a:schemeClr val="accent6">
                      <a:lumMod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buClrTx/>
                    <a:buSzTx/>
                    <a:buFontTx/>
                  </a:pPr>
                  <a:r>
                    <a:rPr lang="en-US" altLang="zh-CN" sz="2000"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rPr>
                    <a:t>Execute</a:t>
                  </a:r>
                  <a:r>
                    <a:rPr lang="en-US" altLang="zh-CN" sz="2000"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rPr>
                    <a:t>节点：</a:t>
                  </a:r>
                  <a:endParaRPr lang="en-US" altLang="zh-CN" sz="2000" b="1">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1600" b="1">
                      <a:latin typeface="微软雅黑" panose="020B0503020204020204" charset="-122"/>
                      <a:ea typeface="微软雅黑" panose="020B0503020204020204" charset="-122"/>
                      <a:cs typeface="微软雅黑" panose="020B0503020204020204" charset="-122"/>
                    </a:rPr>
                    <a:t>提取代码</a:t>
                  </a:r>
                  <a:endParaRPr lang="zh-CN" altLang="en-US" sz="1600" b="1">
                    <a:latin typeface="微软雅黑" panose="020B0503020204020204" charset="-122"/>
                    <a:ea typeface="微软雅黑" panose="020B0503020204020204" charset="-122"/>
                    <a:cs typeface="微软雅黑" panose="020B0503020204020204" charset="-122"/>
                  </a:endParaRPr>
                </a:p>
                <a:p>
                  <a:pPr algn="ctr"/>
                  <a:r>
                    <a:rPr lang="zh-CN" altLang="en-US" sz="1600" b="1">
                      <a:latin typeface="微软雅黑" panose="020B0503020204020204" charset="-122"/>
                      <a:ea typeface="微软雅黑" panose="020B0503020204020204" charset="-122"/>
                      <a:cs typeface="微软雅黑" panose="020B0503020204020204" charset="-122"/>
                    </a:rPr>
                    <a:t>部署环境</a:t>
                  </a:r>
                  <a:r>
                    <a:rPr lang="en-US" altLang="zh-CN" sz="1600"/>
                    <a:t>_inject_custom_functions_to_repl()</a:t>
                  </a:r>
                  <a:endParaRPr lang="en-US" altLang="zh-CN" sz="1600"/>
                </a:p>
                <a:p>
                  <a:pPr algn="ctr"/>
                  <a:r>
                    <a:rPr lang="zh-CN" altLang="en-US" sz="1600" b="1"/>
                    <a:t>执行代码</a:t>
                  </a:r>
                  <a:endParaRPr lang="zh-CN" altLang="en-US" sz="1600" b="1"/>
                </a:p>
                <a:p>
                  <a:pPr algn="ctr"/>
                  <a:r>
                    <a:rPr lang="en-US" altLang="zh-CN" sz="1600"/>
                    <a:t>run_with_timeout</a:t>
                  </a:r>
                  <a:endParaRPr lang="en-US" altLang="zh-CN" sz="1600"/>
                </a:p>
                <a:p>
                  <a:pPr algn="ctr"/>
                  <a:r>
                    <a:rPr lang="zh-CN" altLang="en-US" sz="1600" b="1"/>
                    <a:t>得到结果</a:t>
                  </a:r>
                  <a:r>
                    <a:rPr lang="en-US" altLang="zh-CN" sz="1600"/>
                    <a:t>&lt;observation&gt;</a:t>
                  </a:r>
                  <a:endParaRPr lang="en-US" altLang="zh-CN" sz="1600"/>
                </a:p>
              </p:txBody>
            </p:sp>
            <p:sp>
              <p:nvSpPr>
                <p:cNvPr id="13" name="文本框 12"/>
                <p:cNvSpPr txBox="1"/>
                <p:nvPr/>
              </p:nvSpPr>
              <p:spPr>
                <a:xfrm>
                  <a:off x="6407" y="3825"/>
                  <a:ext cx="3583" cy="531"/>
                </a:xfrm>
                <a:prstGeom prst="rect">
                  <a:avLst/>
                </a:prstGeom>
                <a:noFill/>
              </p:spPr>
              <p:txBody>
                <a:bodyPr wrap="square" rtlCol="0" anchor="t">
                  <a:spAutoFit/>
                </a:bodyPr>
                <a:p>
                  <a:pPr algn="ctr"/>
                  <a:r>
                    <a:rPr lang="zh-CN" altLang="en-US" sz="1600" b="1">
                      <a:latin typeface="微软雅黑" panose="020B0503020204020204" charset="-122"/>
                      <a:ea typeface="微软雅黑" panose="020B0503020204020204" charset="-122"/>
                      <a:cs typeface="微软雅黑" panose="020B0503020204020204" charset="-122"/>
                      <a:sym typeface="+mn-ea"/>
                    </a:rPr>
                    <a:t>匹配到</a:t>
                  </a:r>
                  <a:r>
                    <a:rPr lang="en-US" altLang="zh-CN" sz="1600" b="1">
                      <a:latin typeface="微软雅黑" panose="020B0503020204020204" charset="-122"/>
                      <a:ea typeface="微软雅黑" panose="020B0503020204020204" charset="-122"/>
                      <a:cs typeface="微软雅黑" panose="020B0503020204020204" charset="-122"/>
                      <a:sym typeface="+mn-ea"/>
                    </a:rPr>
                    <a:t>&lt;execute&gt;</a:t>
                  </a:r>
                  <a:endParaRPr lang="en-US" altLang="zh-CN" sz="1600" b="1">
                    <a:latin typeface="微软雅黑" panose="020B0503020204020204" charset="-122"/>
                    <a:ea typeface="微软雅黑" panose="020B0503020204020204" charset="-122"/>
                    <a:cs typeface="微软雅黑" panose="020B0503020204020204" charset="-122"/>
                    <a:sym typeface="+mn-ea"/>
                  </a:endParaRPr>
                </a:p>
              </p:txBody>
            </p:sp>
            <p:sp>
              <p:nvSpPr>
                <p:cNvPr id="14" name="上弧形箭头 13"/>
                <p:cNvSpPr/>
                <p:nvPr/>
              </p:nvSpPr>
              <p:spPr>
                <a:xfrm>
                  <a:off x="3543" y="2827"/>
                  <a:ext cx="1855" cy="724"/>
                </a:xfrm>
                <a:prstGeom prst="curvedDownArrow">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5" name="文本框 14"/>
                <p:cNvSpPr txBox="1"/>
                <p:nvPr/>
              </p:nvSpPr>
              <p:spPr>
                <a:xfrm>
                  <a:off x="448" y="2923"/>
                  <a:ext cx="3583" cy="531"/>
                </a:xfrm>
                <a:prstGeom prst="rect">
                  <a:avLst/>
                </a:prstGeom>
                <a:noFill/>
              </p:spPr>
              <p:txBody>
                <a:bodyPr wrap="square" rtlCol="0" anchor="t">
                  <a:spAutoFit/>
                </a:bodyPr>
                <a:p>
                  <a:pPr algn="ctr"/>
                  <a:r>
                    <a:rPr lang="zh-CN" altLang="en-US" sz="1600" b="1">
                      <a:latin typeface="微软雅黑" panose="020B0503020204020204" charset="-122"/>
                      <a:ea typeface="微软雅黑" panose="020B0503020204020204" charset="-122"/>
                      <a:cs typeface="微软雅黑" panose="020B0503020204020204" charset="-122"/>
                      <a:sym typeface="+mn-ea"/>
                    </a:rPr>
                    <a:t>匹配到</a:t>
                  </a:r>
                  <a:r>
                    <a:rPr lang="en-US" altLang="zh-CN" sz="1600" b="1">
                      <a:latin typeface="微软雅黑" panose="020B0503020204020204" charset="-122"/>
                      <a:ea typeface="微软雅黑" panose="020B0503020204020204" charset="-122"/>
                      <a:cs typeface="微软雅黑" panose="020B0503020204020204" charset="-122"/>
                      <a:sym typeface="+mn-ea"/>
                    </a:rPr>
                    <a:t>&lt;</a:t>
                  </a:r>
                  <a:r>
                    <a:rPr lang="en-US" altLang="zh-CN" sz="1600" b="1">
                      <a:latin typeface="微软雅黑" panose="020B0503020204020204" charset="-122"/>
                      <a:ea typeface="微软雅黑" panose="020B0503020204020204" charset="-122"/>
                      <a:cs typeface="微软雅黑" panose="020B0503020204020204" charset="-122"/>
                      <a:sym typeface="+mn-ea"/>
                    </a:rPr>
                    <a:t>think&gt;</a:t>
                  </a:r>
                  <a:endParaRPr lang="en-US" altLang="zh-CN" sz="1600" b="1">
                    <a:latin typeface="微软雅黑" panose="020B0503020204020204" charset="-122"/>
                    <a:ea typeface="微软雅黑" panose="020B0503020204020204" charset="-122"/>
                    <a:cs typeface="微软雅黑" panose="020B0503020204020204" charset="-122"/>
                    <a:sym typeface="+mn-ea"/>
                  </a:endParaRPr>
                </a:p>
              </p:txBody>
            </p:sp>
            <p:grpSp>
              <p:nvGrpSpPr>
                <p:cNvPr id="18" name="组合 17"/>
                <p:cNvGrpSpPr/>
                <p:nvPr/>
              </p:nvGrpSpPr>
              <p:grpSpPr>
                <a:xfrm>
                  <a:off x="595" y="5929"/>
                  <a:ext cx="12139" cy="2297"/>
                  <a:chOff x="595" y="5929"/>
                  <a:chExt cx="12139" cy="2297"/>
                </a:xfrm>
              </p:grpSpPr>
              <p:sp>
                <p:nvSpPr>
                  <p:cNvPr id="8" name="圆角矩形 7"/>
                  <p:cNvSpPr/>
                  <p:nvPr/>
                </p:nvSpPr>
                <p:spPr>
                  <a:xfrm>
                    <a:off x="3543" y="7595"/>
                    <a:ext cx="1891" cy="631"/>
                  </a:xfrm>
                  <a:prstGeom prst="roundRect">
                    <a:avLst/>
                  </a:prstGeom>
                  <a:ln w="28575" cmpd="sng">
                    <a:solidFill>
                      <a:schemeClr val="accent6">
                        <a:lumMod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en-US" altLang="zh-CN" sz="2000" b="1">
                        <a:solidFill>
                          <a:schemeClr val="accent6">
                            <a:lumMod val="50000"/>
                          </a:schemeClr>
                        </a:solidFill>
                        <a:latin typeface="微软雅黑" panose="020B0503020204020204" charset="-122"/>
                        <a:ea typeface="微软雅黑" panose="020B0503020204020204" charset="-122"/>
                      </a:rPr>
                      <a:t>END</a:t>
                    </a:r>
                    <a:endParaRPr lang="en-US" altLang="zh-CN" sz="2000" b="1">
                      <a:solidFill>
                        <a:schemeClr val="accent6">
                          <a:lumMod val="50000"/>
                        </a:schemeClr>
                      </a:solidFill>
                      <a:latin typeface="微软雅黑" panose="020B0503020204020204" charset="-122"/>
                      <a:ea typeface="微软雅黑" panose="020B0503020204020204" charset="-122"/>
                    </a:endParaRPr>
                  </a:p>
                </p:txBody>
              </p:sp>
              <p:sp>
                <p:nvSpPr>
                  <p:cNvPr id="9" name="右箭头 8"/>
                  <p:cNvSpPr/>
                  <p:nvPr/>
                </p:nvSpPr>
                <p:spPr>
                  <a:xfrm rot="5400000">
                    <a:off x="3785" y="6374"/>
                    <a:ext cx="1404" cy="513"/>
                  </a:xfrm>
                  <a:prstGeom prst="rightArrow">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595" y="5929"/>
                    <a:ext cx="3688" cy="919"/>
                  </a:xfrm>
                  <a:prstGeom prst="rect">
                    <a:avLst/>
                  </a:prstGeom>
                  <a:noFill/>
                </p:spPr>
                <p:txBody>
                  <a:bodyPr wrap="square" rtlCol="0" anchor="t">
                    <a:spAutoFit/>
                  </a:bodyPr>
                  <a:p>
                    <a:pPr algn="ctr"/>
                    <a:r>
                      <a:rPr lang="zh-CN" altLang="en-US" sz="1600" b="1">
                        <a:latin typeface="微软雅黑" panose="020B0503020204020204" charset="-122"/>
                        <a:ea typeface="微软雅黑" panose="020B0503020204020204" charset="-122"/>
                        <a:cs typeface="微软雅黑" panose="020B0503020204020204" charset="-122"/>
                        <a:sym typeface="+mn-ea"/>
                      </a:rPr>
                      <a:t>超过两次不匹配</a:t>
                    </a:r>
                    <a:r>
                      <a:rPr lang="en-US" altLang="zh-CN" sz="1600" b="1">
                        <a:latin typeface="微软雅黑" panose="020B0503020204020204" charset="-122"/>
                        <a:ea typeface="微软雅黑" panose="020B0503020204020204" charset="-122"/>
                        <a:cs typeface="微软雅黑" panose="020B0503020204020204" charset="-122"/>
                        <a:sym typeface="+mn-ea"/>
                      </a:rPr>
                      <a:t>/</a:t>
                    </a:r>
                    <a:endParaRPr lang="en-US" altLang="zh-CN" sz="1600" b="1">
                      <a:latin typeface="微软雅黑" panose="020B0503020204020204" charset="-122"/>
                      <a:ea typeface="微软雅黑" panose="020B0503020204020204" charset="-122"/>
                      <a:cs typeface="微软雅黑" panose="020B0503020204020204" charset="-122"/>
                      <a:sym typeface="+mn-ea"/>
                    </a:endParaRPr>
                  </a:p>
                  <a:p>
                    <a:pPr algn="ctr"/>
                    <a:r>
                      <a:rPr lang="zh-CN" altLang="en-US" sz="1600" b="1">
                        <a:latin typeface="微软雅黑" panose="020B0503020204020204" charset="-122"/>
                        <a:ea typeface="微软雅黑" panose="020B0503020204020204" charset="-122"/>
                        <a:cs typeface="微软雅黑" panose="020B0503020204020204" charset="-122"/>
                        <a:sym typeface="+mn-ea"/>
                      </a:rPr>
                      <a:t>匹配到</a:t>
                    </a:r>
                    <a:r>
                      <a:rPr lang="en-US" altLang="zh-CN" sz="1600" b="1">
                        <a:latin typeface="微软雅黑" panose="020B0503020204020204" charset="-122"/>
                        <a:ea typeface="微软雅黑" panose="020B0503020204020204" charset="-122"/>
                        <a:cs typeface="微软雅黑" panose="020B0503020204020204" charset="-122"/>
                        <a:sym typeface="+mn-ea"/>
                      </a:rPr>
                      <a:t>&lt;solution&gt;</a:t>
                    </a:r>
                    <a:endParaRPr lang="zh-CN" altLang="en-US" sz="1600" b="1">
                      <a:latin typeface="微软雅黑" panose="020B0503020204020204" charset="-122"/>
                      <a:ea typeface="微软雅黑" panose="020B0503020204020204" charset="-122"/>
                      <a:cs typeface="微软雅黑" panose="020B0503020204020204" charset="-122"/>
                      <a:sym typeface="+mn-ea"/>
                    </a:endParaRPr>
                  </a:p>
                </p:txBody>
              </p:sp>
              <p:sp>
                <p:nvSpPr>
                  <p:cNvPr id="16" name="上弧形箭头 15"/>
                  <p:cNvSpPr/>
                  <p:nvPr/>
                </p:nvSpPr>
                <p:spPr>
                  <a:xfrm rot="11220000">
                    <a:off x="5668" y="6126"/>
                    <a:ext cx="7066" cy="1458"/>
                  </a:xfrm>
                  <a:prstGeom prst="curvedDownArrow">
                    <a:avLst>
                      <a:gd name="adj1" fmla="val 25000"/>
                      <a:gd name="adj2" fmla="val 50000"/>
                      <a:gd name="adj3" fmla="val 21823"/>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grpSp>
          <p:sp>
            <p:nvSpPr>
              <p:cNvPr id="17" name="圆角矩形 16"/>
              <p:cNvSpPr/>
              <p:nvPr/>
            </p:nvSpPr>
            <p:spPr>
              <a:xfrm>
                <a:off x="977" y="4968"/>
                <a:ext cx="1891" cy="688"/>
              </a:xfrm>
              <a:prstGeom prst="roundRect">
                <a:avLst/>
              </a:prstGeom>
              <a:ln w="28575" cmpd="sng">
                <a:solidFill>
                  <a:schemeClr val="accent6">
                    <a:lumMod val="50000"/>
                  </a:schemeClr>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en-US" altLang="zh-CN" sz="2000" b="1">
                    <a:solidFill>
                      <a:schemeClr val="accent6">
                        <a:lumMod val="50000"/>
                      </a:schemeClr>
                    </a:solidFill>
                    <a:latin typeface="微软雅黑" panose="020B0503020204020204" charset="-122"/>
                    <a:ea typeface="微软雅黑" panose="020B0503020204020204" charset="-122"/>
                  </a:rPr>
                  <a:t>START</a:t>
                </a:r>
                <a:endParaRPr lang="en-US" altLang="zh-CN" sz="2000" b="1">
                  <a:solidFill>
                    <a:schemeClr val="accent6">
                      <a:lumMod val="50000"/>
                    </a:schemeClr>
                  </a:solidFill>
                  <a:latin typeface="微软雅黑" panose="020B0503020204020204" charset="-122"/>
                  <a:ea typeface="微软雅黑" panose="020B0503020204020204" charset="-122"/>
                </a:endParaRPr>
              </a:p>
            </p:txBody>
          </p:sp>
          <p:sp>
            <p:nvSpPr>
              <p:cNvPr id="20" name="右箭头 19"/>
              <p:cNvSpPr/>
              <p:nvPr/>
            </p:nvSpPr>
            <p:spPr>
              <a:xfrm>
                <a:off x="2996" y="5071"/>
                <a:ext cx="1259" cy="513"/>
              </a:xfrm>
              <a:prstGeom prst="rightArrow">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grpSp>
        <p:nvGrpSpPr>
          <p:cNvPr id="21" name="组合 20"/>
          <p:cNvGrpSpPr/>
          <p:nvPr/>
        </p:nvGrpSpPr>
        <p:grpSpPr>
          <a:xfrm>
            <a:off x="284480" y="762635"/>
            <a:ext cx="8731885" cy="891540"/>
            <a:chOff x="448" y="1201"/>
            <a:chExt cx="13751" cy="1404"/>
          </a:xfrm>
        </p:grpSpPr>
        <p:sp>
          <p:nvSpPr>
            <p:cNvPr id="24" name="文本框 23"/>
            <p:cNvSpPr txBox="1"/>
            <p:nvPr/>
          </p:nvSpPr>
          <p:spPr>
            <a:xfrm>
              <a:off x="9007" y="1201"/>
              <a:ext cx="5193" cy="1404"/>
            </a:xfrm>
            <a:prstGeom prst="rect">
              <a:avLst/>
            </a:prstGeom>
            <a:noFill/>
          </p:spPr>
          <p:txBody>
            <a:bodyPr wrap="square" rtlCol="0" anchor="t">
              <a:spAutoFit/>
            </a:bodyPr>
            <a:p>
              <a:pPr algn="ctr"/>
              <a:r>
                <a:rPr lang="en-US" altLang="zh-CN" sz="2000" b="1">
                  <a:solidFill>
                    <a:schemeClr val="accent6">
                      <a:lumMod val="50000"/>
                    </a:schemeClr>
                  </a:solidFill>
                  <a:latin typeface="微软雅黑" panose="020B0503020204020204" charset="-122"/>
                  <a:ea typeface="微软雅黑" panose="020B0503020204020204" charset="-122"/>
                  <a:sym typeface="+mn-ea"/>
                </a:rPr>
                <a:t>AgentState</a:t>
              </a:r>
              <a:endParaRPr lang="en-US" altLang="zh-CN" sz="2000" b="1">
                <a:solidFill>
                  <a:schemeClr val="accent6">
                    <a:lumMod val="50000"/>
                  </a:schemeClr>
                </a:solidFill>
                <a:latin typeface="微软雅黑" panose="020B0503020204020204" charset="-122"/>
                <a:ea typeface="微软雅黑" panose="020B0503020204020204" charset="-122"/>
              </a:endParaRPr>
            </a:p>
            <a:p>
              <a:pPr marL="285750" indent="-285750" algn="l">
                <a:buClrTx/>
                <a:buSzTx/>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messages: list[BaseMessage]</a:t>
              </a:r>
              <a:endParaRPr lang="zh-CN" altLang="en-US" sz="1600">
                <a:latin typeface="微软雅黑" panose="020B0503020204020204" charset="-122"/>
                <a:ea typeface="微软雅黑" panose="020B0503020204020204" charset="-122"/>
                <a:cs typeface="微软雅黑" panose="020B0503020204020204" charset="-122"/>
              </a:endParaRPr>
            </a:p>
            <a:p>
              <a:pPr marL="285750" indent="-285750" algn="l">
                <a:buClrTx/>
                <a:buSzTx/>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sym typeface="+mn-ea"/>
                </a:rPr>
                <a:t>    next_step: str | None</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sp>
          <p:nvSpPr>
            <p:cNvPr id="30" name="圆角矩形 29"/>
            <p:cNvSpPr/>
            <p:nvPr/>
          </p:nvSpPr>
          <p:spPr>
            <a:xfrm>
              <a:off x="448" y="1420"/>
              <a:ext cx="8080"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400" b="1">
                  <a:solidFill>
                    <a:schemeClr val="accent6">
                      <a:lumMod val="50000"/>
                    </a:schemeClr>
                  </a:solidFill>
                  <a:latin typeface="微软雅黑" panose="020B0503020204020204" charset="-122"/>
                  <a:ea typeface="微软雅黑" panose="020B0503020204020204" charset="-122"/>
                </a:rPr>
                <a:t>Biomni-A1</a:t>
              </a:r>
              <a:r>
                <a:rPr lang="zh-CN" altLang="en-US" sz="2400" b="1">
                  <a:solidFill>
                    <a:schemeClr val="accent6">
                      <a:lumMod val="50000"/>
                    </a:schemeClr>
                  </a:solidFill>
                  <a:latin typeface="微软雅黑" panose="020B0503020204020204" charset="-122"/>
                  <a:ea typeface="微软雅黑" panose="020B0503020204020204" charset="-122"/>
                </a:rPr>
                <a:t>：</a:t>
              </a:r>
              <a:r>
                <a:rPr lang="en-US" altLang="zh-CN" sz="2200" b="1">
                  <a:solidFill>
                    <a:schemeClr val="accent6">
                      <a:lumMod val="50000"/>
                    </a:schemeClr>
                  </a:solidFill>
                  <a:latin typeface="微软雅黑" panose="020B0503020204020204" charset="-122"/>
                  <a:ea typeface="微软雅黑" panose="020B0503020204020204" charset="-122"/>
                </a:rPr>
                <a:t>WorkFlow Configure</a:t>
              </a:r>
              <a:endParaRPr lang="en-US" altLang="zh-CN" sz="2200" b="1">
                <a:solidFill>
                  <a:schemeClr val="accent6">
                    <a:lumMod val="50000"/>
                  </a:schemeClr>
                </a:solidFill>
                <a:latin typeface="微软雅黑" panose="020B0503020204020204" charset="-122"/>
                <a:ea typeface="微软雅黑" panose="020B0503020204020204" charset="-122"/>
              </a:endParaRPr>
            </a:p>
          </p:txBody>
        </p:sp>
      </p:grpSp>
      <p:grpSp>
        <p:nvGrpSpPr>
          <p:cNvPr id="23" name="组合 22"/>
          <p:cNvGrpSpPr/>
          <p:nvPr/>
        </p:nvGrpSpPr>
        <p:grpSpPr>
          <a:xfrm>
            <a:off x="284480" y="5589270"/>
            <a:ext cx="10966450" cy="1106170"/>
            <a:chOff x="448" y="8802"/>
            <a:chExt cx="17270" cy="1742"/>
          </a:xfrm>
        </p:grpSpPr>
        <p:sp>
          <p:nvSpPr>
            <p:cNvPr id="31" name="圆角矩形 30"/>
            <p:cNvSpPr/>
            <p:nvPr/>
          </p:nvSpPr>
          <p:spPr>
            <a:xfrm>
              <a:off x="448" y="9066"/>
              <a:ext cx="4148"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400" b="1">
                  <a:solidFill>
                    <a:schemeClr val="accent6">
                      <a:lumMod val="50000"/>
                    </a:schemeClr>
                  </a:solidFill>
                  <a:latin typeface="微软雅黑" panose="020B0503020204020204" charset="-122"/>
                  <a:ea typeface="微软雅黑" panose="020B0503020204020204" charset="-122"/>
                </a:rPr>
                <a:t>Biomni-A1</a:t>
              </a:r>
              <a:r>
                <a:rPr lang="zh-CN" altLang="en-US" sz="2400" b="1">
                  <a:solidFill>
                    <a:schemeClr val="accent6">
                      <a:lumMod val="50000"/>
                    </a:schemeClr>
                  </a:solidFill>
                  <a:latin typeface="微软雅黑" panose="020B0503020204020204" charset="-122"/>
                  <a:ea typeface="微软雅黑" panose="020B0503020204020204" charset="-122"/>
                </a:rPr>
                <a:t>：</a:t>
              </a:r>
              <a:r>
                <a:rPr lang="en-US" altLang="zh-CN" sz="2200" b="1">
                  <a:solidFill>
                    <a:schemeClr val="accent6">
                      <a:lumMod val="50000"/>
                    </a:schemeClr>
                  </a:solidFill>
                  <a:latin typeface="微软雅黑" panose="020B0503020204020204" charset="-122"/>
                  <a:ea typeface="微软雅黑" panose="020B0503020204020204" charset="-122"/>
                </a:rPr>
                <a:t>go</a:t>
              </a:r>
              <a:endParaRPr lang="en-US" altLang="zh-CN" sz="2200" b="1">
                <a:solidFill>
                  <a:schemeClr val="accent6">
                    <a:lumMod val="50000"/>
                  </a:schemeClr>
                </a:solidFill>
                <a:latin typeface="微软雅黑" panose="020B0503020204020204" charset="-122"/>
                <a:ea typeface="微软雅黑" panose="020B0503020204020204" charset="-122"/>
              </a:endParaRPr>
            </a:p>
          </p:txBody>
        </p:sp>
        <p:sp>
          <p:nvSpPr>
            <p:cNvPr id="32" name="文本框 31"/>
            <p:cNvSpPr txBox="1"/>
            <p:nvPr/>
          </p:nvSpPr>
          <p:spPr>
            <a:xfrm>
              <a:off x="4855" y="8802"/>
              <a:ext cx="5912" cy="1743"/>
            </a:xfrm>
            <a:prstGeom prst="rect">
              <a:avLst/>
            </a:prstGeom>
            <a:solidFill>
              <a:schemeClr val="bg1">
                <a:lumMod val="95000"/>
                <a:alpha val="27000"/>
              </a:schemeClr>
            </a:solidFill>
          </p:spPr>
          <p:txBody>
            <a:bodyPr wrap="square" rtlCol="0" anchor="t">
              <a:spAutoFit/>
            </a:bodyPr>
            <a:p>
              <a:pPr algn="ctr"/>
              <a:r>
                <a:rPr lang="zh-CN" altLang="en-US" b="1">
                  <a:solidFill>
                    <a:schemeClr val="tx1"/>
                  </a:solidFill>
                  <a:latin typeface="微软雅黑" panose="020B0503020204020204" charset="-122"/>
                  <a:ea typeface="微软雅黑" panose="020B0503020204020204" charset="-122"/>
                </a:rPr>
                <a:t>工具准备</a:t>
              </a:r>
              <a:endParaRPr lang="en-US" altLang="zh-CN" b="1">
                <a:solidFill>
                  <a:schemeClr val="tx1"/>
                </a:solidFill>
                <a:latin typeface="微软雅黑" panose="020B0503020204020204" charset="-122"/>
                <a:ea typeface="微软雅黑" panose="020B0503020204020204" charset="-122"/>
              </a:endParaRPr>
            </a:p>
            <a:p>
              <a:pPr marL="285750" indent="-285750" algn="l">
                <a:buClrTx/>
                <a:buSzTx/>
                <a:buFont typeface="Arial" panose="020B0604020202020204" pitchFamily="34" charset="0"/>
                <a:buChar char="•"/>
              </a:pPr>
              <a:r>
                <a:rPr lang="zh-CN" altLang="en-US" sz="1600">
                  <a:latin typeface="微软雅黑" panose="020B0503020204020204" charset="-122"/>
                  <a:ea typeface="微软雅黑" panose="020B0503020204020204" charset="-122"/>
                  <a:cs typeface="微软雅黑" panose="020B0503020204020204" charset="-122"/>
                </a:rPr>
                <a:t>_prepare_resources_for_retrieval</a:t>
              </a:r>
              <a:endParaRPr lang="en-US" altLang="zh-CN" sz="1600">
                <a:latin typeface="微软雅黑" panose="020B0503020204020204" charset="-122"/>
                <a:ea typeface="微软雅黑" panose="020B0503020204020204" charset="-122"/>
                <a:cs typeface="微软雅黑" panose="020B0503020204020204" charset="-122"/>
              </a:endParaRPr>
            </a:p>
            <a:p>
              <a:pPr marL="285750" indent="-285750" algn="l">
                <a:buClrTx/>
                <a:buSzTx/>
                <a:buFont typeface="Arial" panose="020B0604020202020204" pitchFamily="34" charset="0"/>
                <a:buChar char="•"/>
              </a:pPr>
              <a:r>
                <a:rPr lang="en-US" altLang="zh-CN" sz="1600">
                  <a:latin typeface="微软雅黑" panose="020B0503020204020204" charset="-122"/>
                  <a:ea typeface="微软雅黑" panose="020B0503020204020204" charset="-122"/>
                  <a:cs typeface="微软雅黑" panose="020B0503020204020204" charset="-122"/>
                  <a:sym typeface="+mn-ea"/>
                </a:rPr>
                <a:t>update_system_prompt_with_selected_resources</a:t>
              </a:r>
              <a:endParaRPr lang="en-US" altLang="zh-CN" sz="1600">
                <a:latin typeface="微软雅黑" panose="020B0503020204020204" charset="-122"/>
                <a:ea typeface="微软雅黑" panose="020B0503020204020204" charset="-122"/>
                <a:cs typeface="微软雅黑" panose="020B0503020204020204" charset="-122"/>
                <a:sym typeface="+mn-ea"/>
              </a:endParaRPr>
            </a:p>
          </p:txBody>
        </p:sp>
        <p:sp>
          <p:nvSpPr>
            <p:cNvPr id="33" name="文本框 32"/>
            <p:cNvSpPr txBox="1"/>
            <p:nvPr/>
          </p:nvSpPr>
          <p:spPr>
            <a:xfrm>
              <a:off x="11214" y="8996"/>
              <a:ext cx="6505" cy="1355"/>
            </a:xfrm>
            <a:prstGeom prst="rect">
              <a:avLst/>
            </a:prstGeom>
            <a:solidFill>
              <a:schemeClr val="bg1">
                <a:lumMod val="95000"/>
                <a:alpha val="27000"/>
              </a:schemeClr>
            </a:solidFill>
          </p:spPr>
          <p:txBody>
            <a:bodyPr wrap="square" rtlCol="0" anchor="t">
              <a:spAutoFit/>
            </a:bodyPr>
            <a:p>
              <a:pPr algn="ctr"/>
              <a:r>
                <a:rPr lang="zh-CN" altLang="en-US" b="1">
                  <a:solidFill>
                    <a:schemeClr val="tx1"/>
                  </a:solidFill>
                  <a:latin typeface="微软雅黑" panose="020B0503020204020204" charset="-122"/>
                  <a:ea typeface="微软雅黑" panose="020B0503020204020204" charset="-122"/>
                </a:rPr>
                <a:t>实际执行</a:t>
              </a:r>
              <a:endParaRPr lang="en-US" altLang="zh-CN" b="1">
                <a:solidFill>
                  <a:schemeClr val="tx1"/>
                </a:solidFill>
                <a:latin typeface="微软雅黑" panose="020B0503020204020204" charset="-122"/>
                <a:ea typeface="微软雅黑" panose="020B0503020204020204" charset="-122"/>
              </a:endParaRPr>
            </a:p>
            <a:p>
              <a:pPr indent="0" algn="l">
                <a:buClrTx/>
                <a:buSzTx/>
                <a:buFont typeface="Arial" panose="020B0604020202020204" pitchFamily="34" charset="0"/>
                <a:buNone/>
              </a:pPr>
              <a:r>
                <a:rPr lang="en-US" altLang="zh-CN" sz="1600">
                  <a:latin typeface="微软雅黑" panose="020B0503020204020204" charset="-122"/>
                  <a:ea typeface="微软雅黑" panose="020B0503020204020204" charset="-122"/>
                  <a:cs typeface="微软雅黑" panose="020B0503020204020204" charset="-122"/>
                  <a:sym typeface="+mn-ea"/>
                </a:rPr>
                <a:t>for s in </a:t>
              </a:r>
              <a:r>
                <a:rPr lang="en-US" altLang="zh-CN" sz="1600" b="1">
                  <a:latin typeface="微软雅黑" panose="020B0503020204020204" charset="-122"/>
                  <a:ea typeface="微软雅黑" panose="020B0503020204020204" charset="-122"/>
                  <a:cs typeface="微软雅黑" panose="020B0503020204020204" charset="-122"/>
                  <a:sym typeface="+mn-ea"/>
                </a:rPr>
                <a:t>self.app.stream</a:t>
              </a:r>
              <a:r>
                <a:rPr lang="en-US" altLang="zh-CN" sz="1600">
                  <a:latin typeface="微软雅黑" panose="020B0503020204020204" charset="-122"/>
                  <a:ea typeface="微软雅黑" panose="020B0503020204020204" charset="-122"/>
                  <a:cs typeface="微软雅黑" panose="020B0503020204020204" charset="-122"/>
                  <a:sym typeface="+mn-ea"/>
                </a:rPr>
                <a:t>(inputs, stream_mode="values", config=config)</a:t>
              </a:r>
              <a:endParaRPr lang="en-US" altLang="zh-CN" sz="1600">
                <a:latin typeface="微软雅黑" panose="020B0503020204020204" charset="-122"/>
                <a:ea typeface="微软雅黑" panose="020B0503020204020204" charset="-122"/>
                <a:cs typeface="微软雅黑" panose="020B0503020204020204" charset="-122"/>
                <a:sym typeface="+mn-ea"/>
              </a:endParaRPr>
            </a:p>
          </p:txBody>
        </p:sp>
      </p:grpSp>
      <p:pic>
        <p:nvPicPr>
          <p:cNvPr id="12" name="图片 11" descr="logo"/>
          <p:cNvPicPr>
            <a:picLocks noChangeAspect="1"/>
          </p:cNvPicPr>
          <p:nvPr/>
        </p:nvPicPr>
        <p:blipFill>
          <a:blip r:embed="rId1"/>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strips(down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strips(down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rcRect t="4442"/>
          <a:stretch>
            <a:fillRect/>
          </a:stretch>
        </p:blipFill>
        <p:spPr>
          <a:xfrm>
            <a:off x="1395730" y="734060"/>
            <a:ext cx="9399270" cy="2704465"/>
          </a:xfrm>
          <a:prstGeom prst="rect">
            <a:avLst/>
          </a:prstGeom>
        </p:spPr>
      </p:pic>
      <p:grpSp>
        <p:nvGrpSpPr>
          <p:cNvPr id="6" name="组合 5"/>
          <p:cNvGrpSpPr/>
          <p:nvPr/>
        </p:nvGrpSpPr>
        <p:grpSpPr>
          <a:xfrm>
            <a:off x="0" y="-635"/>
            <a:ext cx="12192000" cy="707390"/>
            <a:chOff x="0" y="0"/>
            <a:chExt cx="19200" cy="1114"/>
          </a:xfrm>
        </p:grpSpPr>
        <p:sp>
          <p:nvSpPr>
            <p:cNvPr id="7" name="矩形 6"/>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1396" y="83"/>
              <a:ext cx="15605"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a:t>
              </a:r>
              <a:r>
                <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rPr>
                <a:t>Excels on general biomedical knowledge and reasoning benchmarks</a:t>
              </a:r>
              <a:endPar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grpSp>
        <p:nvGrpSpPr>
          <p:cNvPr id="12" name="组合 11"/>
          <p:cNvGrpSpPr/>
          <p:nvPr/>
        </p:nvGrpSpPr>
        <p:grpSpPr>
          <a:xfrm>
            <a:off x="533400" y="3477895"/>
            <a:ext cx="11390630" cy="3227705"/>
            <a:chOff x="839" y="5570"/>
            <a:chExt cx="17938" cy="5083"/>
          </a:xfrm>
        </p:grpSpPr>
        <p:sp>
          <p:nvSpPr>
            <p:cNvPr id="5" name="文本框 4"/>
            <p:cNvSpPr txBox="1"/>
            <p:nvPr/>
          </p:nvSpPr>
          <p:spPr>
            <a:xfrm>
              <a:off x="839" y="5570"/>
              <a:ext cx="17939" cy="3364"/>
            </a:xfrm>
            <a:prstGeom prst="rect">
              <a:avLst/>
            </a:prstGeom>
            <a:noFill/>
          </p:spPr>
          <p:txBody>
            <a:bodyPr wrap="square" rtlCol="0">
              <a:noAutofit/>
            </a:bodyPr>
            <a:p>
              <a:r>
                <a:rPr lang="zh-CN" altLang="en-US" sz="2000">
                  <a:latin typeface="微软雅黑" panose="020B0503020204020204" charset="-122"/>
                  <a:ea typeface="微软雅黑" panose="020B0503020204020204" charset="-122"/>
                  <a:cs typeface="微软雅黑" panose="020B0503020204020204" charset="-122"/>
                </a:rPr>
                <a:t>在</a:t>
              </a:r>
              <a:r>
                <a:rPr lang="zh-CN" altLang="en-US" sz="2000" b="1">
                  <a:solidFill>
                    <a:schemeClr val="accent6">
                      <a:lumMod val="50000"/>
                    </a:schemeClr>
                  </a:solidFill>
                  <a:latin typeface="微软雅黑" panose="020B0503020204020204" charset="-122"/>
                  <a:ea typeface="微软雅黑" panose="020B0503020204020204" charset="-122"/>
                  <a:cs typeface="微软雅黑" panose="020B0503020204020204" charset="-122"/>
                </a:rPr>
                <a:t>三项高难度的多选题基准</a:t>
              </a:r>
              <a:r>
                <a:rPr lang="zh-CN" altLang="en-US" sz="2000">
                  <a:latin typeface="微软雅黑" panose="020B0503020204020204" charset="-122"/>
                  <a:ea typeface="微软雅黑" panose="020B0503020204020204" charset="-122"/>
                  <a:cs typeface="微软雅黑" panose="020B0503020204020204" charset="-122"/>
                </a:rPr>
                <a:t>上对其评估：</a:t>
              </a: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b="1">
                  <a:solidFill>
                    <a:schemeClr val="accent6">
                      <a:lumMod val="50000"/>
                    </a:schemeClr>
                  </a:solidFill>
                  <a:latin typeface="微软雅黑" panose="020B0503020204020204" charset="-122"/>
                  <a:ea typeface="微软雅黑" panose="020B0503020204020204" charset="-122"/>
                  <a:cs typeface="微软雅黑" panose="020B0503020204020204" charset="-122"/>
                </a:rPr>
                <a:t>Humanity’s Last Exam 和 LAB-Bench</a:t>
              </a:r>
              <a:r>
                <a:rPr lang="zh-CN" altLang="en-US" sz="2000">
                  <a:latin typeface="微软雅黑" panose="020B0503020204020204" charset="-122"/>
                  <a:ea typeface="微软雅黑" panose="020B0503020204020204" charset="-122"/>
                  <a:cs typeface="微软雅黑" panose="020B0503020204020204" charset="-122"/>
                </a:rPr>
                <a:t>。这些任务涵盖工具使用、符号推理及结构化生物信息检索，是衡量稳健生物医学</a:t>
              </a:r>
              <a:r>
                <a:rPr lang="en-US" altLang="zh-CN" sz="2000">
                  <a:latin typeface="微软雅黑" panose="020B0503020204020204" charset="-122"/>
                  <a:ea typeface="微软雅黑" panose="020B0503020204020204" charset="-122"/>
                  <a:cs typeface="微软雅黑" panose="020B0503020204020204" charset="-122"/>
                </a:rPr>
                <a:t> AI </a:t>
              </a:r>
              <a:r>
                <a:rPr lang="zh-CN" altLang="en-US" sz="2000">
                  <a:latin typeface="微软雅黑" panose="020B0503020204020204" charset="-122"/>
                  <a:ea typeface="微软雅黑" panose="020B0503020204020204" charset="-122"/>
                  <a:cs typeface="微软雅黑" panose="020B0503020204020204" charset="-122"/>
                </a:rPr>
                <a:t>智能体的核心能力。</a:t>
              </a:r>
              <a:endParaRPr lang="zh-CN" altLang="en-US" sz="2000">
                <a:latin typeface="微软雅黑" panose="020B0503020204020204" charset="-122"/>
                <a:ea typeface="微软雅黑" panose="020B0503020204020204" charset="-122"/>
                <a:cs typeface="微软雅黑" panose="020B0503020204020204" charset="-122"/>
              </a:endParaRPr>
            </a:p>
            <a:p>
              <a:endParaRPr lang="zh-CN" altLang="en-US" b="1">
                <a:solidFill>
                  <a:schemeClr val="accent6">
                    <a:lumMod val="50000"/>
                  </a:schemeClr>
                </a:solidFill>
              </a:endParaRPr>
            </a:p>
            <a:p>
              <a:pPr marL="285750" indent="-285750">
                <a:buFont typeface="Wingdings" panose="05000000000000000000" charset="0"/>
                <a:buChar char="ü"/>
              </a:pPr>
              <a:r>
                <a:rPr lang="en-US" altLang="zh-CN" b="1">
                  <a:solidFill>
                    <a:schemeClr val="accent6">
                      <a:lumMod val="50000"/>
                    </a:schemeClr>
                  </a:solidFill>
                  <a:latin typeface="微软雅黑" panose="020B0503020204020204" charset="-122"/>
                  <a:ea typeface="微软雅黑" panose="020B0503020204020204" charset="-122"/>
                  <a:cs typeface="微软雅黑" panose="020B0503020204020204" charset="-122"/>
                </a:rPr>
                <a:t>LAB-Bench</a:t>
              </a:r>
              <a:r>
                <a:rPr lang="zh-CN" altLang="en-US" b="1">
                  <a:solidFill>
                    <a:schemeClr val="accent6">
                      <a:lumMod val="50000"/>
                    </a:schemeClr>
                  </a:solidFill>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先用</a:t>
              </a:r>
              <a:r>
                <a:rPr lang="en-US" altLang="zh-CN">
                  <a:latin typeface="微软雅黑" panose="020B0503020204020204" charset="-122"/>
                  <a:ea typeface="微软雅黑" panose="020B0503020204020204" charset="-122"/>
                  <a:cs typeface="微软雅黑" panose="020B0503020204020204" charset="-122"/>
                </a:rPr>
                <a:t> 45 </a:t>
              </a:r>
              <a:r>
                <a:rPr lang="zh-CN" altLang="en-US">
                  <a:latin typeface="微软雅黑" panose="020B0503020204020204" charset="-122"/>
                  <a:ea typeface="微软雅黑" panose="020B0503020204020204" charset="-122"/>
                  <a:cs typeface="微软雅黑" panose="020B0503020204020204" charset="-122"/>
                </a:rPr>
                <a:t>题开发集调优工具</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数据库接口，再在</a:t>
              </a:r>
              <a:r>
                <a:rPr lang="en-US" altLang="zh-CN">
                  <a:latin typeface="微软雅黑" panose="020B0503020204020204" charset="-122"/>
                  <a:ea typeface="微软雅黑" panose="020B0503020204020204" charset="-122"/>
                  <a:cs typeface="微软雅黑" panose="020B0503020204020204" charset="-122"/>
                </a:rPr>
                <a:t> 315 </a:t>
              </a:r>
              <a:r>
                <a:rPr lang="zh-CN" altLang="en-US">
                  <a:latin typeface="微软雅黑" panose="020B0503020204020204" charset="-122"/>
                  <a:ea typeface="微软雅黑" panose="020B0503020204020204" charset="-122"/>
                  <a:cs typeface="微软雅黑" panose="020B0503020204020204" charset="-122"/>
                </a:rPr>
                <a:t>题隐藏测试集评估（</a:t>
              </a:r>
              <a:r>
                <a:rPr lang="en-US" altLang="zh-CN">
                  <a:latin typeface="微软雅黑" panose="020B0503020204020204" charset="-122"/>
                  <a:ea typeface="微软雅黑" panose="020B0503020204020204" charset="-122"/>
                  <a:cs typeface="微软雅黑" panose="020B0503020204020204" charset="-122"/>
                </a:rPr>
                <a:t>3 </a:t>
              </a:r>
              <a:r>
                <a:rPr lang="zh-CN" altLang="en-US">
                  <a:latin typeface="微软雅黑" panose="020B0503020204020204" charset="-122"/>
                  <a:ea typeface="微软雅黑" panose="020B0503020204020204" charset="-122"/>
                  <a:cs typeface="微软雅黑" panose="020B0503020204020204" charset="-122"/>
                </a:rPr>
                <a:t>次独立运行平均）。</a:t>
              </a:r>
              <a:endParaRPr lang="zh-CN" altLang="en-US">
                <a:latin typeface="微软雅黑" panose="020B0503020204020204" charset="-122"/>
                <a:ea typeface="微软雅黑" panose="020B0503020204020204" charset="-122"/>
                <a:cs typeface="微软雅黑" panose="020B0503020204020204" charset="-122"/>
              </a:endParaRPr>
            </a:p>
            <a:p>
              <a:pPr marL="742950" lvl="1" indent="-285750">
                <a:buFont typeface="Arial" panose="020B0604020202020204" pitchFamily="34" charset="0"/>
                <a:buChar char="•"/>
              </a:pPr>
              <a:r>
                <a:rPr lang="en-US" altLang="zh-CN" b="1">
                  <a:latin typeface="微软雅黑" panose="020B0503020204020204" charset="-122"/>
                  <a:ea typeface="微软雅黑" panose="020B0503020204020204" charset="-122"/>
                  <a:cs typeface="微软雅黑" panose="020B0503020204020204" charset="-122"/>
                </a:rPr>
                <a:t>DbQA</a:t>
              </a:r>
              <a:r>
                <a:rPr lang="zh-CN" altLang="en-US">
                  <a:latin typeface="微软雅黑" panose="020B0503020204020204" charset="-122"/>
                  <a:ea typeface="微软雅黑" panose="020B0503020204020204" charset="-122"/>
                  <a:cs typeface="微软雅黑" panose="020B0503020204020204" charset="-122"/>
                </a:rPr>
                <a:t>（需对生物数据库做结构化查询）：</a:t>
              </a:r>
              <a:r>
                <a:rPr lang="en-US" altLang="zh-CN">
                  <a:latin typeface="微软雅黑" panose="020B0503020204020204" charset="-122"/>
                  <a:ea typeface="微软雅黑" panose="020B0503020204020204" charset="-122"/>
                  <a:cs typeface="微软雅黑" panose="020B0503020204020204" charset="-122"/>
                </a:rPr>
                <a:t>Biomni </a:t>
              </a:r>
              <a:r>
                <a:rPr lang="zh-CN" altLang="en-US">
                  <a:latin typeface="微软雅黑" panose="020B0503020204020204" charset="-122"/>
                  <a:ea typeface="微软雅黑" panose="020B0503020204020204" charset="-122"/>
                  <a:cs typeface="微软雅黑" panose="020B0503020204020204" charset="-122"/>
                </a:rPr>
                <a:t>准确率</a:t>
              </a:r>
              <a:r>
                <a:rPr lang="en-US" altLang="zh-CN">
                  <a:latin typeface="微软雅黑" panose="020B0503020204020204" charset="-122"/>
                  <a:ea typeface="微软雅黑" panose="020B0503020204020204" charset="-122"/>
                  <a:cs typeface="微软雅黑" panose="020B0503020204020204" charset="-122"/>
                </a:rPr>
                <a:t> 74.4%</a:t>
              </a:r>
              <a:r>
                <a:rPr lang="zh-CN" altLang="en-US">
                  <a:latin typeface="微软雅黑" panose="020B0503020204020204" charset="-122"/>
                  <a:ea typeface="微软雅黑" panose="020B0503020204020204" charset="-122"/>
                  <a:cs typeface="微软雅黑" panose="020B0503020204020204" charset="-122"/>
                </a:rPr>
                <a:t>，持平专家人类（</a:t>
              </a:r>
              <a:r>
                <a:rPr lang="en-US" altLang="zh-CN">
                  <a:latin typeface="微软雅黑" panose="020B0503020204020204" charset="-122"/>
                  <a:ea typeface="微软雅黑" panose="020B0503020204020204" charset="-122"/>
                  <a:cs typeface="微软雅黑" panose="020B0503020204020204" charset="-122"/>
                </a:rPr>
                <a:t>74.7%</a:t>
              </a:r>
              <a:r>
                <a:rPr lang="zh-CN" altLang="en-US">
                  <a:latin typeface="微软雅黑" panose="020B0503020204020204" charset="-122"/>
                  <a:ea typeface="微软雅黑" panose="020B0503020204020204" charset="-122"/>
                  <a:cs typeface="微软雅黑" panose="020B0503020204020204" charset="-122"/>
                </a:rPr>
                <a:t>），超越所有基线（含</a:t>
              </a:r>
              <a:r>
                <a:rPr lang="en-US" altLang="zh-CN">
                  <a:latin typeface="微软雅黑" panose="020B0503020204020204" charset="-122"/>
                  <a:ea typeface="微软雅黑" panose="020B0503020204020204" charset="-122"/>
                  <a:cs typeface="微软雅黑" panose="020B0503020204020204" charset="-122"/>
                </a:rPr>
                <a:t> ReAct+Code </a:t>
              </a:r>
              <a:r>
                <a:rPr lang="zh-CN" altLang="en-US">
                  <a:latin typeface="微软雅黑" panose="020B0503020204020204" charset="-122"/>
                  <a:ea typeface="微软雅黑" panose="020B0503020204020204" charset="-122"/>
                  <a:cs typeface="微软雅黑" panose="020B0503020204020204" charset="-122"/>
                </a:rPr>
                <a:t>编码智能体</a:t>
              </a:r>
              <a:r>
                <a:rPr lang="en-US" altLang="zh-CN">
                  <a:latin typeface="微软雅黑" panose="020B0503020204020204" charset="-122"/>
                  <a:ea typeface="微软雅黑" panose="020B0503020204020204" charset="-122"/>
                  <a:cs typeface="微软雅黑" panose="020B0503020204020204" charset="-122"/>
                </a:rPr>
                <a:t> 40.8%</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a:p>
              <a:pPr marL="742950" lvl="1" indent="-285750">
                <a:buFont typeface="Arial" panose="020B0604020202020204" pitchFamily="34" charset="0"/>
                <a:buChar char="•"/>
              </a:pPr>
              <a:r>
                <a:rPr lang="en-US" altLang="zh-CN" b="1">
                  <a:latin typeface="微软雅黑" panose="020B0503020204020204" charset="-122"/>
                  <a:ea typeface="微软雅黑" panose="020B0503020204020204" charset="-122"/>
                  <a:cs typeface="微软雅黑" panose="020B0503020204020204" charset="-122"/>
                </a:rPr>
                <a:t>SeqQA</a:t>
              </a:r>
              <a:r>
                <a:rPr lang="zh-CN" altLang="en-US">
                  <a:latin typeface="微软雅黑" panose="020B0503020204020204" charset="-122"/>
                  <a:ea typeface="微软雅黑" panose="020B0503020204020204" charset="-122"/>
                  <a:cs typeface="微软雅黑" panose="020B0503020204020204" charset="-122"/>
                </a:rPr>
                <a:t>（需对</a:t>
              </a:r>
              <a:r>
                <a:rPr lang="en-US" altLang="zh-CN">
                  <a:latin typeface="微软雅黑" panose="020B0503020204020204" charset="-122"/>
                  <a:ea typeface="微软雅黑" panose="020B0503020204020204" charset="-122"/>
                  <a:cs typeface="微软雅黑" panose="020B0503020204020204" charset="-122"/>
                </a:rPr>
                <a:t> DNA/</a:t>
              </a:r>
              <a:r>
                <a:rPr lang="zh-CN" altLang="en-US">
                  <a:latin typeface="微软雅黑" panose="020B0503020204020204" charset="-122"/>
                  <a:ea typeface="微软雅黑" panose="020B0503020204020204" charset="-122"/>
                  <a:cs typeface="微软雅黑" panose="020B0503020204020204" charset="-122"/>
                </a:rPr>
                <a:t>蛋白质序列推理）：</a:t>
              </a:r>
              <a:r>
                <a:rPr lang="en-US" altLang="zh-CN">
                  <a:latin typeface="微软雅黑" panose="020B0503020204020204" charset="-122"/>
                  <a:ea typeface="微软雅黑" panose="020B0503020204020204" charset="-122"/>
                  <a:cs typeface="微软雅黑" panose="020B0503020204020204" charset="-122"/>
                </a:rPr>
                <a:t>Biomni </a:t>
              </a:r>
              <a:r>
                <a:rPr lang="zh-CN" altLang="en-US">
                  <a:latin typeface="微软雅黑" panose="020B0503020204020204" charset="-122"/>
                  <a:ea typeface="微软雅黑" panose="020B0503020204020204" charset="-122"/>
                  <a:cs typeface="微软雅黑" panose="020B0503020204020204" charset="-122"/>
                </a:rPr>
                <a:t>准确率</a:t>
              </a:r>
              <a:r>
                <a:rPr lang="en-US" altLang="zh-CN">
                  <a:latin typeface="微软雅黑" panose="020B0503020204020204" charset="-122"/>
                  <a:ea typeface="微软雅黑" panose="020B0503020204020204" charset="-122"/>
                  <a:cs typeface="微软雅黑" panose="020B0503020204020204" charset="-122"/>
                </a:rPr>
                <a:t> 81.9%</a:t>
              </a:r>
              <a:r>
                <a:rPr lang="zh-CN" altLang="en-US">
                  <a:latin typeface="微软雅黑" panose="020B0503020204020204" charset="-122"/>
                  <a:ea typeface="微软雅黑" panose="020B0503020204020204" charset="-122"/>
                  <a:cs typeface="微软雅黑" panose="020B0503020204020204" charset="-122"/>
                </a:rPr>
                <a:t>，再次超过人类水平（</a:t>
              </a:r>
              <a:r>
                <a:rPr lang="en-US" altLang="zh-CN">
                  <a:latin typeface="微软雅黑" panose="020B0503020204020204" charset="-122"/>
                  <a:ea typeface="微软雅黑" panose="020B0503020204020204" charset="-122"/>
                  <a:cs typeface="微软雅黑" panose="020B0503020204020204" charset="-122"/>
                </a:rPr>
                <a:t>78.8%</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a:p>
              <a:pPr indent="0">
                <a:buFont typeface="Wingdings" panose="05000000000000000000" charset="0"/>
                <a:buNone/>
              </a:pPr>
              <a:endParaRPr lang="zh-CN" altLang="en-US">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839" y="8934"/>
              <a:ext cx="17939" cy="1452"/>
            </a:xfrm>
            <a:prstGeom prst="rect">
              <a:avLst/>
            </a:prstGeom>
            <a:noFill/>
          </p:spPr>
          <p:txBody>
            <a:bodyPr wrap="square" rtlCol="0" anchor="t">
              <a:spAutoFit/>
            </a:bodyPr>
            <a:p>
              <a:pPr marL="285750" indent="-285750">
                <a:buFont typeface="Wingdings" panose="05000000000000000000" charset="0"/>
                <a:buChar char="ü"/>
              </a:pPr>
              <a:r>
                <a:rPr lang="en-US" altLang="zh-CN"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rPr>
                <a:t>HLE：</a:t>
              </a:r>
              <a:r>
                <a:rPr lang="zh-CN" altLang="en-US">
                  <a:latin typeface="微软雅黑" panose="020B0503020204020204" charset="-122"/>
                  <a:ea typeface="微软雅黑" panose="020B0503020204020204" charset="-122"/>
                  <a:cs typeface="微软雅黑" panose="020B0503020204020204" charset="-122"/>
                  <a:sym typeface="+mn-ea"/>
                </a:rPr>
                <a:t>抽取了涵盖</a:t>
              </a:r>
              <a:r>
                <a:rPr lang="en-US" altLang="zh-CN">
                  <a:latin typeface="微软雅黑" panose="020B0503020204020204" charset="-122"/>
                  <a:ea typeface="微软雅黑" panose="020B0503020204020204" charset="-122"/>
                  <a:cs typeface="微软雅黑" panose="020B0503020204020204" charset="-122"/>
                  <a:sym typeface="+mn-ea"/>
                </a:rPr>
                <a:t> 14 </a:t>
              </a:r>
              <a:r>
                <a:rPr lang="zh-CN" altLang="en-US">
                  <a:latin typeface="微软雅黑" panose="020B0503020204020204" charset="-122"/>
                  <a:ea typeface="微软雅黑" panose="020B0503020204020204" charset="-122"/>
                  <a:cs typeface="微软雅黑" panose="020B0503020204020204" charset="-122"/>
                  <a:sym typeface="+mn-ea"/>
                </a:rPr>
                <a:t>个生物医学子领域的</a:t>
              </a:r>
              <a:r>
                <a:rPr lang="en-US" altLang="zh-CN">
                  <a:latin typeface="微软雅黑" panose="020B0503020204020204" charset="-122"/>
                  <a:ea typeface="微软雅黑" panose="020B0503020204020204" charset="-122"/>
                  <a:cs typeface="微软雅黑" panose="020B0503020204020204" charset="-122"/>
                  <a:sym typeface="+mn-ea"/>
                </a:rPr>
                <a:t> 52 </a:t>
              </a:r>
              <a:r>
                <a:rPr lang="zh-CN" altLang="en-US">
                  <a:latin typeface="微软雅黑" panose="020B0503020204020204" charset="-122"/>
                  <a:ea typeface="微软雅黑" panose="020B0503020204020204" charset="-122"/>
                  <a:cs typeface="微软雅黑" panose="020B0503020204020204" charset="-122"/>
                  <a:sym typeface="+mn-ea"/>
                </a:rPr>
                <a:t>题子集对</a:t>
              </a:r>
              <a:r>
                <a:rPr lang="en-US" altLang="zh-CN">
                  <a:latin typeface="微软雅黑" panose="020B0503020204020204" charset="-122"/>
                  <a:ea typeface="微软雅黑" panose="020B0503020204020204" charset="-122"/>
                  <a:cs typeface="微软雅黑" panose="020B0503020204020204" charset="-122"/>
                  <a:sym typeface="+mn-ea"/>
                </a:rPr>
                <a:t> Biomni </a:t>
              </a:r>
              <a:r>
                <a:rPr lang="zh-CN" altLang="en-US">
                  <a:latin typeface="微软雅黑" panose="020B0503020204020204" charset="-122"/>
                  <a:ea typeface="微软雅黑" panose="020B0503020204020204" charset="-122"/>
                  <a:cs typeface="微软雅黑" panose="020B0503020204020204" charset="-122"/>
                  <a:sym typeface="+mn-ea"/>
                </a:rPr>
                <a:t>进行评估。</a:t>
              </a: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取得</a:t>
              </a:r>
              <a:r>
                <a:rPr lang="en-US" altLang="zh-CN">
                  <a:latin typeface="微软雅黑" panose="020B0503020204020204" charset="-122"/>
                  <a:ea typeface="微软雅黑" panose="020B0503020204020204" charset="-122"/>
                  <a:cs typeface="微软雅黑" panose="020B0503020204020204" charset="-122"/>
                  <a:sym typeface="+mn-ea"/>
                </a:rPr>
                <a:t> 17.3 % </a:t>
              </a:r>
              <a:r>
                <a:rPr lang="zh-CN" altLang="en-US">
                  <a:latin typeface="微软雅黑" panose="020B0503020204020204" charset="-122"/>
                  <a:ea typeface="微软雅黑" panose="020B0503020204020204" charset="-122"/>
                  <a:cs typeface="微软雅黑" panose="020B0503020204020204" charset="-122"/>
                  <a:sym typeface="+mn-ea"/>
                </a:rPr>
                <a:t>的准确率，显著高于基础大模型（</a:t>
              </a:r>
              <a:r>
                <a:rPr lang="en-US" altLang="zh-CN">
                  <a:latin typeface="微软雅黑" panose="020B0503020204020204" charset="-122"/>
                  <a:ea typeface="微软雅黑" panose="020B0503020204020204" charset="-122"/>
                  <a:cs typeface="微软雅黑" panose="020B0503020204020204" charset="-122"/>
                  <a:sym typeface="+mn-ea"/>
                </a:rPr>
                <a:t>6.0 %</a:t>
              </a:r>
              <a:r>
                <a:rPr lang="zh-CN" altLang="en-US">
                  <a:latin typeface="微软雅黑" panose="020B0503020204020204" charset="-122"/>
                  <a:ea typeface="微软雅黑" panose="020B0503020204020204" charset="-122"/>
                  <a:cs typeface="微软雅黑" panose="020B0503020204020204" charset="-122"/>
                  <a:sym typeface="+mn-ea"/>
                </a:rPr>
                <a:t>）、编码智能体（</a:t>
              </a:r>
              <a:r>
                <a:rPr lang="en-US" altLang="zh-CN">
                  <a:latin typeface="微软雅黑" panose="020B0503020204020204" charset="-122"/>
                  <a:ea typeface="微软雅黑" panose="020B0503020204020204" charset="-122"/>
                  <a:cs typeface="微软雅黑" panose="020B0503020204020204" charset="-122"/>
                  <a:sym typeface="+mn-ea"/>
                </a:rPr>
                <a:t>12.8 %</a:t>
              </a:r>
              <a:r>
                <a:rPr lang="zh-CN" altLang="en-US">
                  <a:latin typeface="微软雅黑" panose="020B0503020204020204" charset="-122"/>
                  <a:ea typeface="微软雅黑" panose="020B0503020204020204" charset="-122"/>
                  <a:cs typeface="微软雅黑" panose="020B0503020204020204" charset="-122"/>
                  <a:sym typeface="+mn-ea"/>
                </a:rPr>
                <a:t>）和文献智能体（</a:t>
              </a:r>
              <a:r>
                <a:rPr lang="en-US" altLang="zh-CN">
                  <a:latin typeface="微软雅黑" panose="020B0503020204020204" charset="-122"/>
                  <a:ea typeface="微软雅黑" panose="020B0503020204020204" charset="-122"/>
                  <a:cs typeface="微软雅黑" panose="020B0503020204020204" charset="-122"/>
                  <a:sym typeface="+mn-ea"/>
                </a:rPr>
                <a:t>12.2 %</a:t>
              </a:r>
              <a:r>
                <a:rPr lang="zh-CN" altLang="en-US">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sym typeface="+mn-ea"/>
              </a:endParaRPr>
            </a:p>
            <a:p>
              <a:pPr indent="0">
                <a:buFont typeface="Wingdings" panose="05000000000000000000" charset="0"/>
                <a:buNone/>
              </a:pPr>
              <a:endParaRPr lang="zh-CN" altLang="en-US"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839" y="10025"/>
              <a:ext cx="17939" cy="628"/>
            </a:xfrm>
            <a:prstGeom prst="rect">
              <a:avLst/>
            </a:prstGeom>
            <a:noFill/>
          </p:spPr>
          <p:txBody>
            <a:bodyPr wrap="square" rtlCol="0" anchor="t">
              <a:spAutoFit/>
            </a:bodyPr>
            <a:p>
              <a:pPr indent="0">
                <a:buFont typeface="Wingdings" panose="05000000000000000000" charset="0"/>
                <a:buNone/>
              </a:pPr>
              <a:r>
                <a:rPr lang="zh-CN" altLang="en-US" sz="2000"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rPr>
                <a:t>结果表明，</a:t>
              </a:r>
              <a:r>
                <a:rPr lang="en-US" altLang="zh-CN" sz="2000"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rPr>
                <a:t>Biomni </a:t>
              </a:r>
              <a:r>
                <a:rPr lang="zh-CN" altLang="en-US" sz="2000"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rPr>
                <a:t>无需任何任务特定调整即可在陌生、开放的生物医学领域中实现泛化。</a:t>
              </a:r>
              <a:endParaRPr lang="zh-CN" altLang="en-US" sz="2000"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5090" y="761365"/>
            <a:ext cx="5802630" cy="5915025"/>
          </a:xfrm>
          <a:prstGeom prst="rect">
            <a:avLst/>
          </a:prstGeom>
        </p:spPr>
      </p:pic>
      <p:grpSp>
        <p:nvGrpSpPr>
          <p:cNvPr id="4" name="组合 3"/>
          <p:cNvGrpSpPr/>
          <p:nvPr/>
        </p:nvGrpSpPr>
        <p:grpSpPr>
          <a:xfrm>
            <a:off x="5887085" y="805815"/>
            <a:ext cx="6125210" cy="5417820"/>
            <a:chOff x="9271" y="1269"/>
            <a:chExt cx="9646" cy="8532"/>
          </a:xfrm>
        </p:grpSpPr>
        <p:sp>
          <p:nvSpPr>
            <p:cNvPr id="5" name="文本框 4"/>
            <p:cNvSpPr txBox="1"/>
            <p:nvPr/>
          </p:nvSpPr>
          <p:spPr>
            <a:xfrm>
              <a:off x="9271" y="1269"/>
              <a:ext cx="9646" cy="2107"/>
            </a:xfrm>
            <a:prstGeom prst="rect">
              <a:avLst/>
            </a:prstGeom>
            <a:noFill/>
          </p:spPr>
          <p:txBody>
            <a:bodyPr wrap="square" rtlCol="0">
              <a:spAutoFit/>
            </a:bodyPr>
            <a:p>
              <a:pPr fontAlgn="auto">
                <a:lnSpc>
                  <a:spcPct val="150000"/>
                </a:lnSpc>
              </a:pPr>
              <a:r>
                <a:rPr lang="en-US" altLang="zh-CN">
                  <a:latin typeface="微软雅黑" panose="020B0503020204020204" charset="-122"/>
                  <a:ea typeface="微软雅黑" panose="020B0503020204020204" charset="-122"/>
                  <a:cs typeface="微软雅黑" panose="020B0503020204020204" charset="-122"/>
                </a:rPr>
                <a:t>Biomni </a:t>
              </a:r>
              <a:r>
                <a:rPr lang="zh-CN" altLang="en-US">
                  <a:latin typeface="微软雅黑" panose="020B0503020204020204" charset="-122"/>
                  <a:ea typeface="微软雅黑" panose="020B0503020204020204" charset="-122"/>
                  <a:cs typeface="微软雅黑" panose="020B0503020204020204" charset="-122"/>
                </a:rPr>
                <a:t>可泛化到不同子领域的全新真实生物医学任务。为评估其在现实研究任务中的泛化能力，我们构建了</a:t>
              </a:r>
              <a:r>
                <a:rPr lang="en-US" altLang="zh-CN">
                  <a:latin typeface="微软雅黑" panose="020B0503020204020204" charset="-122"/>
                  <a:ea typeface="微软雅黑" panose="020B0503020204020204" charset="-122"/>
                  <a:cs typeface="微软雅黑" panose="020B0503020204020204" charset="-122"/>
                </a:rPr>
                <a:t> </a:t>
              </a:r>
              <a:r>
                <a:rPr lang="en-US" altLang="zh-CN" b="1">
                  <a:solidFill>
                    <a:schemeClr val="accent6">
                      <a:lumMod val="50000"/>
                    </a:schemeClr>
                  </a:solidFill>
                  <a:latin typeface="微软雅黑" panose="020B0503020204020204" charset="-122"/>
                  <a:ea typeface="微软雅黑" panose="020B0503020204020204" charset="-122"/>
                  <a:cs typeface="微软雅黑" panose="020B0503020204020204" charset="-122"/>
                </a:rPr>
                <a:t>8 </a:t>
              </a:r>
              <a:r>
                <a:rPr lang="zh-CN" altLang="en-US" b="1">
                  <a:solidFill>
                    <a:schemeClr val="accent6">
                      <a:lumMod val="50000"/>
                    </a:schemeClr>
                  </a:solidFill>
                  <a:latin typeface="微软雅黑" panose="020B0503020204020204" charset="-122"/>
                  <a:ea typeface="微软雅黑" panose="020B0503020204020204" charset="-122"/>
                  <a:cs typeface="微软雅黑" panose="020B0503020204020204" charset="-122"/>
                </a:rPr>
                <a:t>个全新的生物医学基准：</a:t>
              </a:r>
              <a:endParaRPr lang="zh-CN" altLang="en-US" b="1">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9317" y="3551"/>
              <a:ext cx="9600" cy="6251"/>
            </a:xfrm>
            <a:prstGeom prst="rect">
              <a:avLst/>
            </a:prstGeom>
            <a:noFill/>
          </p:spPr>
          <p:txBody>
            <a:bodyPr wrap="square" rtlCol="0" anchor="t">
              <a:spAutoFit/>
            </a:bodyPr>
            <a:p>
              <a:pPr marL="342900" indent="-342900" fontAlgn="auto">
                <a:lnSpc>
                  <a:spcPct val="100000"/>
                </a:lnSpc>
                <a:buAutoNum type="arabicPeriod"/>
              </a:pPr>
              <a:r>
                <a:rPr lang="zh-CN" altLang="en-US">
                  <a:latin typeface="微软雅黑" panose="020B0503020204020204" charset="-122"/>
                  <a:ea typeface="微软雅黑" panose="020B0503020204020204" charset="-122"/>
                  <a:cs typeface="微软雅黑" panose="020B0503020204020204" charset="-122"/>
                  <a:sym typeface="+mn-ea"/>
                </a:rPr>
                <a:t>变异优先级排序；</a:t>
              </a:r>
              <a:endParaRPr lang="zh-CN" altLang="en-US">
                <a:latin typeface="微软雅黑" panose="020B0503020204020204" charset="-122"/>
                <a:ea typeface="微软雅黑" panose="020B0503020204020204" charset="-122"/>
                <a:cs typeface="微软雅黑" panose="020B0503020204020204" charset="-122"/>
              </a:endParaRPr>
            </a:p>
            <a:p>
              <a:pPr marL="342900" indent="-342900" fontAlgn="auto">
                <a:lnSpc>
                  <a:spcPct val="100000"/>
                </a:lnSpc>
                <a:buAutoNum type="arabicPeriod"/>
              </a:pPr>
              <a:r>
                <a:rPr lang="en-US" altLang="zh-CN">
                  <a:latin typeface="微软雅黑" panose="020B0503020204020204" charset="-122"/>
                  <a:ea typeface="微软雅黑" panose="020B0503020204020204" charset="-122"/>
                  <a:cs typeface="微软雅黑" panose="020B0503020204020204" charset="-122"/>
                  <a:sym typeface="+mn-ea"/>
                </a:rPr>
                <a:t>GWAS </a:t>
              </a:r>
              <a:r>
                <a:rPr lang="zh-CN" altLang="en-US">
                  <a:latin typeface="微软雅黑" panose="020B0503020204020204" charset="-122"/>
                  <a:ea typeface="微软雅黑" panose="020B0503020204020204" charset="-122"/>
                  <a:cs typeface="微软雅黑" panose="020B0503020204020204" charset="-122"/>
                  <a:sym typeface="+mn-ea"/>
                </a:rPr>
                <a:t>因果基因检测；</a:t>
              </a:r>
              <a:endParaRPr lang="zh-CN" altLang="en-US">
                <a:latin typeface="微软雅黑" panose="020B0503020204020204" charset="-122"/>
                <a:ea typeface="微软雅黑" panose="020B0503020204020204" charset="-122"/>
                <a:cs typeface="微软雅黑" panose="020B0503020204020204" charset="-122"/>
              </a:endParaRPr>
            </a:p>
            <a:p>
              <a:pPr marL="342900" indent="-342900" fontAlgn="auto">
                <a:lnSpc>
                  <a:spcPct val="100000"/>
                </a:lnSpc>
                <a:buAutoNum type="arabicPeriod"/>
              </a:pPr>
              <a:r>
                <a:rPr lang="en-US" altLang="zh-CN">
                  <a:latin typeface="微软雅黑" panose="020B0503020204020204" charset="-122"/>
                  <a:ea typeface="微软雅黑" panose="020B0503020204020204" charset="-122"/>
                  <a:cs typeface="微软雅黑" panose="020B0503020204020204" charset="-122"/>
                  <a:sym typeface="+mn-ea"/>
                </a:rPr>
                <a:t>CRISPR </a:t>
              </a:r>
              <a:r>
                <a:rPr lang="zh-CN" altLang="en-US">
                  <a:latin typeface="微软雅黑" panose="020B0503020204020204" charset="-122"/>
                  <a:ea typeface="微软雅黑" panose="020B0503020204020204" charset="-122"/>
                  <a:cs typeface="微软雅黑" panose="020B0503020204020204" charset="-122"/>
                  <a:sym typeface="+mn-ea"/>
                </a:rPr>
                <a:t>扰动筛选设计</a:t>
              </a:r>
              <a:r>
                <a:rPr lang="zh-CN">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endParaRPr>
            </a:p>
            <a:p>
              <a:pPr marL="342900" indent="-342900" fontAlgn="auto">
                <a:lnSpc>
                  <a:spcPct val="100000"/>
                </a:lnSpc>
                <a:buAutoNum type="arabicPeriod"/>
              </a:pPr>
              <a:r>
                <a:rPr lang="zh-CN" altLang="en-US">
                  <a:latin typeface="微软雅黑" panose="020B0503020204020204" charset="-122"/>
                  <a:ea typeface="微软雅黑" panose="020B0503020204020204" charset="-122"/>
                  <a:cs typeface="微软雅黑" panose="020B0503020204020204" charset="-122"/>
                  <a:sym typeface="+mn-ea"/>
                </a:rPr>
                <a:t>罕见病诊断；</a:t>
              </a:r>
              <a:endParaRPr lang="zh-CN" altLang="en-US">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rabicPeriod"/>
              </a:pPr>
              <a:r>
                <a:rPr lang="zh-CN" altLang="en-US">
                  <a:latin typeface="微软雅黑" panose="020B0503020204020204" charset="-122"/>
                  <a:ea typeface="微软雅黑" panose="020B0503020204020204" charset="-122"/>
                  <a:cs typeface="微软雅黑" panose="020B0503020204020204" charset="-122"/>
                  <a:sym typeface="+mn-ea"/>
                </a:rPr>
                <a:t>药物重定位；</a:t>
              </a:r>
              <a:endParaRPr lang="zh-CN" altLang="en-US">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rabicPeriod"/>
              </a:pPr>
              <a:r>
                <a:rPr lang="zh-CN" altLang="en-US">
                  <a:latin typeface="微软雅黑" panose="020B0503020204020204" charset="-122"/>
                  <a:ea typeface="微软雅黑" panose="020B0503020204020204" charset="-122"/>
                  <a:cs typeface="微软雅黑" panose="020B0503020204020204" charset="-122"/>
                  <a:sym typeface="+mn-ea"/>
                </a:rPr>
                <a:t>单细胞</a:t>
              </a:r>
              <a:r>
                <a:rPr lang="en-US" altLang="zh-CN">
                  <a:latin typeface="微软雅黑" panose="020B0503020204020204" charset="-122"/>
                  <a:ea typeface="微软雅黑" panose="020B0503020204020204" charset="-122"/>
                  <a:cs typeface="微软雅黑" panose="020B0503020204020204" charset="-122"/>
                  <a:sym typeface="+mn-ea"/>
                </a:rPr>
                <a:t> RNA-seq </a:t>
              </a:r>
              <a:r>
                <a:rPr lang="zh-CN" altLang="en-US">
                  <a:latin typeface="微软雅黑" panose="020B0503020204020204" charset="-122"/>
                  <a:ea typeface="微软雅黑" panose="020B0503020204020204" charset="-122"/>
                  <a:cs typeface="微软雅黑" panose="020B0503020204020204" charset="-122"/>
                  <a:sym typeface="+mn-ea"/>
                </a:rPr>
                <a:t>注释；</a:t>
              </a:r>
              <a:endParaRPr lang="zh-CN" altLang="en-US">
                <a:latin typeface="微软雅黑" panose="020B0503020204020204" charset="-122"/>
                <a:ea typeface="微软雅黑" panose="020B0503020204020204" charset="-122"/>
                <a:cs typeface="微软雅黑" panose="020B0503020204020204" charset="-122"/>
              </a:endParaRPr>
            </a:p>
            <a:p>
              <a:pPr marL="342900" indent="-342900" fontAlgn="auto">
                <a:lnSpc>
                  <a:spcPct val="100000"/>
                </a:lnSpc>
                <a:buAutoNum type="arabicPeriod"/>
              </a:pPr>
              <a:r>
                <a:rPr lang="zh-CN" altLang="en-US">
                  <a:latin typeface="微软雅黑" panose="020B0503020204020204" charset="-122"/>
                  <a:ea typeface="微软雅黑" panose="020B0503020204020204" charset="-122"/>
                  <a:cs typeface="微软雅黑" panose="020B0503020204020204" charset="-122"/>
                  <a:sym typeface="+mn-ea"/>
                </a:rPr>
                <a:t>微生物组疾病</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分类群分析；</a:t>
              </a:r>
              <a:endParaRPr lang="zh-CN" altLang="en-US">
                <a:latin typeface="微软雅黑" panose="020B0503020204020204" charset="-122"/>
                <a:ea typeface="微软雅黑" panose="020B0503020204020204" charset="-122"/>
                <a:cs typeface="微软雅黑" panose="020B0503020204020204" charset="-122"/>
              </a:endParaRPr>
            </a:p>
            <a:p>
              <a:pPr marL="342900" indent="-342900" fontAlgn="auto">
                <a:lnSpc>
                  <a:spcPct val="100000"/>
                </a:lnSpc>
                <a:buAutoNum type="arabicPeriod"/>
              </a:pPr>
              <a:r>
                <a:rPr lang="zh-CN" altLang="en-US">
                  <a:latin typeface="微软雅黑" panose="020B0503020204020204" charset="-122"/>
                  <a:ea typeface="微软雅黑" panose="020B0503020204020204" charset="-122"/>
                  <a:cs typeface="微软雅黑" panose="020B0503020204020204" charset="-122"/>
                  <a:sym typeface="+mn-ea"/>
                </a:rPr>
                <a:t>患者基因优先级排序。</a:t>
              </a:r>
              <a:endParaRPr lang="zh-CN" altLang="en-US">
                <a:latin typeface="微软雅黑" panose="020B0503020204020204" charset="-122"/>
                <a:ea typeface="微软雅黑" panose="020B0503020204020204" charset="-122"/>
                <a:cs typeface="微软雅黑" panose="020B0503020204020204" charset="-122"/>
                <a:sym typeface="+mn-ea"/>
              </a:endParaRPr>
            </a:p>
            <a:p>
              <a:pPr algn="l" fontAlgn="auto">
                <a:lnSpc>
                  <a:spcPct val="150000"/>
                </a:lnSpc>
                <a:buClrTx/>
                <a:buSzTx/>
                <a:buFontTx/>
                <a:buNone/>
              </a:pPr>
              <a:endParaRPr lang="en-US" altLang="zh-CN">
                <a:latin typeface="微软雅黑" panose="020B0503020204020204" charset="-122"/>
                <a:ea typeface="微软雅黑" panose="020B0503020204020204" charset="-122"/>
                <a:cs typeface="微软雅黑" panose="020B0503020204020204" charset="-122"/>
                <a:sym typeface="+mn-ea"/>
              </a:endParaRPr>
            </a:p>
            <a:p>
              <a:pPr algn="l" fontAlgn="auto">
                <a:lnSpc>
                  <a:spcPct val="150000"/>
                </a:lnSpc>
                <a:buClrTx/>
                <a:buSzTx/>
                <a:buFontTx/>
                <a:buNone/>
              </a:pPr>
              <a:r>
                <a:rPr lang="en-US" altLang="zh-CN">
                  <a:latin typeface="微软雅黑" panose="020B0503020204020204" charset="-122"/>
                  <a:ea typeface="微软雅黑" panose="020B0503020204020204" charset="-122"/>
                  <a:cs typeface="微软雅黑" panose="020B0503020204020204" charset="-122"/>
                  <a:sym typeface="+mn-ea"/>
                </a:rPr>
                <a:t>在所有任务中，</a:t>
              </a:r>
              <a:r>
                <a:rPr lang="en-US" altLang="zh-CN"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rPr>
                <a:t>Biomni 的平均相对性能比基础大型语言模型（LLM）高出 402.3%，比编码智能体高出 43.0%，比其自身经过简化的变体 Biomni-ReAct 高出 20.4%。</a:t>
              </a:r>
              <a:endParaRPr lang="en-US" altLang="zh-CN" b="1">
                <a:solidFill>
                  <a:schemeClr val="accent6">
                    <a:lumMod val="50000"/>
                  </a:scheme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 name="组合 5"/>
          <p:cNvGrpSpPr/>
          <p:nvPr/>
        </p:nvGrpSpPr>
        <p:grpSpPr>
          <a:xfrm>
            <a:off x="0" y="-635"/>
            <a:ext cx="12192000" cy="707390"/>
            <a:chOff x="0" y="0"/>
            <a:chExt cx="19200" cy="1114"/>
          </a:xfrm>
        </p:grpSpPr>
        <p:sp>
          <p:nvSpPr>
            <p:cNvPr id="7" name="矩形 6"/>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1396" y="83"/>
              <a:ext cx="17412"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a:t>
              </a:r>
              <a:r>
                <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rPr>
                <a:t>Generalizes to new, real-world biomedical tasks across diverse subfields</a:t>
              </a:r>
              <a:endPar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trips(down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137275" y="912495"/>
            <a:ext cx="6002020" cy="5631180"/>
          </a:xfrm>
          <a:prstGeom prst="rect">
            <a:avLst/>
          </a:prstGeom>
          <a:noFill/>
        </p:spPr>
        <p:txBody>
          <a:bodyPr wrap="square" rtlCol="0" anchor="t">
            <a:spAutoFit/>
          </a:bodyPr>
          <a:p>
            <a:pPr marL="342900" indent="-342900" fontAlgn="auto">
              <a:lnSpc>
                <a:spcPct val="100000"/>
              </a:lnSpc>
              <a:buFont typeface="+mj-lt"/>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b="1">
                <a:latin typeface="微软雅黑" panose="020B0503020204020204" charset="-122"/>
                <a:ea typeface="微软雅黑" panose="020B0503020204020204" charset="-122"/>
                <a:cs typeface="微软雅黑" panose="020B0503020204020204" charset="-122"/>
                <a:sym typeface="+mn-ea"/>
              </a:rPr>
              <a:t>快速分析</a:t>
            </a:r>
            <a:r>
              <a:rPr lang="zh-CN" altLang="en-US">
                <a:latin typeface="微软雅黑" panose="020B0503020204020204" charset="-122"/>
                <a:ea typeface="微软雅黑" panose="020B0503020204020204" charset="-122"/>
                <a:cs typeface="微软雅黑" panose="020B0503020204020204" charset="-122"/>
                <a:sym typeface="+mn-ea"/>
              </a:rPr>
              <a:t>了来自</a:t>
            </a:r>
            <a:r>
              <a:rPr lang="en-US" altLang="zh-CN">
                <a:latin typeface="微软雅黑" panose="020B0503020204020204" charset="-122"/>
                <a:ea typeface="微软雅黑" panose="020B0503020204020204" charset="-122"/>
                <a:cs typeface="微软雅黑" panose="020B0503020204020204" charset="-122"/>
                <a:sym typeface="+mn-ea"/>
              </a:rPr>
              <a:t> 30 </a:t>
            </a:r>
            <a:r>
              <a:rPr lang="zh-CN" altLang="en-US">
                <a:latin typeface="微软雅黑" panose="020B0503020204020204" charset="-122"/>
                <a:ea typeface="微软雅黑" panose="020B0503020204020204" charset="-122"/>
                <a:cs typeface="微软雅黑" panose="020B0503020204020204" charset="-122"/>
                <a:sym typeface="+mn-ea"/>
              </a:rPr>
              <a:t>个个体的</a:t>
            </a:r>
            <a:r>
              <a:rPr lang="en-US" altLang="zh-CN">
                <a:latin typeface="微软雅黑" panose="020B0503020204020204" charset="-122"/>
                <a:ea typeface="微软雅黑" panose="020B0503020204020204" charset="-122"/>
                <a:cs typeface="微软雅黑" panose="020B0503020204020204" charset="-122"/>
                <a:sym typeface="+mn-ea"/>
              </a:rPr>
              <a:t> CGM </a:t>
            </a:r>
            <a:r>
              <a:rPr lang="zh-CN" altLang="en-US">
                <a:latin typeface="微软雅黑" panose="020B0503020204020204" charset="-122"/>
                <a:ea typeface="微软雅黑" panose="020B0503020204020204" charset="-122"/>
                <a:cs typeface="微软雅黑" panose="020B0503020204020204" charset="-122"/>
                <a:sym typeface="+mn-ea"/>
              </a:rPr>
              <a:t>衍生的热生成反应数据和活动数据。</a:t>
            </a:r>
            <a:endParaRPr lang="zh-CN" altLang="en-US">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lphaLcPeriod"/>
            </a:pPr>
            <a:r>
              <a:rPr lang="zh-CN" altLang="en-US" b="1">
                <a:latin typeface="微软雅黑" panose="020B0503020204020204" charset="-122"/>
                <a:ea typeface="微软雅黑" panose="020B0503020204020204" charset="-122"/>
                <a:cs typeface="微软雅黑" panose="020B0503020204020204" charset="-122"/>
                <a:sym typeface="+mn-ea"/>
              </a:rPr>
              <a:t>工作流程：</a:t>
            </a: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自主执行数据预处理、餐食事件检测、餐后温度分析和热生成反应特征化。</a:t>
            </a:r>
            <a:endParaRPr lang="en-US" altLang="zh-CN">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自动生成的代表性个体温度</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反应图和餐后温度增加分布。</a:t>
            </a:r>
            <a:endParaRPr lang="en-US" altLang="zh-CN">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识别的独特生物学发现总结，包括餐后核心体温显著增加，以及热生成反应中显著的个体间变异性。</a:t>
            </a:r>
            <a:endParaRPr lang="zh-CN" altLang="en-US">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自主分析了大约</a:t>
            </a:r>
            <a:r>
              <a:rPr lang="en-US" altLang="zh-CN">
                <a:latin typeface="微软雅黑" panose="020B0503020204020204" charset="-122"/>
                <a:ea typeface="微软雅黑" panose="020B0503020204020204" charset="-122"/>
                <a:cs typeface="微软雅黑" panose="020B0503020204020204" charset="-122"/>
                <a:sym typeface="+mn-ea"/>
              </a:rPr>
              <a:t> 336,000 </a:t>
            </a:r>
            <a:r>
              <a:rPr lang="zh-CN" altLang="en-US">
                <a:latin typeface="微软雅黑" panose="020B0503020204020204" charset="-122"/>
                <a:ea typeface="微软雅黑" panose="020B0503020204020204" charset="-122"/>
                <a:cs typeface="微软雅黑" panose="020B0503020204020204" charset="-122"/>
                <a:sym typeface="+mn-ea"/>
              </a:rPr>
              <a:t>个细胞核液滴的单细胞多组学数据，涵盖了人类胚胎关节发育。</a:t>
            </a:r>
            <a:endParaRPr lang="zh-CN" altLang="en-US">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lphaLcPeriod"/>
            </a:pPr>
            <a:r>
              <a:rPr lang="zh-CN" altLang="en-US" b="1">
                <a:latin typeface="微软雅黑" panose="020B0503020204020204" charset="-122"/>
                <a:ea typeface="微软雅黑" panose="020B0503020204020204" charset="-122"/>
                <a:cs typeface="微软雅黑" panose="020B0503020204020204" charset="-122"/>
                <a:sym typeface="+mn-ea"/>
              </a:rPr>
              <a:t>工作流程：</a:t>
            </a:r>
            <a:r>
              <a:rPr lang="zh-CN" altLang="en-US">
                <a:latin typeface="微软雅黑" panose="020B0503020204020204" charset="-122"/>
                <a:ea typeface="微软雅黑" panose="020B0503020204020204" charset="-122"/>
                <a:cs typeface="微软雅黑" panose="020B0503020204020204" charset="-122"/>
                <a:sym typeface="+mn-ea"/>
              </a:rPr>
              <a:t>用于多组学基因调控网络。</a:t>
            </a:r>
            <a:endParaRPr lang="zh-CN" altLang="en-US">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生成的两个关键图：左侧面板显示了发育阶段的调控因子活动热图，颜色强度表示活动水平。右侧面板显示了</a:t>
            </a:r>
            <a:r>
              <a:rPr lang="en-US" altLang="zh-CN">
                <a:latin typeface="微软雅黑" panose="020B0503020204020204" charset="-122"/>
                <a:ea typeface="微软雅黑" panose="020B0503020204020204" charset="-122"/>
                <a:cs typeface="微软雅黑" panose="020B0503020204020204" charset="-122"/>
                <a:sym typeface="+mn-ea"/>
              </a:rPr>
              <a:t> RUNX2 </a:t>
            </a:r>
            <a:r>
              <a:rPr lang="zh-CN" altLang="en-US">
                <a:latin typeface="微软雅黑" panose="020B0503020204020204" charset="-122"/>
                <a:ea typeface="微软雅黑" panose="020B0503020204020204" charset="-122"/>
                <a:cs typeface="微软雅黑" panose="020B0503020204020204" charset="-122"/>
                <a:sym typeface="+mn-ea"/>
              </a:rPr>
              <a:t>调控因子活性的箱线图，展示了不同细胞群体间的表达变异。</a:t>
            </a:r>
            <a:endParaRPr lang="en-US" altLang="zh-CN">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GRN </a:t>
            </a:r>
            <a:r>
              <a:rPr lang="zh-CN" altLang="en-US">
                <a:latin typeface="微软雅黑" panose="020B0503020204020204" charset="-122"/>
                <a:ea typeface="微软雅黑" panose="020B0503020204020204" charset="-122"/>
                <a:cs typeface="微软雅黑" panose="020B0503020204020204" charset="-122"/>
                <a:sym typeface="+mn-ea"/>
              </a:rPr>
              <a:t>分析的关键发现：</a:t>
            </a:r>
            <a:r>
              <a:rPr lang="en-US" altLang="zh-CN">
                <a:latin typeface="微软雅黑" panose="020B0503020204020204" charset="-122"/>
                <a:ea typeface="微软雅黑" panose="020B0503020204020204" charset="-122"/>
                <a:cs typeface="微软雅黑" panose="020B0503020204020204" charset="-122"/>
                <a:sym typeface="+mn-ea"/>
              </a:rPr>
              <a:t>1</a:t>
            </a:r>
            <a:r>
              <a:rPr lang="zh-CN" altLang="en-US">
                <a:latin typeface="微软雅黑" panose="020B0503020204020204" charset="-122"/>
                <a:ea typeface="微软雅黑" panose="020B0503020204020204" charset="-122"/>
                <a:cs typeface="微软雅黑" panose="020B0503020204020204" charset="-122"/>
                <a:sym typeface="+mn-ea"/>
              </a:rPr>
              <a:t>）主要转录因子在多个骨骼谱系中显示出高调控活性，尽管之前与骨骼发育没有关联，</a:t>
            </a:r>
            <a:r>
              <a:rPr lang="en-US" altLang="zh-CN">
                <a:latin typeface="微软雅黑" panose="020B0503020204020204" charset="-122"/>
                <a:ea typeface="微软雅黑" panose="020B0503020204020204" charset="-122"/>
                <a:cs typeface="微软雅黑" panose="020B0503020204020204" charset="-122"/>
                <a:sym typeface="+mn-ea"/>
              </a:rPr>
              <a:t>2</a:t>
            </a:r>
            <a:r>
              <a:rPr lang="zh-CN" altLang="en-US">
                <a:latin typeface="微软雅黑" panose="020B0503020204020204" charset="-122"/>
                <a:ea typeface="微软雅黑" panose="020B0503020204020204" charset="-122"/>
                <a:cs typeface="微软雅黑" panose="020B0503020204020204" charset="-122"/>
                <a:sym typeface="+mn-ea"/>
              </a:rPr>
              <a:t>）在恢复的</a:t>
            </a:r>
            <a:r>
              <a:rPr lang="en-US" altLang="zh-CN">
                <a:latin typeface="微软雅黑" panose="020B0503020204020204" charset="-122"/>
                <a:ea typeface="微软雅黑" panose="020B0503020204020204" charset="-122"/>
                <a:cs typeface="微软雅黑" panose="020B0503020204020204" charset="-122"/>
                <a:sym typeface="+mn-ea"/>
              </a:rPr>
              <a:t> 566-589 </a:t>
            </a:r>
            <a:r>
              <a:rPr lang="zh-CN" altLang="en-US">
                <a:latin typeface="微软雅黑" panose="020B0503020204020204" charset="-122"/>
                <a:ea typeface="微软雅黑" panose="020B0503020204020204" charset="-122"/>
                <a:cs typeface="微软雅黑" panose="020B0503020204020204" charset="-122"/>
                <a:sym typeface="+mn-ea"/>
              </a:rPr>
              <a:t>个调控因子中，肢体间充质细胞显示出最高的平均调控活性得分，强调了它们在骨骼转录控制中的显著作用。</a:t>
            </a:r>
            <a:endParaRPr lang="zh-CN" altLang="en-US">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0" y="706755"/>
            <a:ext cx="6137275" cy="6078855"/>
          </a:xfrm>
          <a:prstGeom prst="rect">
            <a:avLst/>
          </a:prstGeom>
        </p:spPr>
      </p:pic>
      <p:grpSp>
        <p:nvGrpSpPr>
          <p:cNvPr id="6" name="组合 5"/>
          <p:cNvGrpSpPr/>
          <p:nvPr/>
        </p:nvGrpSpPr>
        <p:grpSpPr>
          <a:xfrm>
            <a:off x="0" y="-635"/>
            <a:ext cx="12244070" cy="913130"/>
            <a:chOff x="0" y="0"/>
            <a:chExt cx="19282" cy="1438"/>
          </a:xfrm>
        </p:grpSpPr>
        <p:sp>
          <p:nvSpPr>
            <p:cNvPr id="7" name="矩形 6"/>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1396" y="83"/>
              <a:ext cx="17886" cy="1355"/>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a:t>
              </a:r>
              <a:r>
                <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rPr>
                <a:t>Executes complex multi-modal biomedical analyses to generate hypothesis</a:t>
              </a:r>
              <a:endPar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down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189980" y="1285240"/>
            <a:ext cx="5822950" cy="4523105"/>
          </a:xfrm>
          <a:prstGeom prst="rect">
            <a:avLst/>
          </a:prstGeom>
          <a:noFill/>
        </p:spPr>
        <p:txBody>
          <a:bodyPr wrap="square" rtlCol="0" anchor="t">
            <a:spAutoFit/>
          </a:bodyPr>
          <a:p>
            <a:pPr marL="342900" indent="-342900" fontAlgn="auto">
              <a:lnSpc>
                <a:spcPct val="100000"/>
              </a:lnSpc>
              <a:buFont typeface="+mj-lt"/>
              <a:buAutoNum type="alphaLcPeriod"/>
            </a:pPr>
            <a:r>
              <a:rPr lang="zh-CN" altLang="en-US">
                <a:latin typeface="微软雅黑" panose="020B0503020204020204" charset="-122"/>
                <a:ea typeface="微软雅黑" panose="020B0503020204020204" charset="-122"/>
                <a:cs typeface="微软雅黑" panose="020B0503020204020204" charset="-122"/>
                <a:sym typeface="+mn-ea"/>
              </a:rPr>
              <a:t>在</a:t>
            </a:r>
            <a:r>
              <a:rPr lang="en-US" altLang="zh-CN">
                <a:latin typeface="微软雅黑" panose="020B0503020204020204" charset="-122"/>
                <a:ea typeface="微软雅黑" panose="020B0503020204020204" charset="-122"/>
                <a:cs typeface="微软雅黑" panose="020B0503020204020204" charset="-122"/>
                <a:sym typeface="+mn-ea"/>
              </a:rPr>
              <a:t> </a:t>
            </a:r>
            <a:r>
              <a:rPr lang="en-US" altLang="zh-CN" b="1">
                <a:latin typeface="微软雅黑" panose="020B0503020204020204" charset="-122"/>
                <a:ea typeface="微软雅黑" panose="020B0503020204020204" charset="-122"/>
                <a:cs typeface="微软雅黑" panose="020B0503020204020204" charset="-122"/>
                <a:sym typeface="+mn-ea"/>
              </a:rPr>
              <a:t>10 </a:t>
            </a:r>
            <a:r>
              <a:rPr lang="zh-CN" altLang="en-US" b="1">
                <a:latin typeface="微软雅黑" panose="020B0503020204020204" charset="-122"/>
                <a:ea typeface="微软雅黑" panose="020B0503020204020204" charset="-122"/>
                <a:cs typeface="微软雅黑" panose="020B0503020204020204" charset="-122"/>
                <a:sym typeface="+mn-ea"/>
              </a:rPr>
              <a:t>个真实克隆场景</a:t>
            </a:r>
            <a:r>
              <a:rPr lang="zh-CN" altLang="en-US">
                <a:latin typeface="微软雅黑" panose="020B0503020204020204" charset="-122"/>
                <a:ea typeface="微软雅黑" panose="020B0503020204020204" charset="-122"/>
                <a:cs typeface="微软雅黑" panose="020B0503020204020204" charset="-122"/>
                <a:sym typeface="+mn-ea"/>
              </a:rPr>
              <a:t>中进行开放式克隆基准测试。将</a:t>
            </a:r>
            <a:r>
              <a:rPr lang="en-US" altLang="zh-CN">
                <a:latin typeface="微软雅黑" panose="020B0503020204020204" charset="-122"/>
                <a:ea typeface="微软雅黑" panose="020B0503020204020204" charset="-122"/>
                <a:cs typeface="微软雅黑" panose="020B0503020204020204" charset="-122"/>
                <a:sym typeface="+mn-ea"/>
              </a:rPr>
              <a:t> Biomni </a:t>
            </a:r>
            <a:r>
              <a:rPr lang="zh-CN" altLang="en-US">
                <a:latin typeface="微软雅黑" panose="020B0503020204020204" charset="-122"/>
                <a:ea typeface="微软雅黑" panose="020B0503020204020204" charset="-122"/>
                <a:cs typeface="微软雅黑" panose="020B0503020204020204" charset="-122"/>
                <a:sym typeface="+mn-ea"/>
              </a:rPr>
              <a:t>与基础大型语言模型（</a:t>
            </a:r>
            <a:r>
              <a:rPr lang="en-US" altLang="zh-CN">
                <a:latin typeface="微软雅黑" panose="020B0503020204020204" charset="-122"/>
                <a:ea typeface="微软雅黑" panose="020B0503020204020204" charset="-122"/>
                <a:cs typeface="微软雅黑" panose="020B0503020204020204" charset="-122"/>
                <a:sym typeface="+mn-ea"/>
              </a:rPr>
              <a:t>LLM</a:t>
            </a:r>
            <a:r>
              <a:rPr lang="zh-CN" altLang="en-US">
                <a:latin typeface="微软雅黑" panose="020B0503020204020204" charset="-122"/>
                <a:ea typeface="微软雅黑" panose="020B0503020204020204" charset="-122"/>
                <a:cs typeface="微软雅黑" panose="020B0503020204020204" charset="-122"/>
                <a:sym typeface="+mn-ea"/>
              </a:rPr>
              <a:t>）、训练水平的人类和专家水平的人类科学家进行了比较。我们发现</a:t>
            </a:r>
            <a:r>
              <a:rPr lang="en-US" altLang="zh-CN">
                <a:latin typeface="微软雅黑" panose="020B0503020204020204" charset="-122"/>
                <a:ea typeface="微软雅黑" panose="020B0503020204020204" charset="-122"/>
                <a:cs typeface="微软雅黑" panose="020B0503020204020204" charset="-122"/>
                <a:sym typeface="+mn-ea"/>
              </a:rPr>
              <a:t> </a:t>
            </a:r>
            <a:r>
              <a:rPr lang="en-US" altLang="zh-CN" b="1">
                <a:latin typeface="微软雅黑" panose="020B0503020204020204" charset="-122"/>
                <a:ea typeface="微软雅黑" panose="020B0503020204020204" charset="-122"/>
                <a:cs typeface="微软雅黑" panose="020B0503020204020204" charset="-122"/>
                <a:sym typeface="+mn-ea"/>
              </a:rPr>
              <a:t>Biomni 的准确性与专家级科学家相似，并且比训练水平的准确性显著更高，同时所用时间更少。</a:t>
            </a:r>
            <a:endParaRPr lang="en-US" altLang="zh-CN">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Font typeface="+mj-lt"/>
              <a:buAutoNum type="alphaLcPeriod"/>
            </a:pPr>
            <a:r>
              <a:rPr lang="zh-CN" altLang="en-US">
                <a:latin typeface="微软雅黑" panose="020B0503020204020204" charset="-122"/>
                <a:ea typeface="微软雅黑" panose="020B0503020204020204" charset="-122"/>
                <a:cs typeface="微软雅黑" panose="020B0503020204020204" charset="-122"/>
                <a:sym typeface="+mn-ea"/>
              </a:rPr>
              <a:t>用户请求</a:t>
            </a:r>
            <a:r>
              <a:rPr lang="en-US" altLang="zh-CN">
                <a:latin typeface="微软雅黑" panose="020B0503020204020204" charset="-122"/>
                <a:ea typeface="微软雅黑" panose="020B0503020204020204" charset="-122"/>
                <a:cs typeface="微软雅黑" panose="020B0503020204020204" charset="-122"/>
                <a:sym typeface="+mn-ea"/>
              </a:rPr>
              <a:t> Biomni </a:t>
            </a:r>
            <a:r>
              <a:rPr lang="zh-CN" altLang="en-US">
                <a:latin typeface="微软雅黑" panose="020B0503020204020204" charset="-122"/>
                <a:ea typeface="微软雅黑" panose="020B0503020204020204" charset="-122"/>
                <a:cs typeface="微软雅黑" panose="020B0503020204020204" charset="-122"/>
                <a:sym typeface="+mn-ea"/>
              </a:rPr>
              <a:t>克隆一个针对人类</a:t>
            </a:r>
            <a:r>
              <a:rPr lang="en-US" altLang="zh-CN">
                <a:latin typeface="微软雅黑" panose="020B0503020204020204" charset="-122"/>
                <a:ea typeface="微软雅黑" panose="020B0503020204020204" charset="-122"/>
                <a:cs typeface="微软雅黑" panose="020B0503020204020204" charset="-122"/>
                <a:sym typeface="+mn-ea"/>
              </a:rPr>
              <a:t> B2M </a:t>
            </a:r>
            <a:r>
              <a:rPr lang="zh-CN" altLang="en-US">
                <a:latin typeface="微软雅黑" panose="020B0503020204020204" charset="-122"/>
                <a:ea typeface="微软雅黑" panose="020B0503020204020204" charset="-122"/>
                <a:cs typeface="微软雅黑" panose="020B0503020204020204" charset="-122"/>
                <a:sym typeface="+mn-ea"/>
              </a:rPr>
              <a:t>基因的</a:t>
            </a:r>
            <a:r>
              <a:rPr lang="en-US" altLang="zh-CN">
                <a:latin typeface="微软雅黑" panose="020B0503020204020204" charset="-122"/>
                <a:ea typeface="微软雅黑" panose="020B0503020204020204" charset="-122"/>
                <a:cs typeface="微软雅黑" panose="020B0503020204020204" charset="-122"/>
                <a:sym typeface="+mn-ea"/>
              </a:rPr>
              <a:t> sgRNA </a:t>
            </a:r>
            <a:r>
              <a:rPr lang="zh-CN" altLang="en-US">
                <a:latin typeface="微软雅黑" panose="020B0503020204020204" charset="-122"/>
                <a:ea typeface="微软雅黑" panose="020B0503020204020204" charset="-122"/>
                <a:cs typeface="微软雅黑" panose="020B0503020204020204" charset="-122"/>
                <a:sym typeface="+mn-ea"/>
              </a:rPr>
              <a:t>到</a:t>
            </a:r>
            <a:r>
              <a:rPr lang="en-US" altLang="zh-CN">
                <a:latin typeface="微软雅黑" panose="020B0503020204020204" charset="-122"/>
                <a:ea typeface="微软雅黑" panose="020B0503020204020204" charset="-122"/>
                <a:cs typeface="微软雅黑" panose="020B0503020204020204" charset="-122"/>
                <a:sym typeface="+mn-ea"/>
              </a:rPr>
              <a:t> lentiCRISPR v2 Blast </a:t>
            </a:r>
            <a:r>
              <a:rPr lang="zh-CN" altLang="en-US">
                <a:latin typeface="微软雅黑" panose="020B0503020204020204" charset="-122"/>
                <a:ea typeface="微软雅黑" panose="020B0503020204020204" charset="-122"/>
                <a:cs typeface="微软雅黑" panose="020B0503020204020204" charset="-122"/>
                <a:sym typeface="+mn-ea"/>
              </a:rPr>
              <a:t>质粒中。</a:t>
            </a:r>
            <a:endParaRPr lang="en-US" altLang="zh-CN">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Font typeface="+mj-lt"/>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的自动化步分工作流程，包括质粒分析、</a:t>
            </a:r>
            <a:r>
              <a:rPr lang="en-US" altLang="zh-CN">
                <a:latin typeface="微软雅黑" panose="020B0503020204020204" charset="-122"/>
                <a:ea typeface="微软雅黑" panose="020B0503020204020204" charset="-122"/>
                <a:cs typeface="微软雅黑" panose="020B0503020204020204" charset="-122"/>
                <a:sym typeface="+mn-ea"/>
              </a:rPr>
              <a:t>sgRNA </a:t>
            </a:r>
            <a:r>
              <a:rPr lang="zh-CN" altLang="en-US">
                <a:latin typeface="微软雅黑" panose="020B0503020204020204" charset="-122"/>
                <a:ea typeface="微软雅黑" panose="020B0503020204020204" charset="-122"/>
                <a:cs typeface="微软雅黑" panose="020B0503020204020204" charset="-122"/>
                <a:sym typeface="+mn-ea"/>
              </a:rPr>
              <a:t>设计、寡核苷酸合成、</a:t>
            </a:r>
            <a:r>
              <a:rPr lang="en-US" altLang="zh-CN">
                <a:latin typeface="微软雅黑" panose="020B0503020204020204" charset="-122"/>
                <a:ea typeface="微软雅黑" panose="020B0503020204020204" charset="-122"/>
                <a:cs typeface="微软雅黑" panose="020B0503020204020204" charset="-122"/>
                <a:sym typeface="+mn-ea"/>
              </a:rPr>
              <a:t>Golden Gate </a:t>
            </a:r>
            <a:r>
              <a:rPr lang="zh-CN" altLang="en-US">
                <a:latin typeface="微软雅黑" panose="020B0503020204020204" charset="-122"/>
                <a:ea typeface="微软雅黑" panose="020B0503020204020204" charset="-122"/>
                <a:cs typeface="微软雅黑" panose="020B0503020204020204" charset="-122"/>
                <a:sym typeface="+mn-ea"/>
              </a:rPr>
              <a:t>组装、细菌转化、菌落筛选和最终质粒映射。</a:t>
            </a:r>
            <a:endParaRPr lang="en-US" altLang="zh-CN">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Font typeface="+mj-lt"/>
              <a:buAutoNum type="alphaLcPeriod"/>
            </a:pPr>
            <a:r>
              <a:rPr lang="en-US" altLang="zh-CN">
                <a:latin typeface="微软雅黑" panose="020B0503020204020204" charset="-122"/>
                <a:ea typeface="微软雅黑" panose="020B0503020204020204" charset="-122"/>
                <a:cs typeface="微软雅黑" panose="020B0503020204020204" charset="-122"/>
                <a:sym typeface="+mn-ea"/>
              </a:rPr>
              <a:t>Biomni </a:t>
            </a:r>
            <a:r>
              <a:rPr lang="zh-CN" altLang="en-US">
                <a:latin typeface="微软雅黑" panose="020B0503020204020204" charset="-122"/>
                <a:ea typeface="微软雅黑" panose="020B0503020204020204" charset="-122"/>
                <a:cs typeface="微软雅黑" panose="020B0503020204020204" charset="-122"/>
                <a:sym typeface="+mn-ea"/>
              </a:rPr>
              <a:t>生成的详细克隆实验步骤，包含逐步说明和全面的质粒图谱，使实验室科学家能够自主执行实验。</a:t>
            </a:r>
            <a:endParaRPr lang="en-US" altLang="zh-CN">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00000"/>
              </a:lnSpc>
              <a:buFont typeface="+mj-lt"/>
              <a:buAutoNum type="alphaLcPeriod"/>
            </a:pPr>
            <a:r>
              <a:rPr lang="zh-CN" altLang="en-US">
                <a:latin typeface="微软雅黑" panose="020B0503020204020204" charset="-122"/>
                <a:ea typeface="微软雅黑" panose="020B0503020204020204" charset="-122"/>
                <a:cs typeface="微软雅黑" panose="020B0503020204020204" charset="-122"/>
                <a:sym typeface="+mn-ea"/>
              </a:rPr>
              <a:t>通过在筛选板上成功生长的菌落验证</a:t>
            </a:r>
            <a:r>
              <a:rPr lang="en-US" altLang="zh-CN">
                <a:latin typeface="微软雅黑" panose="020B0503020204020204" charset="-122"/>
                <a:ea typeface="微软雅黑" panose="020B0503020204020204" charset="-122"/>
                <a:cs typeface="微软雅黑" panose="020B0503020204020204" charset="-122"/>
                <a:sym typeface="+mn-ea"/>
              </a:rPr>
              <a:t> Biomni </a:t>
            </a:r>
            <a:r>
              <a:rPr lang="zh-CN" altLang="en-US">
                <a:latin typeface="微软雅黑" panose="020B0503020204020204" charset="-122"/>
                <a:ea typeface="微软雅黑" panose="020B0503020204020204" charset="-122"/>
                <a:cs typeface="微软雅黑" panose="020B0503020204020204" charset="-122"/>
                <a:sym typeface="+mn-ea"/>
              </a:rPr>
              <a:t>的克隆方案，随后通过</a:t>
            </a:r>
            <a:r>
              <a:rPr lang="en-US" altLang="zh-CN">
                <a:latin typeface="微软雅黑" panose="020B0503020204020204" charset="-122"/>
                <a:ea typeface="微软雅黑" panose="020B0503020204020204" charset="-122"/>
                <a:cs typeface="微软雅黑" panose="020B0503020204020204" charset="-122"/>
                <a:sym typeface="+mn-ea"/>
              </a:rPr>
              <a:t> Sanger </a:t>
            </a:r>
            <a:r>
              <a:rPr lang="zh-CN" altLang="en-US">
                <a:latin typeface="微软雅黑" panose="020B0503020204020204" charset="-122"/>
                <a:ea typeface="微软雅黑" panose="020B0503020204020204" charset="-122"/>
                <a:cs typeface="微软雅黑" panose="020B0503020204020204" charset="-122"/>
                <a:sym typeface="+mn-ea"/>
              </a:rPr>
              <a:t>测序确认</a:t>
            </a:r>
            <a:r>
              <a:rPr lang="en-US" altLang="zh-CN">
                <a:latin typeface="微软雅黑" panose="020B0503020204020204" charset="-122"/>
                <a:ea typeface="微软雅黑" panose="020B0503020204020204" charset="-122"/>
                <a:cs typeface="微软雅黑" panose="020B0503020204020204" charset="-122"/>
                <a:sym typeface="+mn-ea"/>
              </a:rPr>
              <a:t> sgRNA </a:t>
            </a:r>
            <a:r>
              <a:rPr lang="zh-CN" altLang="en-US">
                <a:latin typeface="微软雅黑" panose="020B0503020204020204" charset="-122"/>
                <a:ea typeface="微软雅黑" panose="020B0503020204020204" charset="-122"/>
                <a:cs typeface="微软雅黑" panose="020B0503020204020204" charset="-122"/>
                <a:sym typeface="+mn-ea"/>
              </a:rPr>
              <a:t>插入在挑选的菌落中完美对齐，展示了</a:t>
            </a:r>
            <a:r>
              <a:rPr lang="en-US" altLang="zh-CN">
                <a:latin typeface="微软雅黑" panose="020B0503020204020204" charset="-122"/>
                <a:ea typeface="微软雅黑" panose="020B0503020204020204" charset="-122"/>
                <a:cs typeface="微软雅黑" panose="020B0503020204020204" charset="-122"/>
                <a:sym typeface="+mn-ea"/>
              </a:rPr>
              <a:t> Biomni </a:t>
            </a:r>
            <a:r>
              <a:rPr lang="zh-CN" altLang="en-US">
                <a:latin typeface="微软雅黑" panose="020B0503020204020204" charset="-122"/>
                <a:ea typeface="微软雅黑" panose="020B0503020204020204" charset="-122"/>
                <a:cs typeface="微软雅黑" panose="020B0503020204020204" charset="-122"/>
                <a:sym typeface="+mn-ea"/>
              </a:rPr>
              <a:t>在精确可靠实验设计方面的强有力能力。</a:t>
            </a:r>
            <a:endParaRPr lang="zh-CN" altLang="en-US">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1"/>
          <a:stretch>
            <a:fillRect/>
          </a:stretch>
        </p:blipFill>
        <p:spPr>
          <a:xfrm>
            <a:off x="83185" y="706755"/>
            <a:ext cx="5562600" cy="6095365"/>
          </a:xfrm>
          <a:prstGeom prst="rect">
            <a:avLst/>
          </a:prstGeom>
        </p:spPr>
      </p:pic>
      <p:grpSp>
        <p:nvGrpSpPr>
          <p:cNvPr id="6" name="组合 5"/>
          <p:cNvGrpSpPr/>
          <p:nvPr/>
        </p:nvGrpSpPr>
        <p:grpSpPr>
          <a:xfrm>
            <a:off x="0" y="-635"/>
            <a:ext cx="12244070" cy="913130"/>
            <a:chOff x="0" y="0"/>
            <a:chExt cx="19282" cy="1438"/>
          </a:xfrm>
        </p:grpSpPr>
        <p:sp>
          <p:nvSpPr>
            <p:cNvPr id="7" name="矩形 6"/>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1396" y="83"/>
              <a:ext cx="17886" cy="1355"/>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Results-</a:t>
              </a:r>
              <a:r>
                <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rPr>
                <a:t>Designs wet-lab experimental protocol</a:t>
              </a:r>
              <a:endPar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pic>
        <p:nvPicPr>
          <p:cNvPr id="4" name="图片 3" descr="logo"/>
          <p:cNvPicPr>
            <a:picLocks noChangeAspect="1"/>
          </p:cNvPicPr>
          <p:nvPr/>
        </p:nvPicPr>
        <p:blipFill>
          <a:blip r:embed="rId2"/>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down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 name="组合 22"/>
          <p:cNvGrpSpPr/>
          <p:nvPr/>
        </p:nvGrpSpPr>
        <p:grpSpPr>
          <a:xfrm>
            <a:off x="1266825" y="791210"/>
            <a:ext cx="11169650" cy="2813685"/>
            <a:chOff x="1995" y="1246"/>
            <a:chExt cx="17590" cy="4431"/>
          </a:xfrm>
        </p:grpSpPr>
        <p:sp>
          <p:nvSpPr>
            <p:cNvPr id="3" name="圆角矩形 2"/>
            <p:cNvSpPr/>
            <p:nvPr/>
          </p:nvSpPr>
          <p:spPr>
            <a:xfrm>
              <a:off x="8295" y="1246"/>
              <a:ext cx="2609"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sz="2400" b="1">
                  <a:solidFill>
                    <a:schemeClr val="accent6">
                      <a:lumMod val="50000"/>
                    </a:schemeClr>
                  </a:solidFill>
                  <a:latin typeface="微软雅黑" panose="020B0503020204020204" charset="-122"/>
                  <a:ea typeface="微软雅黑" panose="020B0503020204020204" charset="-122"/>
                </a:rPr>
                <a:t>实际应用</a:t>
              </a:r>
              <a:endParaRPr lang="zh-CN" altLang="en-US" sz="2400" b="1">
                <a:solidFill>
                  <a:schemeClr val="accent6">
                    <a:lumMod val="50000"/>
                  </a:schemeClr>
                </a:solidFill>
                <a:latin typeface="微软雅黑" panose="020B0503020204020204" charset="-122"/>
                <a:ea typeface="微软雅黑" panose="020B0503020204020204" charset="-122"/>
              </a:endParaRPr>
            </a:p>
          </p:txBody>
        </p:sp>
        <p:grpSp>
          <p:nvGrpSpPr>
            <p:cNvPr id="2" name="组合 1"/>
            <p:cNvGrpSpPr/>
            <p:nvPr/>
          </p:nvGrpSpPr>
          <p:grpSpPr>
            <a:xfrm>
              <a:off x="1995" y="2393"/>
              <a:ext cx="17590" cy="3284"/>
              <a:chOff x="369" y="2512"/>
              <a:chExt cx="17590" cy="3284"/>
            </a:xfrm>
          </p:grpSpPr>
          <p:sp>
            <p:nvSpPr>
              <p:cNvPr id="5" name="圆角矩形 4"/>
              <p:cNvSpPr/>
              <p:nvPr/>
            </p:nvSpPr>
            <p:spPr>
              <a:xfrm>
                <a:off x="666" y="2512"/>
                <a:ext cx="4659" cy="91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b="1">
                    <a:solidFill>
                      <a:schemeClr val="tx1"/>
                    </a:solidFill>
                    <a:latin typeface="微软雅黑" panose="020B0503020204020204" charset="-122"/>
                    <a:ea typeface="微软雅黑" panose="020B0503020204020204" charset="-122"/>
                  </a:rPr>
                  <a:t>生物制药的靶点和药物发现</a:t>
                </a:r>
                <a:endParaRPr lang="zh-CN" altLang="en-US" b="1">
                  <a:solidFill>
                    <a:schemeClr val="tx1"/>
                  </a:solidFill>
                  <a:latin typeface="微软雅黑" panose="020B0503020204020204" charset="-122"/>
                  <a:ea typeface="微软雅黑" panose="020B0503020204020204" charset="-122"/>
                </a:endParaRPr>
              </a:p>
            </p:txBody>
          </p:sp>
          <p:sp>
            <p:nvSpPr>
              <p:cNvPr id="6" name="圆角矩形 5"/>
              <p:cNvSpPr/>
              <p:nvPr/>
            </p:nvSpPr>
            <p:spPr>
              <a:xfrm>
                <a:off x="666" y="3722"/>
                <a:ext cx="4659" cy="942"/>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b="1">
                    <a:solidFill>
                      <a:schemeClr val="tx1"/>
                    </a:solidFill>
                    <a:latin typeface="微软雅黑" panose="020B0503020204020204" charset="-122"/>
                    <a:ea typeface="微软雅黑" panose="020B0503020204020204" charset="-122"/>
                  </a:rPr>
                  <a:t>临床应用环境</a:t>
                </a:r>
                <a:endParaRPr lang="zh-CN" altLang="en-US" b="1">
                  <a:solidFill>
                    <a:schemeClr val="tx1"/>
                  </a:solidFill>
                  <a:latin typeface="微软雅黑" panose="020B0503020204020204" charset="-122"/>
                  <a:ea typeface="微软雅黑" panose="020B0503020204020204" charset="-122"/>
                </a:endParaRPr>
              </a:p>
            </p:txBody>
          </p:sp>
          <p:sp>
            <p:nvSpPr>
              <p:cNvPr id="7" name="圆角矩形 6"/>
              <p:cNvSpPr/>
              <p:nvPr/>
            </p:nvSpPr>
            <p:spPr>
              <a:xfrm>
                <a:off x="666" y="4929"/>
                <a:ext cx="4659" cy="867"/>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b="1">
                    <a:solidFill>
                      <a:schemeClr val="tx1"/>
                    </a:solidFill>
                    <a:latin typeface="微软雅黑" panose="020B0503020204020204" charset="-122"/>
                    <a:ea typeface="微软雅黑" panose="020B0503020204020204" charset="-122"/>
                  </a:rPr>
                  <a:t>消费者健康</a:t>
                </a:r>
                <a:endParaRPr lang="zh-CN" altLang="en-US" b="1">
                  <a:solidFill>
                    <a:schemeClr val="tx1"/>
                  </a:solidFill>
                  <a:latin typeface="微软雅黑" panose="020B0503020204020204" charset="-122"/>
                  <a:ea typeface="微软雅黑" panose="020B0503020204020204" charset="-122"/>
                </a:endParaRPr>
              </a:p>
            </p:txBody>
          </p:sp>
          <p:sp>
            <p:nvSpPr>
              <p:cNvPr id="10" name="左大括号 9"/>
              <p:cNvSpPr/>
              <p:nvPr/>
            </p:nvSpPr>
            <p:spPr>
              <a:xfrm>
                <a:off x="369" y="2828"/>
                <a:ext cx="119" cy="2788"/>
              </a:xfrm>
              <a:prstGeom prst="leftBrace">
                <a:avLst/>
              </a:prstGeom>
              <a:noFill/>
              <a:ln>
                <a:solidFill>
                  <a:schemeClr val="accent6">
                    <a:lumMod val="50000"/>
                  </a:schemeClr>
                </a:solidFill>
              </a:ln>
              <a:extLst>
                <a:ext uri="{909E8E84-426E-40DD-AFC4-6F175D3DCCD1}">
                  <a14:hiddenFill xmlns:a14="http://schemas.microsoft.com/office/drawing/2010/main">
                    <a:solidFill>
                      <a:srgbClr val="C00000"/>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文本框 10"/>
              <p:cNvSpPr txBox="1"/>
              <p:nvPr/>
            </p:nvSpPr>
            <p:spPr>
              <a:xfrm>
                <a:off x="5779" y="2623"/>
                <a:ext cx="12180" cy="580"/>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rPr>
                  <a:t>优先排序目标，设计扰动筛选，或重新利用药物</a:t>
                </a:r>
                <a:endParaRPr lang="zh-CN" altLang="en-US">
                  <a:latin typeface="微软雅黑" panose="020B0503020204020204" charset="-122"/>
                  <a:ea typeface="微软雅黑" panose="020B0503020204020204" charset="-122"/>
                </a:endParaRPr>
              </a:p>
            </p:txBody>
          </p:sp>
          <p:sp>
            <p:nvSpPr>
              <p:cNvPr id="12" name="文本框 11"/>
              <p:cNvSpPr txBox="1"/>
              <p:nvPr/>
            </p:nvSpPr>
            <p:spPr>
              <a:xfrm>
                <a:off x="5779" y="3857"/>
                <a:ext cx="12180" cy="580"/>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rPr>
                  <a:t>基因优先排序和罕见病诊断</a:t>
                </a:r>
                <a:endParaRPr lang="zh-CN" altLang="en-US">
                  <a:latin typeface="微软雅黑" panose="020B0503020204020204" charset="-122"/>
                  <a:ea typeface="微软雅黑" panose="020B0503020204020204" charset="-122"/>
                </a:endParaRPr>
              </a:p>
            </p:txBody>
          </p:sp>
          <p:sp>
            <p:nvSpPr>
              <p:cNvPr id="13" name="文本框 12"/>
              <p:cNvSpPr txBox="1"/>
              <p:nvPr/>
            </p:nvSpPr>
            <p:spPr>
              <a:xfrm>
                <a:off x="5779" y="5091"/>
                <a:ext cx="12180" cy="580"/>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rPr>
                  <a:t>可穿戴设备数据和多组学分析的整合</a:t>
                </a:r>
                <a:endParaRPr lang="zh-CN" altLang="en-US">
                  <a:latin typeface="微软雅黑" panose="020B0503020204020204" charset="-122"/>
                  <a:ea typeface="微软雅黑" panose="020B0503020204020204" charset="-122"/>
                </a:endParaRPr>
              </a:p>
            </p:txBody>
          </p:sp>
        </p:grpSp>
      </p:grpSp>
      <p:grpSp>
        <p:nvGrpSpPr>
          <p:cNvPr id="24" name="组合 23"/>
          <p:cNvGrpSpPr/>
          <p:nvPr/>
        </p:nvGrpSpPr>
        <p:grpSpPr>
          <a:xfrm>
            <a:off x="481965" y="3904615"/>
            <a:ext cx="11603990" cy="2742565"/>
            <a:chOff x="759" y="6149"/>
            <a:chExt cx="18274" cy="4319"/>
          </a:xfrm>
        </p:grpSpPr>
        <p:sp>
          <p:nvSpPr>
            <p:cNvPr id="15" name="圆角矩形 14"/>
            <p:cNvSpPr/>
            <p:nvPr/>
          </p:nvSpPr>
          <p:spPr>
            <a:xfrm>
              <a:off x="8295" y="6149"/>
              <a:ext cx="2609"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sz="2400" b="1">
                  <a:solidFill>
                    <a:schemeClr val="accent6">
                      <a:lumMod val="50000"/>
                    </a:schemeClr>
                  </a:solidFill>
                  <a:latin typeface="微软雅黑" panose="020B0503020204020204" charset="-122"/>
                  <a:ea typeface="微软雅黑" panose="020B0503020204020204" charset="-122"/>
                </a:rPr>
                <a:t>局限性</a:t>
              </a:r>
              <a:endParaRPr lang="zh-CN" altLang="en-US" sz="2400" b="1">
                <a:solidFill>
                  <a:schemeClr val="accent6">
                    <a:lumMod val="50000"/>
                  </a:schemeClr>
                </a:solidFill>
                <a:latin typeface="微软雅黑" panose="020B0503020204020204" charset="-122"/>
                <a:ea typeface="微软雅黑" panose="020B0503020204020204" charset="-122"/>
              </a:endParaRPr>
            </a:p>
          </p:txBody>
        </p:sp>
        <p:sp>
          <p:nvSpPr>
            <p:cNvPr id="16" name="文本框 15"/>
            <p:cNvSpPr txBox="1"/>
            <p:nvPr/>
          </p:nvSpPr>
          <p:spPr>
            <a:xfrm>
              <a:off x="1995" y="7202"/>
              <a:ext cx="17038" cy="2139"/>
            </a:xfrm>
            <a:prstGeom prst="rect">
              <a:avLst/>
            </a:prstGeom>
            <a:noFill/>
          </p:spPr>
          <p:txBody>
            <a:bodyPr wrap="square" rtlCol="0" anchor="t">
              <a:noAutofit/>
            </a:bodyPr>
            <a:p>
              <a:pPr marL="285750" indent="-285750" fontAlgn="auto">
                <a:lnSpc>
                  <a:spcPct val="150000"/>
                </a:lnSpc>
                <a:buFont typeface="Arial" panose="020B0604020202020204" pitchFamily="34" charset="0"/>
                <a:buChar char="•"/>
              </a:pPr>
              <a:r>
                <a:rPr lang="zh-CN" altLang="en-US">
                  <a:latin typeface="微软雅黑" panose="020B0503020204020204" charset="-122"/>
                  <a:ea typeface="微软雅黑" panose="020B0503020204020204" charset="-122"/>
                </a:rPr>
                <a:t>评估的任务仅代表某些领域的一个子集，</a:t>
              </a:r>
              <a:r>
                <a:rPr lang="zh-CN" altLang="en-US" b="1">
                  <a:latin typeface="微软雅黑" panose="020B0503020204020204" charset="-122"/>
                  <a:ea typeface="微软雅黑" panose="020B0503020204020204" charset="-122"/>
                </a:rPr>
                <a:t>关键领域仍未被探索。</a:t>
              </a:r>
              <a:endParaRPr lang="zh-CN" altLang="en-US">
                <a:latin typeface="微软雅黑" panose="020B0503020204020204" charset="-122"/>
                <a:ea typeface="微软雅黑" panose="020B0503020204020204" charset="-122"/>
              </a:endParaRPr>
            </a:p>
            <a:p>
              <a:pPr marL="285750" indent="-285750" fontAlgn="auto">
                <a:lnSpc>
                  <a:spcPct val="150000"/>
                </a:lnSpc>
                <a:buFont typeface="Arial" panose="020B0604020202020204" pitchFamily="34" charset="0"/>
                <a:buChar char="•"/>
              </a:pPr>
              <a:r>
                <a:rPr lang="zh-CN" altLang="en-US">
                  <a:latin typeface="微软雅黑" panose="020B0503020204020204" charset="-122"/>
                  <a:ea typeface="微软雅黑" panose="020B0503020204020204" charset="-122"/>
                </a:rPr>
                <a:t>在归纳工具和数据集时只考虑了近期文献，存在</a:t>
              </a:r>
              <a:r>
                <a:rPr lang="zh-CN" altLang="en-US" b="1">
                  <a:latin typeface="微软雅黑" panose="020B0503020204020204" charset="-122"/>
                  <a:ea typeface="微软雅黑" panose="020B0503020204020204" charset="-122"/>
                </a:rPr>
                <a:t>忽视基础概念和技术的风险。</a:t>
              </a:r>
              <a:endParaRPr lang="zh-CN" altLang="en-US">
                <a:latin typeface="微软雅黑" panose="020B0503020204020204" charset="-122"/>
                <a:ea typeface="微软雅黑" panose="020B0503020204020204" charset="-122"/>
              </a:endParaRPr>
            </a:p>
            <a:p>
              <a:pPr marL="285750" indent="-285750" fontAlgn="auto">
                <a:lnSpc>
                  <a:spcPct val="150000"/>
                </a:lnSpc>
                <a:buFont typeface="Arial" panose="020B0604020202020204" pitchFamily="34" charset="0"/>
                <a:buChar char="•"/>
              </a:pPr>
              <a:r>
                <a:rPr lang="zh-CN" altLang="en-US">
                  <a:latin typeface="微软雅黑" panose="020B0503020204020204" charset="-122"/>
                  <a:ea typeface="微软雅黑" panose="020B0503020204020204" charset="-122"/>
                </a:rPr>
                <a:t>在需要细致的临床判断、新颖的实验推理、分析发明或深度生物学思维和综合的领域中仍然存在困难。</a:t>
              </a:r>
              <a:endParaRPr lang="zh-CN" altLang="en-US">
                <a:latin typeface="微软雅黑" panose="020B0503020204020204" charset="-122"/>
                <a:ea typeface="微软雅黑" panose="020B0503020204020204" charset="-122"/>
              </a:endParaRPr>
            </a:p>
          </p:txBody>
        </p:sp>
        <p:sp>
          <p:nvSpPr>
            <p:cNvPr id="18" name="圆角矩形 17"/>
            <p:cNvSpPr/>
            <p:nvPr/>
          </p:nvSpPr>
          <p:spPr>
            <a:xfrm>
              <a:off x="2716" y="9434"/>
              <a:ext cx="3064"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b="1">
                  <a:solidFill>
                    <a:schemeClr val="tx1"/>
                  </a:solidFill>
                  <a:latin typeface="微软雅黑" panose="020B0503020204020204" charset="-122"/>
                  <a:ea typeface="微软雅黑" panose="020B0503020204020204" charset="-122"/>
                </a:rPr>
                <a:t>强化学习</a:t>
              </a:r>
              <a:endParaRPr lang="zh-CN" altLang="en-US" b="1">
                <a:solidFill>
                  <a:schemeClr val="tx1"/>
                </a:solidFill>
                <a:latin typeface="微软雅黑" panose="020B0503020204020204" charset="-122"/>
                <a:ea typeface="微软雅黑" panose="020B0503020204020204" charset="-122"/>
              </a:endParaRPr>
            </a:p>
          </p:txBody>
        </p:sp>
        <p:sp>
          <p:nvSpPr>
            <p:cNvPr id="19" name="右箭头 18"/>
            <p:cNvSpPr/>
            <p:nvPr/>
          </p:nvSpPr>
          <p:spPr>
            <a:xfrm>
              <a:off x="759" y="9572"/>
              <a:ext cx="1497" cy="587"/>
            </a:xfrm>
            <a:prstGeom prst="rightArrow">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圆角矩形 19"/>
            <p:cNvSpPr/>
            <p:nvPr/>
          </p:nvSpPr>
          <p:spPr>
            <a:xfrm>
              <a:off x="6406" y="9434"/>
              <a:ext cx="3064"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b="1">
                  <a:solidFill>
                    <a:schemeClr val="tx1"/>
                  </a:solidFill>
                  <a:latin typeface="微软雅黑" panose="020B0503020204020204" charset="-122"/>
                  <a:ea typeface="微软雅黑" panose="020B0503020204020204" charset="-122"/>
                </a:rPr>
                <a:t>多模态数据</a:t>
              </a:r>
              <a:endParaRPr lang="zh-CN" altLang="en-US" b="1">
                <a:solidFill>
                  <a:schemeClr val="tx1"/>
                </a:solidFill>
                <a:latin typeface="微软雅黑" panose="020B0503020204020204" charset="-122"/>
                <a:ea typeface="微软雅黑" panose="020B0503020204020204" charset="-122"/>
              </a:endParaRPr>
            </a:p>
          </p:txBody>
        </p:sp>
        <p:sp>
          <p:nvSpPr>
            <p:cNvPr id="21" name="圆角矩形 20"/>
            <p:cNvSpPr/>
            <p:nvPr/>
          </p:nvSpPr>
          <p:spPr>
            <a:xfrm>
              <a:off x="9969" y="9434"/>
              <a:ext cx="4777" cy="1035"/>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sz="1500" b="1">
                  <a:solidFill>
                    <a:schemeClr val="tx1"/>
                  </a:solidFill>
                  <a:latin typeface="微软雅黑" panose="020B0503020204020204" charset="-122"/>
                  <a:ea typeface="微软雅黑" panose="020B0503020204020204" charset="-122"/>
                </a:rPr>
                <a:t>自动发现和整合新工具和数据库</a:t>
              </a:r>
              <a:endParaRPr lang="zh-CN" altLang="en-US" sz="1500" b="1">
                <a:solidFill>
                  <a:schemeClr val="tx1"/>
                </a:solidFill>
                <a:latin typeface="微软雅黑" panose="020B0503020204020204" charset="-122"/>
                <a:ea typeface="微软雅黑" panose="020B0503020204020204" charset="-122"/>
              </a:endParaRPr>
            </a:p>
          </p:txBody>
        </p:sp>
        <p:sp>
          <p:nvSpPr>
            <p:cNvPr id="22" name="圆角矩形 21"/>
            <p:cNvSpPr/>
            <p:nvPr/>
          </p:nvSpPr>
          <p:spPr>
            <a:xfrm>
              <a:off x="15145" y="9434"/>
              <a:ext cx="3638" cy="1035"/>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algn="ctr">
                <a:buClrTx/>
                <a:buSzTx/>
                <a:buFont typeface="Arial" panose="020B0604020202020204" pitchFamily="34" charset="0"/>
                <a:buNone/>
              </a:pPr>
              <a:r>
                <a:rPr lang="zh-CN" altLang="en-US" sz="1500" b="1">
                  <a:solidFill>
                    <a:schemeClr val="tx1"/>
                  </a:solidFill>
                  <a:latin typeface="微软雅黑" panose="020B0503020204020204" charset="-122"/>
                  <a:ea typeface="微软雅黑" panose="020B0503020204020204" charset="-122"/>
                </a:rPr>
                <a:t>结合更多传统方法</a:t>
              </a:r>
              <a:endParaRPr lang="zh-CN" altLang="en-US" sz="1500" b="1">
                <a:solidFill>
                  <a:schemeClr val="tx1"/>
                </a:solidFill>
                <a:latin typeface="微软雅黑" panose="020B0503020204020204" charset="-122"/>
                <a:ea typeface="微软雅黑" panose="020B0503020204020204" charset="-122"/>
              </a:endParaRPr>
            </a:p>
          </p:txBody>
        </p:sp>
      </p:grpSp>
      <p:grpSp>
        <p:nvGrpSpPr>
          <p:cNvPr id="4" name="组合 3"/>
          <p:cNvGrpSpPr/>
          <p:nvPr/>
        </p:nvGrpSpPr>
        <p:grpSpPr>
          <a:xfrm>
            <a:off x="0" y="-635"/>
            <a:ext cx="12244070" cy="707390"/>
            <a:chOff x="0" y="0"/>
            <a:chExt cx="19282" cy="1114"/>
          </a:xfrm>
        </p:grpSpPr>
        <p:sp>
          <p:nvSpPr>
            <p:cNvPr id="8" name="矩形 7"/>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396" y="83"/>
              <a:ext cx="17886"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Discussion</a:t>
              </a:r>
              <a:endParaRPr lang="en-US" altLang="zh-CN"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4</a:t>
              </a:r>
              <a:endParaRPr lang="en-US" altLang="zh-CN" sz="4000" b="1">
                <a:solidFill>
                  <a:schemeClr val="bg1"/>
                </a:solidFill>
                <a:latin typeface="微软雅黑" panose="020B0503020204020204" charset="-122"/>
                <a:ea typeface="微软雅黑" panose="020B0503020204020204" charset="-122"/>
              </a:endParaRPr>
            </a:p>
          </p:txBody>
        </p:sp>
      </p:grpSp>
      <p:pic>
        <p:nvPicPr>
          <p:cNvPr id="17" name="图片 16" descr="logo"/>
          <p:cNvPicPr>
            <a:picLocks noChangeAspect="1"/>
          </p:cNvPicPr>
          <p:nvPr/>
        </p:nvPicPr>
        <p:blipFill>
          <a:blip r:embed="rId1"/>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strips(down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strips(downLeft)">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1499870"/>
            <a:ext cx="12192000" cy="2051050"/>
            <a:chOff x="0" y="2362"/>
            <a:chExt cx="19200" cy="3230"/>
          </a:xfrm>
          <a:solidFill>
            <a:schemeClr val="accent6">
              <a:lumMod val="50000"/>
            </a:schemeClr>
          </a:solidFill>
        </p:grpSpPr>
        <p:sp>
          <p:nvSpPr>
            <p:cNvPr id="3" name="矩形 2"/>
            <p:cNvSpPr/>
            <p:nvPr/>
          </p:nvSpPr>
          <p:spPr>
            <a:xfrm>
              <a:off x="0" y="3188"/>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0" y="4390"/>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0" y="2362"/>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标题 15"/>
          <p:cNvSpPr>
            <a:spLocks noGrp="1"/>
          </p:cNvSpPr>
          <p:nvPr>
            <p:ph type="ctrTitle"/>
          </p:nvPr>
        </p:nvSpPr>
        <p:spPr>
          <a:xfrm>
            <a:off x="852170" y="1931670"/>
            <a:ext cx="10961370" cy="1159510"/>
          </a:xfrm>
        </p:spPr>
        <p:txBody>
          <a:bodyPr>
            <a:normAutofit fontScale="90000"/>
          </a:bodyPr>
          <a:p>
            <a:r>
              <a:rPr lang="zh-CN" altLang="en-US" sz="6665" b="1" dirty="0">
                <a:solidFill>
                  <a:schemeClr val="bg1"/>
                </a:solidFill>
                <a:latin typeface="微软雅黑" panose="020B0503020204020204" charset="-122"/>
                <a:ea typeface="微软雅黑" panose="020B0503020204020204" charset="-122"/>
              </a:rPr>
              <a:t>请批评指正！</a:t>
            </a:r>
            <a:endParaRPr lang="zh-CN" altLang="en-US" sz="6665" b="1" dirty="0">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3003550" y="3759200"/>
            <a:ext cx="6096000" cy="645160"/>
          </a:xfrm>
          <a:prstGeom prst="rect">
            <a:avLst/>
          </a:prstGeom>
          <a:noFill/>
        </p:spPr>
        <p:txBody>
          <a:bodyPr wrap="square" rtlCol="0" anchor="t">
            <a:spAutoFit/>
          </a:bodyPr>
          <a:p>
            <a:pPr algn="ctr"/>
            <a:r>
              <a:rPr lang="en-US" altLang="zh-CN"/>
              <a:t>https://doi.org/10.1101/2025.05.30.6</a:t>
            </a:r>
            <a:endParaRPr lang="en-US" altLang="zh-CN"/>
          </a:p>
          <a:p>
            <a:pPr algn="ctr"/>
            <a:r>
              <a:rPr lang="en-US" altLang="zh-CN"/>
              <a:t>https://biomni.stanford.edu</a:t>
            </a:r>
            <a:endParaRPr lang="en-US" altLang="zh-CN"/>
          </a:p>
        </p:txBody>
      </p:sp>
      <p:sp>
        <p:nvSpPr>
          <p:cNvPr id="20" name="文本占位符 3"/>
          <p:cNvSpPr txBox="1"/>
          <p:nvPr/>
        </p:nvSpPr>
        <p:spPr>
          <a:xfrm>
            <a:off x="3234055" y="4679315"/>
            <a:ext cx="5723255" cy="1372235"/>
          </a:xfrm>
          <a:prstGeom prst="rect">
            <a:avLst/>
          </a:prstGeom>
        </p:spPr>
        <p:txBody>
          <a:bodyPr>
            <a:noAutofit/>
          </a:bodyPr>
          <a:lstStyle>
            <a:lvl1pPr marL="0" indent="0" algn="l" defTabSz="914400" rtl="0" eaLnBrk="1" latinLnBrk="0" hangingPunct="1">
              <a:lnSpc>
                <a:spcPct val="120000"/>
              </a:lnSpc>
              <a:spcBef>
                <a:spcPts val="0"/>
              </a:spcBef>
              <a:spcAft>
                <a:spcPts val="600"/>
              </a:spcAft>
              <a:buFont typeface="Arial" panose="020B0604020202020204" pitchFamily="34" charset="0"/>
              <a:buNone/>
              <a:defRPr sz="1800" b="1" kern="1200">
                <a:solidFill>
                  <a:schemeClr val="tx1"/>
                </a:solidFill>
                <a:latin typeface="楷体" panose="02010609060101010101" pitchFamily="49" charset="-122"/>
                <a:ea typeface="楷体" panose="02010609060101010101" pitchFamily="49"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ctr"/>
            <a:r>
              <a:rPr lang="zh-CN" alt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汪静雅</a:t>
            </a:r>
            <a:endParaRPr lang="en-US" altLang="zh-CN"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a:p>
            <a:pPr algn="ctr"/>
            <a:r>
              <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2025.09.17</a:t>
            </a:r>
            <a:endPar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descr="logo2"/>
          <p:cNvPicPr>
            <a:picLocks noChangeAspect="1"/>
          </p:cNvPicPr>
          <p:nvPr/>
        </p:nvPicPr>
        <p:blipFill>
          <a:blip r:embed="rId1"/>
          <a:stretch>
            <a:fillRect/>
          </a:stretch>
        </p:blipFill>
        <p:spPr>
          <a:xfrm>
            <a:off x="0" y="0"/>
            <a:ext cx="3053715" cy="674370"/>
          </a:xfrm>
          <a:prstGeom prst="rect">
            <a:avLst/>
          </a:prstGeom>
        </p:spPr>
      </p:pic>
    </p:spTree>
  </p:cSld>
  <p:clrMapOvr>
    <a:masterClrMapping/>
  </p:clrMapOvr>
</p:sld>
</file>

<file path=ppt/tags/tag1.xml><?xml version="1.0" encoding="utf-8"?>
<p:tagLst xmlns:p="http://schemas.openxmlformats.org/presentationml/2006/main">
  <p:tag name="resource_record_key" val="{&quot;13&quot;:[20419701,2041970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5889</Words>
  <Application>WPS 演示</Application>
  <PresentationFormat>宽屏</PresentationFormat>
  <Paragraphs>309</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宋体</vt:lpstr>
      <vt:lpstr>Wingdings</vt:lpstr>
      <vt:lpstr>微软雅黑</vt:lpstr>
      <vt:lpstr>楷体</vt:lpstr>
      <vt:lpstr>Wingdings</vt:lpstr>
      <vt:lpstr>Calibri</vt:lpstr>
      <vt:lpstr>Arial Unicode MS</vt:lpstr>
      <vt:lpstr>WPS</vt:lpstr>
      <vt:lpstr>Biomni: A General-Purpose Biomedical AI Agent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请批评指正！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Elckat</dc:creator>
  <cp:lastModifiedBy>艾尔卡</cp:lastModifiedBy>
  <cp:revision>20</cp:revision>
  <dcterms:created xsi:type="dcterms:W3CDTF">2023-08-09T12:44:00Z</dcterms:created>
  <dcterms:modified xsi:type="dcterms:W3CDTF">2025-10-04T05:51:34Z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14FF882C88D5456F93B4201C7721481D_13</vt:lpwstr>
  </property>
</Properties>
</file>